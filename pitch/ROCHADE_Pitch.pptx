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d98bd60-d4f0-f3ab-f9aa-7fb50e900b88}">
          <p14:sldIdLst>
            <p14:sldId id="256"/>
            <p14:sldId id="257"/>
            <p14:sldId id="258"/>
            <p14:sldId id="259"/>
            <p14:sldId id="260"/>
            <p14:sldId id="261"/>
            <p14:sldId id="262"/>
            <p14:sldId id="263"/>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[0:00–0:12] Frau Meier, 78, seit 1994 in Höngg. Letzten März lag ein Brief im Kasten: Sanierung, Kündigung per Ende Jahr. Alle 24 Haushalte. Wir sind ROCHADE. Wir sorgen dafür, dass dieser Brief nicht mehr geschrieben werden muss.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[0:12–0:32] Kein Einzelfall: 10'900 Häuser in fünf Jahren komplett leergekündigt, 30'000 Menschen pro Jahr. Zürich 1'270, Genf 100, gleiches Mietrecht. Es liegt nicht am Gesetz, sondern daran, wie saniert wird. Und 84 Prozent der Zürcher Mietenden haben Angst davor.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«Wer ist die Zielgruppe?»: Bewohnerin, Bewirtschafterin, Vorstand. Der Vorstand zahlt.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[0:32–0:52] Die Lösung ist bekannt: die Rochade. Frau Meier zieht für fünf Monate ins Nachbarhaus, ihre Wohnung wird saniert, sie kommt zurück, der Mietvertrag bleibt. Die Uni Zürich nennt das «die mit Abstand effektivste Massnahme», und im selben Satz: «enorm aufwändig». Excel, E-Mails, vierfacher Aufwand. Darum machen es viele nicht. Und kündigen.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[0:52–1:10] Dürfen wir das? Ja. ROCHADE ist ein Planungswerkzeug der Eigentümerin, keine Bewilligung nötig, kein Rechtsprodukt. Die Rochade selbst ist eine Vereinbarung, der Mietvertrag bleibt. Die Mitspieler: die Genossenschaft als Kundin, ihre Bewirtschaftung als Nutzerin, die Mietenden mit der App, die Bauleitung mit den Terminen, die Gemeinde mit der Baubewilligung, in Zürich neu mit unserem Nachweis, und der Mieterverband als Verbündeter.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«Darf man leerkündigen? Was gilt in Luzern, Zug, Schwyz?». Bund: Sanierungskündigung hält nur, wenn der Verbleib der Mietenden die Arbeiten erheblich erschwert; sonst anfechtbar, Erstreckung bis 4 Jahre. Zürich: seit 14. Juni 2026 ab 20 Mietverhältnissen Prüfpflicht bewohnt oder etappiert, 12 Monate Vorlauf, Ansprechperson, Hilfe bei der Wohnungssuche, sonst keine Baubewilligung; in Kraft frühestens Ende 2026. Genossenschaften: Sanierung ohne Statutengrundlage kein Kündigungsgrund. Luzern: Gesetz umkämpft. Zug: kein Gesetz, Herti-Leerkündigung gescheitert. Schwyz: nur Bundesrecht, Mieten +10,5 %.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[1:10–1:38] Alex, live. Die Verwaltung sieht die ganze Siedlung, jeder Chip ein Haushalt. Vier Regeln, nie gebrochen: Zimmerzahl, Lift, Zeitfenster, keine Doppelbelegung. Klick: Etappe 1 zwei Monate später. 11 Konflikte, mit Namen: Für Hr. Aydin fehlt ab Juni 2027 eine 2,5-Zimmer-Wohnung. Vorschlag: Etappe 2 ab November 2027. Klick, alles grün. In Excel ein Wochenende, hier ein Klick, und Frau Meier sieht ihr neues Datum sofort auf dem Handy.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[1:38–1:52] Die Eigentümerschaft zahlt pro Projekt: 200 Franken pro Haushalt, mindestens 5'000, inklusive App und Nachweis fürs Baugesuch. Für die bgnzwo wären das 9'800 Franken. Zum Vergleich: Stehen 24 Wohnungen sechs Monate leer, fehlen 216'000 Franken Miete. Im ersten Jahr kosten wir 10'000 Franken, weil wir in der Lehre sind; ab dem zweiten Projekt sind wir über den Kosten. Annahmen, die wir mit zwei Pilot-Genossenschaften 2027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Ausgeblendet im 2-Minuten-Pitch. Reserve für «Wie gross ist der Markt? Wer ist die Konkurrenz?». 174'000 Genossenschaftswohnungen in der Schweiz, 75'000 in der Region Zürich bei rund 300 Genossenschaften; bei einem Prozent Sanierung mit Auszug pro Jahr rund 750 Haushalte, unser Start. Danach die 2'180 Häuser, die jedes Jahr leergekündigt werden. Konkurrenz: Garaio, Abacus, Rimo kennen Verträge, emonitor und Flatfox die Vermietung; die Rochade plant niemand. Marktzahlen aus dem Market-Pitch von Alex (WBG), nicht separat geprüft.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[1:52–2:02] Wir brauchen zwei Genossenschaften, die 2027 in Etappen sanieren, und Ihr Feedback. Jede Rochade, die gelingt, ist ein Brief, den Frau Meier nie bekommt. Danke.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19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rgbClr val="F2EEE8"/>
                </a:solidFill>
              </a:defRPr>
            </a:lvl1pPr>
          </a:lstStyle>
          <a:p>
            <a:pPr indent="0" marL="0">
              <a:buNone/>
            </a:pPr>
            <a:endParaRPr lang="en-US" sz="2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NKEN">
    <p:bg>
      <p:bgPr>
        <a:solidFill>
          <a:srgbClr val="F1EDE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09905" y="838505"/>
            <a:ext cx="7619695" cy="822960"/>
          </a:xfrm>
          <a:prstGeom prst="rect">
            <a:avLst/>
          </a:prstGeom>
          <a:noFill/>
          <a:ln/>
        </p:spPr>
        <p:txBody>
          <a:bodyPr wrap="square" rtlCol="0"/>
          <a:lstStyle>
            <a:lvl1pPr indent="0" marL="0">
              <a:buNone/>
              <a:defRPr lang="en-US" sz="2700" b="1" dirty="0">
                <a:solidFill>
                  <a:schemeClr val="tx1"/>
                </a:solidFill>
              </a:defRPr>
            </a:lvl1pPr>
          </a:lstStyle>
          <a:p>
            <a:pPr indent="0" marL="0">
              <a:buNone/>
            </a:pPr>
            <a:endParaRPr lang="en-US" sz="27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5720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PITCH · ZENTRALHACK 2026 · SDG 11.1</a:t>
            </a:r>
            <a:endParaRPr lang="en-US" sz="900" dirty="0"/>
          </a:p>
        </p:txBody>
      </p:sp>
      <p:sp>
        <p:nvSpPr>
          <p:cNvPr id="5" name="Text 2"/>
          <p:cNvSpPr txBox="1"/>
          <p:nvPr/>
        </p:nvSpPr>
        <p:spPr>
          <a:xfrm>
            <a:off x="609600" y="2047875"/>
            <a:ext cx="4810125" cy="1071563"/>
          </a:xfrm>
          <a:prstGeom prst="rect">
            <a:avLst/>
          </a:prstGeom>
          <a:noFill/>
          <a:ln/>
        </p:spPr>
        <p:txBody>
          <a:bodyPr wrap="square" lIns="0" tIns="0" rIns="0" bIns="0" rtlCol="0" anchor="t"/>
          <a:lstStyle/>
          <a:p>
            <a:pPr algn="l" indent="0" marL="0">
              <a:lnSpc>
                <a:spcPct val="100000"/>
              </a:lnSpc>
              <a:buNone/>
            </a:pPr>
            <a:r>
              <a:rPr lang="en-US" sz="6750" b="1" spc="225" kern="0" dirty="0">
                <a:solidFill>
                  <a:srgbClr val="1C2326"/>
                </a:solidFill>
                <a:latin typeface="Manrope" pitchFamily="34" charset="0"/>
                <a:ea typeface="Manrope" pitchFamily="34" charset="-122"/>
                <a:cs typeface="Manrope" pitchFamily="34" charset="-120"/>
              </a:rPr>
              <a:t>ROCHADE</a:t>
            </a:r>
            <a:endParaRPr lang="en-US" sz="6750" dirty="0"/>
          </a:p>
        </p:txBody>
      </p:sp>
      <p:sp>
        <p:nvSpPr>
          <p:cNvPr id="6" name="Text 3"/>
          <p:cNvSpPr txBox="1"/>
          <p:nvPr/>
        </p:nvSpPr>
        <p:spPr>
          <a:xfrm>
            <a:off x="609600" y="319087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7" name="Text 4"/>
          <p:cNvSpPr txBox="1"/>
          <p:nvPr/>
        </p:nvSpPr>
        <p:spPr>
          <a:xfrm>
            <a:off x="609600" y="3619500"/>
            <a:ext cx="4572000" cy="52387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ROCHADE plant, wer während einer Sanierung wann in welche freie Wohnung zieht. Und wann zurück.</a:t>
            </a:r>
            <a:endParaRPr lang="en-US" sz="1200" dirty="0"/>
          </a:p>
        </p:txBody>
      </p:sp>
      <p:sp>
        <p:nvSpPr>
          <p:cNvPr id="8" name="Text 5"/>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Team ROCHADE · Francesco · Alex</a:t>
            </a:r>
            <a:endParaRPr lang="en-US" sz="900" dirty="0"/>
          </a:p>
        </p:txBody>
      </p:sp>
      <p:sp>
        <p:nvSpPr>
          <p:cNvPr id="10"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609600" y="1524000"/>
            <a:ext cx="3619500" cy="2667000"/>
          </a:xfrm>
          <a:prstGeom prst="roundRect">
            <a:avLst>
              <a:gd name="adj" fmla="val 5714"/>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8229600" y="266700"/>
            <a:ext cx="304800" cy="3048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FF8A42"/>
                </a:solidFill>
                <a:latin typeface="Manrope" pitchFamily="34" charset="0"/>
                <a:ea typeface="Manrope" pitchFamily="34" charset="-122"/>
                <a:cs typeface="Manrope" pitchFamily="34" charset="-120"/>
              </a:rPr>
              <a:t>PROBLEM</a:t>
            </a:r>
            <a:endParaRPr lang="en-US" sz="900" dirty="0"/>
          </a:p>
        </p:txBody>
      </p:sp>
      <p:sp>
        <p:nvSpPr>
          <p:cNvPr id="5" name="Text 2"/>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F2EEE8"/>
                </a:solidFill>
                <a:latin typeface="Manrope" pitchFamily="34" charset="0"/>
                <a:ea typeface="Manrope" pitchFamily="34" charset="-122"/>
                <a:cs typeface="Manrope" pitchFamily="34" charset="-120"/>
              </a:rPr>
              <a:t>Wer saniert, kündigt. Allen.</a:t>
            </a:r>
            <a:endParaRPr lang="en-US" sz="2700" dirty="0"/>
          </a:p>
        </p:txBody>
      </p:sp>
      <p:sp>
        <p:nvSpPr>
          <p:cNvPr id="6" name="Text 3"/>
          <p:cNvSpPr txBox="1"/>
          <p:nvPr/>
        </p:nvSpPr>
        <p:spPr>
          <a:xfrm>
            <a:off x="914400" y="1714500"/>
            <a:ext cx="3048000" cy="952500"/>
          </a:xfrm>
          <a:prstGeom prst="rect">
            <a:avLst/>
          </a:prstGeom>
          <a:noFill/>
          <a:ln/>
        </p:spPr>
        <p:txBody>
          <a:bodyPr wrap="square" lIns="0" tIns="0" rIns="0" bIns="0" rtlCol="0" anchor="t"/>
          <a:lstStyle/>
          <a:p>
            <a:pPr algn="l" indent="0" marL="0">
              <a:lnSpc>
                <a:spcPct val="100000"/>
              </a:lnSpc>
              <a:buNone/>
            </a:pPr>
            <a:r>
              <a:rPr lang="en-US" sz="6000" b="1" dirty="0">
                <a:solidFill>
                  <a:srgbClr val="1C2326"/>
                </a:solidFill>
                <a:latin typeface="Manrope" pitchFamily="34" charset="0"/>
                <a:ea typeface="Manrope" pitchFamily="34" charset="-122"/>
                <a:cs typeface="Manrope" pitchFamily="34" charset="-120"/>
              </a:rPr>
              <a:t>10'900</a:t>
            </a:r>
            <a:endParaRPr lang="en-US" sz="6000" dirty="0"/>
          </a:p>
        </p:txBody>
      </p:sp>
      <p:sp>
        <p:nvSpPr>
          <p:cNvPr id="7" name="Text 4"/>
          <p:cNvSpPr txBox="1"/>
          <p:nvPr/>
        </p:nvSpPr>
        <p:spPr>
          <a:xfrm>
            <a:off x="914400" y="2714625"/>
            <a:ext cx="30099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Mehrfamilienhäuser in der Schweiz komplett leergekündigt, 2018 bis 2022</a:t>
            </a:r>
            <a:endParaRPr lang="en-US" sz="1200" dirty="0"/>
          </a:p>
        </p:txBody>
      </p:sp>
      <p:sp>
        <p:nvSpPr>
          <p:cNvPr id="8" name="Text 5"/>
          <p:cNvSpPr txBox="1"/>
          <p:nvPr/>
        </p:nvSpPr>
        <p:spPr>
          <a:xfrm>
            <a:off x="914400" y="3452813"/>
            <a:ext cx="30099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30'000 Menschen. Jedes Jahr.</a:t>
            </a:r>
            <a:endParaRPr lang="en-US" sz="1200" dirty="0"/>
          </a:p>
        </p:txBody>
      </p:sp>
      <p:sp>
        <p:nvSpPr>
          <p:cNvPr id="9" name="Text 6"/>
          <p:cNvSpPr txBox="1"/>
          <p:nvPr/>
        </p:nvSpPr>
        <p:spPr>
          <a:xfrm>
            <a:off x="914400" y="3762375"/>
            <a:ext cx="30099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davon 1'270 allein in der Stadt Zürich</a:t>
            </a:r>
            <a:endParaRPr lang="en-US" sz="900" dirty="0"/>
          </a:p>
        </p:txBody>
      </p:sp>
      <p:sp>
        <p:nvSpPr>
          <p:cNvPr id="10" name="Text 7"/>
          <p:cNvSpPr txBox="1"/>
          <p:nvPr/>
        </p:nvSpPr>
        <p:spPr>
          <a:xfrm>
            <a:off x="4800600" y="160020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2EEE8"/>
                </a:solidFill>
                <a:latin typeface="Manrope" pitchFamily="34" charset="0"/>
                <a:ea typeface="Manrope" pitchFamily="34" charset="-122"/>
                <a:cs typeface="Manrope" pitchFamily="34" charset="-120"/>
              </a:rPr>
              <a:t>Genf: 100</a:t>
            </a:r>
            <a:endParaRPr lang="en-US" sz="4500" dirty="0"/>
          </a:p>
        </p:txBody>
      </p:sp>
      <p:sp>
        <p:nvSpPr>
          <p:cNvPr id="11" name="Text 8"/>
          <p:cNvSpPr txBox="1"/>
          <p:nvPr/>
        </p:nvSpPr>
        <p:spPr>
          <a:xfrm>
            <a:off x="4800600" y="23050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Häuser im selben Zeitraum, bei gleichem Mietrecht. Zürich: 1'270. Der Unterschied ist nicht das Gesetz, sondern wie saniert wird.</a:t>
            </a:r>
            <a:endParaRPr lang="en-US" sz="900" dirty="0"/>
          </a:p>
        </p:txBody>
      </p:sp>
      <p:sp>
        <p:nvSpPr>
          <p:cNvPr id="12" name="Text 9"/>
          <p:cNvSpPr txBox="1"/>
          <p:nvPr/>
        </p:nvSpPr>
        <p:spPr>
          <a:xfrm>
            <a:off x="4800600" y="2952750"/>
            <a:ext cx="3733800" cy="666750"/>
          </a:xfrm>
          <a:prstGeom prst="rect">
            <a:avLst/>
          </a:prstGeom>
          <a:noFill/>
          <a:ln/>
        </p:spPr>
        <p:txBody>
          <a:bodyPr wrap="square" lIns="0" tIns="0" rIns="0" bIns="0" rtlCol="0" anchor="t"/>
          <a:lstStyle/>
          <a:p>
            <a:pPr algn="l" indent="0" marL="0">
              <a:lnSpc>
                <a:spcPct val="105000"/>
              </a:lnSpc>
              <a:buNone/>
            </a:pPr>
            <a:r>
              <a:rPr lang="en-US" sz="4500" b="1" dirty="0">
                <a:solidFill>
                  <a:srgbClr val="FF7A2E"/>
                </a:solidFill>
                <a:latin typeface="Manrope" pitchFamily="34" charset="0"/>
                <a:ea typeface="Manrope" pitchFamily="34" charset="-122"/>
                <a:cs typeface="Manrope" pitchFamily="34" charset="-120"/>
              </a:rPr>
              <a:t>84 %</a:t>
            </a:r>
            <a:endParaRPr lang="en-US" sz="4500" dirty="0"/>
          </a:p>
        </p:txBody>
      </p:sp>
      <p:sp>
        <p:nvSpPr>
          <p:cNvPr id="13" name="Text 10"/>
          <p:cNvSpPr txBox="1"/>
          <p:nvPr/>
        </p:nvSpPr>
        <p:spPr>
          <a:xfrm>
            <a:off x="4800600" y="3657600"/>
            <a:ext cx="3733800" cy="381000"/>
          </a:xfrm>
          <a:prstGeom prst="rect">
            <a:avLst/>
          </a:prstGeom>
          <a:noFill/>
          <a:ln/>
        </p:spPr>
        <p:txBody>
          <a:bodyPr wrap="square" lIns="0" tIns="0" rIns="0" bIns="0" rtlCol="0" anchor="t"/>
          <a:lstStyle/>
          <a:p>
            <a:pPr algn="l" indent="0" marL="0">
              <a:lnSpc>
                <a:spcPct val="130000"/>
              </a:lnSpc>
              <a:buNone/>
            </a:pPr>
            <a:r>
              <a:rPr lang="en-US" sz="900" dirty="0">
                <a:solidFill>
                  <a:srgbClr val="A8B0B3"/>
                </a:solidFill>
                <a:latin typeface="Manrope" pitchFamily="34" charset="0"/>
                <a:ea typeface="Manrope" pitchFamily="34" charset="-122"/>
                <a:cs typeface="Manrope" pitchFamily="34" charset="-120"/>
              </a:rPr>
              <a:t>der Mietenden im Kanton Zürich sorgen sich wegen Leerkündigungen, über 55 sind es 91 %</a:t>
            </a:r>
            <a:endParaRPr lang="en-US" sz="900" dirty="0"/>
          </a:p>
        </p:txBody>
      </p:sp>
      <p:sp>
        <p:nvSpPr>
          <p:cNvPr id="14" name="Text 11"/>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A8B0B3"/>
                </a:solidFill>
                <a:latin typeface="Manrope" pitchFamily="34" charset="0"/>
                <a:ea typeface="Manrope" pitchFamily="34" charset="-122"/>
                <a:cs typeface="Manrope" pitchFamily="34" charset="-120"/>
              </a:rPr>
              <a:t>Quellen: Zürcher Kantonalbank auf Basis BFS, 2024 · Sotomo für den Mieterverband, Mai 2026</a:t>
            </a:r>
            <a:endParaRPr lang="en-US" sz="900" dirty="0"/>
          </a:p>
        </p:txBody>
      </p:sp>
      <p:sp>
        <p:nvSpPr>
          <p:cNvPr id="16"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MENSCHEN</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Drei Menschen, drei Probleme. Einer davon zahlt.</a:t>
            </a:r>
            <a:endParaRPr lang="en-US" sz="2700" dirty="0"/>
          </a:p>
        </p:txBody>
      </p:sp>
      <p:sp>
        <p:nvSpPr>
          <p:cNvPr id="5" name="Shape 2"/>
          <p:cNvSpPr/>
          <p:nvPr/>
        </p:nvSpPr>
        <p:spPr>
          <a:xfrm>
            <a:off x="6096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8001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Rosa Meier, 78</a:t>
            </a:r>
            <a:endParaRPr lang="en-US" sz="1500" dirty="0"/>
          </a:p>
        </p:txBody>
      </p:sp>
      <p:sp>
        <p:nvSpPr>
          <p:cNvPr id="7" name="Text 4"/>
          <p:cNvSpPr txBox="1"/>
          <p:nvPr/>
        </p:nvSpPr>
        <p:spPr>
          <a:xfrm>
            <a:off x="8001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Bewohnerin seit 1994, Höngg</a:t>
            </a:r>
            <a:endParaRPr lang="en-US" sz="900" dirty="0"/>
          </a:p>
        </p:txBody>
      </p:sp>
      <p:sp>
        <p:nvSpPr>
          <p:cNvPr id="8" name="Text 5"/>
          <p:cNvSpPr txBox="1"/>
          <p:nvPr/>
        </p:nvSpPr>
        <p:spPr>
          <a:xfrm>
            <a:off x="8001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Bekommt den Brief: alle raus. Bei 0,11 % Leerstand findet sie nichts, im Neubau kostet es 30 % mehr. Jede Dritte muss die Gemeinde verlassen.</a:t>
            </a:r>
            <a:endParaRPr lang="en-US" sz="975" dirty="0"/>
          </a:p>
        </p:txBody>
      </p:sp>
      <p:sp>
        <p:nvSpPr>
          <p:cNvPr id="9" name="Text 6"/>
          <p:cNvSpPr txBox="1"/>
          <p:nvPr/>
        </p:nvSpPr>
        <p:spPr>
          <a:xfrm>
            <a:off x="8001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bleiben und wissen, wann sie zurückkann.</a:t>
            </a:r>
            <a:endParaRPr lang="en-US" sz="1050" dirty="0"/>
          </a:p>
        </p:txBody>
      </p:sp>
      <p:sp>
        <p:nvSpPr>
          <p:cNvPr id="10" name="Shape 7"/>
          <p:cNvSpPr/>
          <p:nvPr/>
        </p:nvSpPr>
        <p:spPr>
          <a:xfrm>
            <a:off x="3314700" y="1905000"/>
            <a:ext cx="2514600" cy="2286000"/>
          </a:xfrm>
          <a:prstGeom prst="roundRect">
            <a:avLst>
              <a:gd name="adj" fmla="val 5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1" name="Text 8"/>
          <p:cNvSpPr txBox="1"/>
          <p:nvPr/>
        </p:nvSpPr>
        <p:spPr>
          <a:xfrm>
            <a:off x="35052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Sandra Keller, 44</a:t>
            </a:r>
            <a:endParaRPr lang="en-US" sz="1500" dirty="0"/>
          </a:p>
        </p:txBody>
      </p:sp>
      <p:sp>
        <p:nvSpPr>
          <p:cNvPr id="12" name="Text 9"/>
          <p:cNvSpPr txBox="1"/>
          <p:nvPr/>
        </p:nvSpPr>
        <p:spPr>
          <a:xfrm>
            <a:off x="3505200" y="2362200"/>
            <a:ext cx="2133600" cy="190500"/>
          </a:xfrm>
          <a:prstGeom prst="rect">
            <a:avLst/>
          </a:prstGeom>
          <a:noFill/>
          <a:ln/>
        </p:spPr>
        <p:txBody>
          <a:bodyPr wrap="square" lIns="0" tIns="0" rIns="0" bIns="0" rtlCol="0" anchor="t"/>
          <a:lstStyle/>
          <a:p>
            <a:pPr algn="l" indent="0" marL="0">
              <a:buNone/>
            </a:pPr>
            <a:r>
              <a:rPr lang="en-US" sz="900" b="1" dirty="0">
                <a:solidFill>
                  <a:srgbClr val="24414A"/>
                </a:solidFill>
                <a:latin typeface="Manrope" pitchFamily="34" charset="0"/>
                <a:ea typeface="Manrope" pitchFamily="34" charset="-122"/>
                <a:cs typeface="Manrope" pitchFamily="34" charset="-120"/>
              </a:rPr>
              <a:t>Bewirtschafterin</a:t>
            </a:r>
            <a:endParaRPr lang="en-US" sz="900" dirty="0"/>
          </a:p>
        </p:txBody>
      </p:sp>
      <p:sp>
        <p:nvSpPr>
          <p:cNvPr id="13" name="Text 10"/>
          <p:cNvSpPr txBox="1"/>
          <p:nvPr/>
        </p:nvSpPr>
        <p:spPr>
          <a:xfrm>
            <a:off x="35052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5B6468"/>
                </a:solidFill>
                <a:latin typeface="Manrope" pitchFamily="34" charset="0"/>
                <a:ea typeface="Manrope" pitchFamily="34" charset="-122"/>
                <a:cs typeface="Manrope" pitchFamily="34" charset="-120"/>
              </a:rPr>
              <a:t>49 Haushalte, 3 Etappen, alles in Excel, vierfacher Aufwand. Verschiebt sich der Bau, beginnt sie von vorne.</a:t>
            </a:r>
            <a:endParaRPr lang="en-US" sz="975" dirty="0"/>
          </a:p>
        </p:txBody>
      </p:sp>
      <p:sp>
        <p:nvSpPr>
          <p:cNvPr id="14" name="Text 11"/>
          <p:cNvSpPr txBox="1"/>
          <p:nvPr/>
        </p:nvSpPr>
        <p:spPr>
          <a:xfrm>
            <a:off x="35052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einen Plan, der Änderungen aushält.</a:t>
            </a:r>
            <a:endParaRPr lang="en-US" sz="1050" dirty="0"/>
          </a:p>
        </p:txBody>
      </p:sp>
      <p:sp>
        <p:nvSpPr>
          <p:cNvPr id="15" name="Shape 12"/>
          <p:cNvSpPr/>
          <p:nvPr/>
        </p:nvSpPr>
        <p:spPr>
          <a:xfrm>
            <a:off x="6019800" y="1905000"/>
            <a:ext cx="2514600" cy="2286000"/>
          </a:xfrm>
          <a:prstGeom prst="roundRect">
            <a:avLst>
              <a:gd name="adj" fmla="val 5000"/>
            </a:avLst>
          </a:prstGeom>
          <a:solidFill>
            <a:srgbClr val="F26A1B"/>
          </a:solidFill>
          <a:ln w="12700">
            <a:solidFill>
              <a:srgbClr val="F26A1B"/>
            </a:solidFill>
            <a:prstDash val="solid"/>
          </a:ln>
        </p:spPr>
      </p:sp>
      <p:sp>
        <p:nvSpPr>
          <p:cNvPr id="16" name="Text 13"/>
          <p:cNvSpPr txBox="1"/>
          <p:nvPr/>
        </p:nvSpPr>
        <p:spPr>
          <a:xfrm>
            <a:off x="6210300" y="2095500"/>
            <a:ext cx="2133600" cy="238125"/>
          </a:xfrm>
          <a:prstGeom prst="rect">
            <a:avLst/>
          </a:prstGeom>
          <a:noFill/>
          <a:ln/>
        </p:spPr>
        <p:txBody>
          <a:bodyPr wrap="square" lIns="0" tIns="0" rIns="0" bIns="0" rtlCol="0" anchor="t"/>
          <a:lstStyle/>
          <a:p>
            <a:pPr algn="l" indent="0" marL="0">
              <a:buNone/>
            </a:pPr>
            <a:r>
              <a:rPr lang="en-US" sz="1500" b="1" dirty="0">
                <a:solidFill>
                  <a:srgbClr val="1C2326"/>
                </a:solidFill>
                <a:latin typeface="Manrope" pitchFamily="34" charset="0"/>
                <a:ea typeface="Manrope" pitchFamily="34" charset="-122"/>
                <a:cs typeface="Manrope" pitchFamily="34" charset="-120"/>
              </a:rPr>
              <a:t>Reto Huber, 58</a:t>
            </a:r>
            <a:endParaRPr lang="en-US" sz="1500" dirty="0"/>
          </a:p>
        </p:txBody>
      </p:sp>
      <p:sp>
        <p:nvSpPr>
          <p:cNvPr id="17" name="Text 14"/>
          <p:cNvSpPr txBox="1"/>
          <p:nvPr/>
        </p:nvSpPr>
        <p:spPr>
          <a:xfrm>
            <a:off x="6210300" y="2362200"/>
            <a:ext cx="2133600" cy="190500"/>
          </a:xfrm>
          <a:prstGeom prst="rect">
            <a:avLst/>
          </a:prstGeom>
          <a:noFill/>
          <a:ln/>
        </p:spPr>
        <p:txBody>
          <a:bodyPr wrap="square" lIns="0" tIns="0" rIns="0" bIns="0" rtlCol="0" anchor="t"/>
          <a:lstStyle/>
          <a:p>
            <a:pPr algn="l" indent="0" marL="0">
              <a:buNone/>
            </a:pPr>
            <a:r>
              <a:rPr lang="en-US" sz="900" b="1" spc="75" kern="0" dirty="0">
                <a:solidFill>
                  <a:srgbClr val="1C2326"/>
                </a:solidFill>
                <a:latin typeface="Manrope" pitchFamily="34" charset="0"/>
                <a:ea typeface="Manrope" pitchFamily="34" charset="-122"/>
                <a:cs typeface="Manrope" pitchFamily="34" charset="-120"/>
              </a:rPr>
              <a:t>VORSTAND · ZAHLT</a:t>
            </a:r>
            <a:endParaRPr lang="en-US" sz="900" dirty="0"/>
          </a:p>
        </p:txBody>
      </p:sp>
      <p:sp>
        <p:nvSpPr>
          <p:cNvPr id="18" name="Text 15"/>
          <p:cNvSpPr txBox="1"/>
          <p:nvPr/>
        </p:nvSpPr>
        <p:spPr>
          <a:xfrm>
            <a:off x="6210300" y="2647950"/>
            <a:ext cx="2133600" cy="952500"/>
          </a:xfrm>
          <a:prstGeom prst="rect">
            <a:avLst/>
          </a:prstGeom>
          <a:noFill/>
          <a:ln/>
        </p:spPr>
        <p:txBody>
          <a:bodyPr wrap="square" lIns="0" tIns="0" rIns="0" bIns="0" rtlCol="0" anchor="t"/>
          <a:lstStyle/>
          <a:p>
            <a:pPr algn="l" indent="0" marL="0">
              <a:lnSpc>
                <a:spcPct val="130000"/>
              </a:lnSpc>
              <a:buNone/>
            </a:pPr>
            <a:r>
              <a:rPr lang="en-US" sz="975" dirty="0">
                <a:solidFill>
                  <a:srgbClr val="1C2326"/>
                </a:solidFill>
                <a:latin typeface="Manrope" pitchFamily="34" charset="0"/>
                <a:ea typeface="Manrope" pitchFamily="34" charset="-122"/>
                <a:cs typeface="Manrope" pitchFamily="34" charset="-120"/>
              </a:rPr>
              <a:t>Leerkündigung heisst Schlichtung, Schlagzeilen, Stillstand. Zürich verlangt neu den Nachweis, dass es nicht anders geht.</a:t>
            </a:r>
            <a:endParaRPr lang="en-US" sz="975" dirty="0"/>
          </a:p>
        </p:txBody>
      </p:sp>
      <p:sp>
        <p:nvSpPr>
          <p:cNvPr id="19" name="Text 16"/>
          <p:cNvSpPr txBox="1"/>
          <p:nvPr/>
        </p:nvSpPr>
        <p:spPr>
          <a:xfrm>
            <a:off x="6210300" y="3619500"/>
            <a:ext cx="2133600" cy="476250"/>
          </a:xfrm>
          <a:prstGeom prst="rect">
            <a:avLst/>
          </a:prstGeom>
          <a:noFill/>
          <a:ln/>
        </p:spPr>
        <p:txBody>
          <a:bodyPr wrap="square" lIns="0" tIns="0" rIns="0" bIns="0" rtlCol="0" anchor="t"/>
          <a:lstStyle/>
          <a:p>
            <a:pPr algn="l" indent="0" marL="0">
              <a:lnSpc>
                <a:spcPct val="130000"/>
              </a:lnSpc>
              <a:buNone/>
            </a:pPr>
            <a:r>
              <a:rPr lang="en-US" sz="1050" b="1" dirty="0">
                <a:solidFill>
                  <a:srgbClr val="1C2326"/>
                </a:solidFill>
                <a:latin typeface="Manrope" pitchFamily="34" charset="0"/>
                <a:ea typeface="Manrope" pitchFamily="34" charset="-122"/>
                <a:cs typeface="Manrope" pitchFamily="34" charset="-120"/>
              </a:rPr>
              <a:t>Will sanieren, im Termin, ohne Rauswurf.</a:t>
            </a:r>
            <a:endParaRPr lang="en-US" sz="105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Personas, Namen fiktiv · Quellen: Stadt Zürich 2026, 20 Minuten, ZKB 2024, bgnzwo 2026, SRF und NZZ</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DIE ROCHADE</a:t>
            </a:r>
            <a:endParaRPr lang="en-US" sz="900" dirty="0"/>
          </a:p>
        </p:txBody>
      </p:sp>
      <p:sp>
        <p:nvSpPr>
          <p:cNvPr id="4" name="Text 1"/>
          <p:cNvSpPr txBox="1"/>
          <p:nvPr/>
        </p:nvSpPr>
        <p:spPr>
          <a:xfrm>
            <a:off x="609600" y="838200"/>
            <a:ext cx="523875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Es geht anders: die Rochade. Heute ist sie Handarbeit.</a:t>
            </a:r>
            <a:endParaRPr lang="en-US" sz="2700" dirty="0"/>
          </a:p>
        </p:txBody>
      </p:sp>
      <p:sp>
        <p:nvSpPr>
          <p:cNvPr id="5" name="Shape 2"/>
          <p:cNvSpPr/>
          <p:nvPr/>
        </p:nvSpPr>
        <p:spPr>
          <a:xfrm>
            <a:off x="6096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Shape 3"/>
          <p:cNvSpPr/>
          <p:nvPr/>
        </p:nvSpPr>
        <p:spPr>
          <a:xfrm>
            <a:off x="762000" y="2095500"/>
            <a:ext cx="952500" cy="266700"/>
          </a:xfrm>
          <a:prstGeom prst="roundRect">
            <a:avLst>
              <a:gd name="adj" fmla="val 21429"/>
            </a:avLst>
          </a:prstGeom>
          <a:solidFill>
            <a:srgbClr val="1C2326"/>
          </a:solidFill>
          <a:ln w="12700">
            <a:solidFill>
              <a:srgbClr val="1C2326"/>
            </a:solidFill>
            <a:prstDash val="solid"/>
          </a:ln>
        </p:spPr>
      </p:sp>
      <p:sp>
        <p:nvSpPr>
          <p:cNvPr id="7" name="Text 4"/>
          <p:cNvSpPr txBox="1"/>
          <p:nvPr/>
        </p:nvSpPr>
        <p:spPr>
          <a:xfrm>
            <a:off x="7620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8" name="Text 5"/>
          <p:cNvSpPr txBox="1"/>
          <p:nvPr/>
        </p:nvSpPr>
        <p:spPr>
          <a:xfrm>
            <a:off x="7620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 Hause</a:t>
            </a:r>
            <a:endParaRPr lang="en-US" sz="1200" dirty="0"/>
          </a:p>
        </p:txBody>
      </p:sp>
      <p:sp>
        <p:nvSpPr>
          <p:cNvPr id="9" name="Text 6"/>
          <p:cNvSpPr txBox="1"/>
          <p:nvPr/>
        </p:nvSpPr>
        <p:spPr>
          <a:xfrm>
            <a:off x="7620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bald in Sanierung</a:t>
            </a:r>
            <a:endParaRPr lang="en-US" sz="900" dirty="0"/>
          </a:p>
        </p:txBody>
      </p:sp>
      <p:sp>
        <p:nvSpPr>
          <p:cNvPr id="10" name="Text 7"/>
          <p:cNvSpPr txBox="1"/>
          <p:nvPr/>
        </p:nvSpPr>
        <p:spPr>
          <a:xfrm>
            <a:off x="22479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1" name="Shape 8"/>
          <p:cNvSpPr/>
          <p:nvPr/>
        </p:nvSpPr>
        <p:spPr>
          <a:xfrm>
            <a:off x="24765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2" name="Shape 9"/>
          <p:cNvSpPr/>
          <p:nvPr/>
        </p:nvSpPr>
        <p:spPr>
          <a:xfrm>
            <a:off x="2628900" y="2095500"/>
            <a:ext cx="952500" cy="266700"/>
          </a:xfrm>
          <a:prstGeom prst="roundRect">
            <a:avLst>
              <a:gd name="adj" fmla="val 21429"/>
            </a:avLst>
          </a:prstGeom>
          <a:solidFill>
            <a:srgbClr val="24414A"/>
          </a:solidFill>
          <a:ln w="12700">
            <a:solidFill>
              <a:srgbClr val="24414A"/>
            </a:solidFill>
            <a:prstDash val="solid"/>
          </a:ln>
        </p:spPr>
      </p:sp>
      <p:sp>
        <p:nvSpPr>
          <p:cNvPr id="13" name="Text 10"/>
          <p:cNvSpPr txBox="1"/>
          <p:nvPr/>
        </p:nvSpPr>
        <p:spPr>
          <a:xfrm>
            <a:off x="26289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14" name="Text 11"/>
          <p:cNvSpPr txBox="1"/>
          <p:nvPr/>
        </p:nvSpPr>
        <p:spPr>
          <a:xfrm>
            <a:off x="26289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Rochade-Wohnung</a:t>
            </a:r>
            <a:endParaRPr lang="en-US" sz="1200" dirty="0"/>
          </a:p>
        </p:txBody>
      </p:sp>
      <p:sp>
        <p:nvSpPr>
          <p:cNvPr id="15" name="Text 12"/>
          <p:cNvSpPr txBox="1"/>
          <p:nvPr/>
        </p:nvSpPr>
        <p:spPr>
          <a:xfrm>
            <a:off x="26289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C-01, frei für 5 Monate</a:t>
            </a:r>
            <a:endParaRPr lang="en-US" sz="900" dirty="0"/>
          </a:p>
        </p:txBody>
      </p:sp>
      <p:sp>
        <p:nvSpPr>
          <p:cNvPr id="16" name="Text 13"/>
          <p:cNvSpPr txBox="1"/>
          <p:nvPr/>
        </p:nvSpPr>
        <p:spPr>
          <a:xfrm>
            <a:off x="4114800" y="2476500"/>
            <a:ext cx="228600" cy="285750"/>
          </a:xfrm>
          <a:prstGeom prst="rect">
            <a:avLst/>
          </a:prstGeom>
          <a:noFill/>
          <a:ln/>
        </p:spPr>
        <p:txBody>
          <a:bodyPr wrap="square" lIns="0" tIns="0" rIns="0" bIns="0" rtlCol="0" anchor="ctr"/>
          <a:lstStyle/>
          <a:p>
            <a:pPr algn="ctr" indent="0" marL="0">
              <a:buNone/>
            </a:pPr>
            <a:r>
              <a:rPr lang="en-US" sz="1650" b="1" dirty="0">
                <a:solidFill>
                  <a:srgbClr val="F26A1B"/>
                </a:solidFill>
                <a:latin typeface="Manrope" pitchFamily="34" charset="0"/>
                <a:ea typeface="Manrope" pitchFamily="34" charset="-122"/>
                <a:cs typeface="Manrope" pitchFamily="34" charset="-120"/>
              </a:rPr>
              <a:t>→</a:t>
            </a:r>
            <a:endParaRPr lang="en-US" sz="1650" dirty="0"/>
          </a:p>
        </p:txBody>
      </p:sp>
      <p:sp>
        <p:nvSpPr>
          <p:cNvPr id="17" name="Shape 14"/>
          <p:cNvSpPr/>
          <p:nvPr/>
        </p:nvSpPr>
        <p:spPr>
          <a:xfrm>
            <a:off x="4343400" y="1905000"/>
            <a:ext cx="1638300" cy="1428750"/>
          </a:xfrm>
          <a:prstGeom prst="roundRect">
            <a:avLst>
              <a:gd name="adj" fmla="val 8000"/>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4495800" y="2095500"/>
            <a:ext cx="952500" cy="266700"/>
          </a:xfrm>
          <a:prstGeom prst="roundRect">
            <a:avLst>
              <a:gd name="adj" fmla="val 21429"/>
            </a:avLst>
          </a:prstGeom>
          <a:solidFill>
            <a:srgbClr val="276B43"/>
          </a:solidFill>
          <a:ln w="12700">
            <a:solidFill>
              <a:srgbClr val="276B43"/>
            </a:solidFill>
            <a:prstDash val="solid"/>
          </a:ln>
        </p:spPr>
      </p:sp>
      <p:sp>
        <p:nvSpPr>
          <p:cNvPr id="19" name="Text 16"/>
          <p:cNvSpPr txBox="1"/>
          <p:nvPr/>
        </p:nvSpPr>
        <p:spPr>
          <a:xfrm>
            <a:off x="4495800" y="2095500"/>
            <a:ext cx="952500" cy="2667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Frau Meier</a:t>
            </a:r>
            <a:endParaRPr lang="en-US" sz="825" dirty="0"/>
          </a:p>
        </p:txBody>
      </p:sp>
      <p:sp>
        <p:nvSpPr>
          <p:cNvPr id="20" name="Text 17"/>
          <p:cNvSpPr txBox="1"/>
          <p:nvPr/>
        </p:nvSpPr>
        <p:spPr>
          <a:xfrm>
            <a:off x="4495800" y="2524125"/>
            <a:ext cx="1333500" cy="2095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Zurück, saniert</a:t>
            </a:r>
            <a:endParaRPr lang="en-US" sz="1200" dirty="0"/>
          </a:p>
        </p:txBody>
      </p:sp>
      <p:sp>
        <p:nvSpPr>
          <p:cNvPr id="21" name="Text 18"/>
          <p:cNvSpPr txBox="1"/>
          <p:nvPr/>
        </p:nvSpPr>
        <p:spPr>
          <a:xfrm>
            <a:off x="4495800" y="2781300"/>
            <a:ext cx="13335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Whg. A-02, gleicher Vertrag</a:t>
            </a:r>
            <a:endParaRPr lang="en-US" sz="900" dirty="0"/>
          </a:p>
        </p:txBody>
      </p:sp>
      <p:sp>
        <p:nvSpPr>
          <p:cNvPr id="22" name="Text 19"/>
          <p:cNvSpPr txBox="1"/>
          <p:nvPr/>
        </p:nvSpPr>
        <p:spPr>
          <a:xfrm>
            <a:off x="609600" y="3524250"/>
            <a:ext cx="5381625" cy="452437"/>
          </a:xfrm>
          <a:prstGeom prst="rect">
            <a:avLst/>
          </a:prstGeom>
          <a:noFill/>
          <a:ln/>
        </p:spPr>
        <p:txBody>
          <a:bodyPr wrap="square" lIns="0" tIns="0" rIns="0" bIns="0" rtlCol="0" anchor="t"/>
          <a:lstStyle/>
          <a:p>
            <a:pPr algn="l" indent="0" marL="0">
              <a:lnSpc>
                <a:spcPct val="120000"/>
              </a:lnSpc>
              <a:buNone/>
            </a:pPr>
            <a:r>
              <a:rPr lang="en-US" sz="1200" b="1" dirty="0">
                <a:solidFill>
                  <a:srgbClr val="1C2326"/>
                </a:solidFill>
                <a:latin typeface="Manrope" pitchFamily="34" charset="0"/>
                <a:ea typeface="Manrope" pitchFamily="34" charset="-122"/>
                <a:cs typeface="Manrope" pitchFamily="34" charset="-120"/>
              </a:rPr>
              <a:t>Niemand wird gekündigt. Der Mietvertrag bleibt. Alle kommen zurück.</a:t>
            </a:r>
            <a:endParaRPr lang="en-US" sz="1200" dirty="0"/>
          </a:p>
        </p:txBody>
      </p:sp>
      <p:sp>
        <p:nvSpPr>
          <p:cNvPr id="23" name="Text 20"/>
          <p:cNvSpPr txBox="1"/>
          <p:nvPr/>
        </p:nvSpPr>
        <p:spPr>
          <a:xfrm>
            <a:off x="609600" y="4024312"/>
            <a:ext cx="5381625"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bgnzwo, Höngg 2026: 49 Mietparteien, drei Etappen, vierfacher Aufwand in der Bewirtschaftung. Geplant mit Tabellen, E-Mails und Erfahrung.</a:t>
            </a:r>
            <a:endParaRPr lang="en-US" sz="900" dirty="0"/>
          </a:p>
        </p:txBody>
      </p:sp>
      <p:sp>
        <p:nvSpPr>
          <p:cNvPr id="24" name="Shape 21"/>
          <p:cNvSpPr/>
          <p:nvPr/>
        </p:nvSpPr>
        <p:spPr>
          <a:xfrm>
            <a:off x="6210300" y="1524000"/>
            <a:ext cx="2324100" cy="2857500"/>
          </a:xfrm>
          <a:prstGeom prst="roundRect">
            <a:avLst>
              <a:gd name="adj" fmla="val 6557"/>
            </a:avLst>
          </a:prstGeom>
          <a:solidFill>
            <a:srgbClr val="F26A1B"/>
          </a:solidFill>
          <a:ln w="12700">
            <a:solidFill>
              <a:srgbClr val="F26A1B"/>
            </a:solidFill>
            <a:prstDash val="solid"/>
          </a:ln>
        </p:spPr>
      </p:sp>
      <p:sp>
        <p:nvSpPr>
          <p:cNvPr id="25" name="Text 22"/>
          <p:cNvSpPr txBox="1"/>
          <p:nvPr/>
        </p:nvSpPr>
        <p:spPr>
          <a:xfrm>
            <a:off x="6438900" y="1752600"/>
            <a:ext cx="1905000" cy="952500"/>
          </a:xfrm>
          <a:prstGeom prst="rect">
            <a:avLst/>
          </a:prstGeom>
          <a:noFill/>
          <a:ln/>
        </p:spPr>
        <p:txBody>
          <a:bodyPr wrap="square" lIns="0" tIns="0" rIns="0" bIns="0" rtlCol="0" anchor="t"/>
          <a:lstStyle/>
          <a:p>
            <a:pPr algn="l" indent="0" marL="0">
              <a:lnSpc>
                <a:spcPct val="115000"/>
              </a:lnSpc>
              <a:buNone/>
            </a:pPr>
            <a:r>
              <a:rPr lang="en-US" sz="1650" b="1" dirty="0">
                <a:solidFill>
                  <a:srgbClr val="1C2326"/>
                </a:solidFill>
                <a:latin typeface="Manrope" pitchFamily="34" charset="0"/>
                <a:ea typeface="Manrope" pitchFamily="34" charset="-122"/>
                <a:cs typeface="Manrope" pitchFamily="34" charset="-120"/>
              </a:rPr>
              <a:t>«Die mit Abstand effektivste Massnahme»</a:t>
            </a:r>
            <a:endParaRPr lang="en-US" sz="1650" dirty="0"/>
          </a:p>
        </p:txBody>
      </p:sp>
      <p:sp>
        <p:nvSpPr>
          <p:cNvPr id="26" name="Text 23"/>
          <p:cNvSpPr txBox="1"/>
          <p:nvPr/>
        </p:nvSpPr>
        <p:spPr>
          <a:xfrm>
            <a:off x="6438900" y="2762250"/>
            <a:ext cx="1905000" cy="33337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Universität Zürich, 12 Interviews mit Eigentümern und Genossenschaften, 2025</a:t>
            </a:r>
            <a:endParaRPr lang="en-US" sz="825" dirty="0"/>
          </a:p>
        </p:txBody>
      </p:sp>
      <p:sp>
        <p:nvSpPr>
          <p:cNvPr id="27" name="Text 24"/>
          <p:cNvSpPr txBox="1"/>
          <p:nvPr/>
        </p:nvSpPr>
        <p:spPr>
          <a:xfrm>
            <a:off x="6438900" y="3286125"/>
            <a:ext cx="1905000" cy="285750"/>
          </a:xfrm>
          <a:prstGeom prst="rect">
            <a:avLst/>
          </a:prstGeom>
          <a:noFill/>
          <a:ln/>
        </p:spPr>
        <p:txBody>
          <a:bodyPr wrap="square" lIns="0" tIns="0" rIns="0" bIns="0" rtlCol="0" anchor="t"/>
          <a:lstStyle/>
          <a:p>
            <a:pPr algn="l" indent="0" marL="0">
              <a:buNone/>
            </a:pPr>
            <a:r>
              <a:rPr lang="en-US" sz="1500" b="1" dirty="0">
                <a:solidFill>
                  <a:srgbClr val="FFFFFF"/>
                </a:solidFill>
                <a:latin typeface="Manrope" pitchFamily="34" charset="0"/>
                <a:ea typeface="Manrope" pitchFamily="34" charset="-122"/>
                <a:cs typeface="Manrope" pitchFamily="34" charset="-120"/>
              </a:rPr>
              <a:t>«enorm aufwändig»</a:t>
            </a:r>
            <a:endParaRPr lang="en-US" sz="1500" dirty="0"/>
          </a:p>
        </p:txBody>
      </p:sp>
      <p:sp>
        <p:nvSpPr>
          <p:cNvPr id="28" name="Text 25"/>
          <p:cNvSpPr txBox="1"/>
          <p:nvPr/>
        </p:nvSpPr>
        <p:spPr>
          <a:xfrm>
            <a:off x="6438900" y="3600450"/>
            <a:ext cx="1905000" cy="619125"/>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sagen dieselben Befragten. Flächen finden, zuteilen, zwei Übergaben pro Haushalt, jede Verschiebung von Hand.</a:t>
            </a:r>
            <a:endParaRPr lang="en-US" sz="825" dirty="0"/>
          </a:p>
        </p:txBody>
      </p:sp>
      <p:sp>
        <p:nvSpPr>
          <p:cNvPr id="29" name="Text 26"/>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Keller, CUREM Universität Zürich, 2025 · bgnzwo, Mitgliederzeitschrift Sommer 2026</a:t>
            </a:r>
            <a:endParaRPr lang="en-US" sz="900" dirty="0"/>
          </a:p>
        </p:txBody>
      </p:sp>
      <p:sp>
        <p:nvSpPr>
          <p:cNvPr id="3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DÜRFEN WIR DAS?</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Ja. Und das sind die Mitspieler.</a:t>
            </a:r>
            <a:endParaRPr lang="en-US" sz="2700" dirty="0"/>
          </a:p>
        </p:txBody>
      </p:sp>
      <p:sp>
        <p:nvSpPr>
          <p:cNvPr id="5" name="Shape 2"/>
          <p:cNvSpPr/>
          <p:nvPr/>
        </p:nvSpPr>
        <p:spPr>
          <a:xfrm>
            <a:off x="609600" y="1524000"/>
            <a:ext cx="3048000" cy="2857500"/>
          </a:xfrm>
          <a:prstGeom prst="roundRect">
            <a:avLst>
              <a:gd name="adj" fmla="val 5333"/>
            </a:avLst>
          </a:prstGeom>
          <a:solidFill>
            <a:srgbClr val="24414A"/>
          </a:solidFill>
          <a:ln w="12700">
            <a:solidFill>
              <a:srgbClr val="24414A"/>
            </a:solidFill>
            <a:prstDash val="solid"/>
          </a:ln>
        </p:spPr>
      </p:sp>
      <p:sp>
        <p:nvSpPr>
          <p:cNvPr id="6" name="Text 3"/>
          <p:cNvSpPr txBox="1"/>
          <p:nvPr/>
        </p:nvSpPr>
        <p:spPr>
          <a:xfrm>
            <a:off x="838200" y="1714500"/>
            <a:ext cx="26670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WAS ROCHADE DARF</a:t>
            </a:r>
            <a:endParaRPr lang="en-US" sz="900" dirty="0"/>
          </a:p>
        </p:txBody>
      </p:sp>
      <p:sp>
        <p:nvSpPr>
          <p:cNvPr id="7" name="Shape 4"/>
          <p:cNvSpPr/>
          <p:nvPr/>
        </p:nvSpPr>
        <p:spPr>
          <a:xfrm>
            <a:off x="838200" y="2019300"/>
            <a:ext cx="190500" cy="190500"/>
          </a:xfrm>
          <a:prstGeom prst="roundRect">
            <a:avLst>
              <a:gd name="adj" fmla="val 25000"/>
            </a:avLst>
          </a:prstGeom>
          <a:solidFill>
            <a:srgbClr val="F26A1B"/>
          </a:solidFill>
          <a:ln w="12700">
            <a:solidFill>
              <a:srgbClr val="F26A1B"/>
            </a:solidFill>
            <a:prstDash val="solid"/>
          </a:ln>
        </p:spPr>
      </p:sp>
      <p:sp>
        <p:nvSpPr>
          <p:cNvPr id="8" name="Text 5"/>
          <p:cNvSpPr txBox="1"/>
          <p:nvPr/>
        </p:nvSpPr>
        <p:spPr>
          <a:xfrm>
            <a:off x="838200" y="20193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1</a:t>
            </a:r>
            <a:endParaRPr lang="en-US" sz="825" dirty="0"/>
          </a:p>
        </p:txBody>
      </p:sp>
      <p:sp>
        <p:nvSpPr>
          <p:cNvPr id="9" name="Text 6"/>
          <p:cNvSpPr txBox="1"/>
          <p:nvPr/>
        </p:nvSpPr>
        <p:spPr>
          <a:xfrm>
            <a:off x="1104900" y="20002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Planen, nicht entscheiden.</a:t>
            </a:r>
            <a:endParaRPr lang="en-US" sz="1125" dirty="0"/>
          </a:p>
        </p:txBody>
      </p:sp>
      <p:sp>
        <p:nvSpPr>
          <p:cNvPr id="10" name="Text 7"/>
          <p:cNvSpPr txBox="1"/>
          <p:nvPr/>
        </p:nvSpPr>
        <p:spPr>
          <a:xfrm>
            <a:off x="1104900" y="22288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Werkzeug der Eigentümerin. Keine Bewilligung nötig, kein Rechtsprodukt: Verträge bleiben Sache von Verwaltung und Mietenden.</a:t>
            </a:r>
            <a:endParaRPr lang="en-US" sz="825" dirty="0"/>
          </a:p>
        </p:txBody>
      </p:sp>
      <p:sp>
        <p:nvSpPr>
          <p:cNvPr id="11" name="Shape 8"/>
          <p:cNvSpPr/>
          <p:nvPr/>
        </p:nvSpPr>
        <p:spPr>
          <a:xfrm>
            <a:off x="838200" y="2800350"/>
            <a:ext cx="190500" cy="190500"/>
          </a:xfrm>
          <a:prstGeom prst="roundRect">
            <a:avLst>
              <a:gd name="adj" fmla="val 25000"/>
            </a:avLst>
          </a:prstGeom>
          <a:solidFill>
            <a:srgbClr val="F26A1B"/>
          </a:solidFill>
          <a:ln w="12700">
            <a:solidFill>
              <a:srgbClr val="F26A1B"/>
            </a:solidFill>
            <a:prstDash val="solid"/>
          </a:ln>
        </p:spPr>
      </p:sp>
      <p:sp>
        <p:nvSpPr>
          <p:cNvPr id="12" name="Text 9"/>
          <p:cNvSpPr txBox="1"/>
          <p:nvPr/>
        </p:nvSpPr>
        <p:spPr>
          <a:xfrm>
            <a:off x="838200" y="280035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2</a:t>
            </a:r>
            <a:endParaRPr lang="en-US" sz="825" dirty="0"/>
          </a:p>
        </p:txBody>
      </p:sp>
      <p:sp>
        <p:nvSpPr>
          <p:cNvPr id="13" name="Text 10"/>
          <p:cNvSpPr txBox="1"/>
          <p:nvPr/>
        </p:nvSpPr>
        <p:spPr>
          <a:xfrm>
            <a:off x="1104900" y="278130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Die Rochade ist legal.</a:t>
            </a:r>
            <a:endParaRPr lang="en-US" sz="1125" dirty="0"/>
          </a:p>
        </p:txBody>
      </p:sp>
      <p:sp>
        <p:nvSpPr>
          <p:cNvPr id="14" name="Text 11"/>
          <p:cNvSpPr txBox="1"/>
          <p:nvPr/>
        </p:nvSpPr>
        <p:spPr>
          <a:xfrm>
            <a:off x="1104900" y="300990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Der Mietvertrag bleibt. Die Ausweichwohnung wird befristet vereinbart; ist sie gleichwertig, entfallen die Mängelrechte (OR 259c).</a:t>
            </a:r>
            <a:endParaRPr lang="en-US" sz="825" dirty="0"/>
          </a:p>
        </p:txBody>
      </p:sp>
      <p:sp>
        <p:nvSpPr>
          <p:cNvPr id="15" name="Shape 12"/>
          <p:cNvSpPr/>
          <p:nvPr/>
        </p:nvSpPr>
        <p:spPr>
          <a:xfrm>
            <a:off x="838200" y="3581400"/>
            <a:ext cx="190500" cy="190500"/>
          </a:xfrm>
          <a:prstGeom prst="roundRect">
            <a:avLst>
              <a:gd name="adj" fmla="val 25000"/>
            </a:avLst>
          </a:prstGeom>
          <a:solidFill>
            <a:srgbClr val="F26A1B"/>
          </a:solidFill>
          <a:ln w="12700">
            <a:solidFill>
              <a:srgbClr val="F26A1B"/>
            </a:solidFill>
            <a:prstDash val="solid"/>
          </a:ln>
        </p:spPr>
      </p:sp>
      <p:sp>
        <p:nvSpPr>
          <p:cNvPr id="16" name="Text 13"/>
          <p:cNvSpPr txBox="1"/>
          <p:nvPr/>
        </p:nvSpPr>
        <p:spPr>
          <a:xfrm>
            <a:off x="838200" y="3581400"/>
            <a:ext cx="190500" cy="190500"/>
          </a:xfrm>
          <a:prstGeom prst="rect">
            <a:avLst/>
          </a:prstGeom>
          <a:noFill/>
          <a:ln/>
        </p:spPr>
        <p:txBody>
          <a:bodyPr wrap="square" lIns="0" tIns="0" rIns="0" bIns="0" rtlCol="0" anchor="ctr"/>
          <a:lstStyle/>
          <a:p>
            <a:pPr algn="ctr" indent="0" marL="0">
              <a:buNone/>
            </a:pPr>
            <a:r>
              <a:rPr lang="en-US" sz="825" b="1" dirty="0">
                <a:solidFill>
                  <a:srgbClr val="FFFFFF"/>
                </a:solidFill>
                <a:latin typeface="Manrope" pitchFamily="34" charset="0"/>
                <a:ea typeface="Manrope" pitchFamily="34" charset="-122"/>
                <a:cs typeface="Manrope" pitchFamily="34" charset="-120"/>
              </a:rPr>
              <a:t>3</a:t>
            </a:r>
            <a:endParaRPr lang="en-US" sz="825" dirty="0"/>
          </a:p>
        </p:txBody>
      </p:sp>
      <p:sp>
        <p:nvSpPr>
          <p:cNvPr id="17" name="Text 14"/>
          <p:cNvSpPr txBox="1"/>
          <p:nvPr/>
        </p:nvSpPr>
        <p:spPr>
          <a:xfrm>
            <a:off x="1104900" y="3562350"/>
            <a:ext cx="2381250" cy="209550"/>
          </a:xfrm>
          <a:prstGeom prst="rect">
            <a:avLst/>
          </a:prstGeom>
          <a:noFill/>
          <a:ln/>
        </p:spPr>
        <p:txBody>
          <a:bodyPr wrap="square" lIns="0" tIns="0" rIns="0" bIns="0" rtlCol="0" anchor="t"/>
          <a:lstStyle/>
          <a:p>
            <a:pPr algn="l" indent="0" marL="0">
              <a:buNone/>
            </a:pPr>
            <a:r>
              <a:rPr lang="en-US" sz="1125" b="1" dirty="0">
                <a:solidFill>
                  <a:srgbClr val="FFFFFF"/>
                </a:solidFill>
                <a:latin typeface="Manrope" pitchFamily="34" charset="0"/>
                <a:ea typeface="Manrope" pitchFamily="34" charset="-122"/>
                <a:cs typeface="Manrope" pitchFamily="34" charset="-120"/>
              </a:rPr>
              <a:t>Daten im Auftrag.</a:t>
            </a:r>
            <a:endParaRPr lang="en-US" sz="1125" dirty="0"/>
          </a:p>
        </p:txBody>
      </p:sp>
      <p:sp>
        <p:nvSpPr>
          <p:cNvPr id="18" name="Text 15"/>
          <p:cNvSpPr txBox="1"/>
          <p:nvPr/>
        </p:nvSpPr>
        <p:spPr>
          <a:xfrm>
            <a:off x="1104900" y="3790950"/>
            <a:ext cx="2381250" cy="523875"/>
          </a:xfrm>
          <a:prstGeom prst="rect">
            <a:avLst/>
          </a:prstGeom>
          <a:noFill/>
          <a:ln/>
        </p:spPr>
        <p:txBody>
          <a:bodyPr wrap="square" lIns="0" tIns="0" rIns="0" bIns="0" rtlCol="0" anchor="t"/>
          <a:lstStyle/>
          <a:p>
            <a:pPr algn="l" indent="0" marL="0">
              <a:lnSpc>
                <a:spcPct val="130000"/>
              </a:lnSpc>
              <a:buNone/>
            </a:pPr>
            <a:r>
              <a:rPr lang="en-US" sz="825" dirty="0">
                <a:solidFill>
                  <a:srgbClr val="C9D6D9"/>
                </a:solidFill>
                <a:latin typeface="Manrope" pitchFamily="34" charset="0"/>
                <a:ea typeface="Manrope" pitchFamily="34" charset="-122"/>
                <a:cs typeface="Manrope" pitchFamily="34" charset="-120"/>
              </a:rPr>
              <a:t>Haushaltsdaten gehören der Eigentümerin. ROCHADE bearbeitet sie in ihrem Auftrag nach DSG, Hosting in der Schweiz geplant.</a:t>
            </a:r>
            <a:endParaRPr lang="en-US" sz="825" dirty="0"/>
          </a:p>
        </p:txBody>
      </p:sp>
      <p:sp>
        <p:nvSpPr>
          <p:cNvPr id="19" name="Shape 16"/>
          <p:cNvSpPr/>
          <p:nvPr/>
        </p:nvSpPr>
        <p:spPr>
          <a:xfrm>
            <a:off x="3962400" y="1524000"/>
            <a:ext cx="1447800" cy="1371600"/>
          </a:xfrm>
          <a:prstGeom prst="roundRect">
            <a:avLst>
              <a:gd name="adj" fmla="val 8333"/>
            </a:avLst>
          </a:prstGeom>
          <a:solidFill>
            <a:srgbClr val="F26A1B"/>
          </a:solidFill>
          <a:ln w="12700">
            <a:solidFill>
              <a:srgbClr val="F26A1B"/>
            </a:solidFill>
            <a:prstDash val="solid"/>
          </a:ln>
        </p:spPr>
      </p:sp>
      <p:sp>
        <p:nvSpPr>
          <p:cNvPr id="20" name="Text 17"/>
          <p:cNvSpPr txBox="1"/>
          <p:nvPr/>
        </p:nvSpPr>
        <p:spPr>
          <a:xfrm>
            <a:off x="40957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Genossenschaft, Eigentümerin</a:t>
            </a:r>
            <a:endParaRPr lang="en-US" sz="1050" dirty="0"/>
          </a:p>
        </p:txBody>
      </p:sp>
      <p:sp>
        <p:nvSpPr>
          <p:cNvPr id="21" name="Text 18"/>
          <p:cNvSpPr txBox="1"/>
          <p:nvPr/>
        </p:nvSpPr>
        <p:spPr>
          <a:xfrm>
            <a:off x="40957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Kundin. Entscheidet, zahlt, trägt das Risiko.</a:t>
            </a:r>
            <a:endParaRPr lang="en-US" sz="825" dirty="0"/>
          </a:p>
        </p:txBody>
      </p:sp>
      <p:sp>
        <p:nvSpPr>
          <p:cNvPr id="22" name="Shape 19"/>
          <p:cNvSpPr/>
          <p:nvPr/>
        </p:nvSpPr>
        <p:spPr>
          <a:xfrm>
            <a:off x="55245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3" name="Text 20"/>
          <p:cNvSpPr txBox="1"/>
          <p:nvPr/>
        </p:nvSpPr>
        <p:spPr>
          <a:xfrm>
            <a:off x="56578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Bewirtschaftung</a:t>
            </a:r>
            <a:endParaRPr lang="en-US" sz="1050" dirty="0"/>
          </a:p>
        </p:txBody>
      </p:sp>
      <p:sp>
        <p:nvSpPr>
          <p:cNvPr id="24" name="Text 21"/>
          <p:cNvSpPr txBox="1"/>
          <p:nvPr/>
        </p:nvSpPr>
        <p:spPr>
          <a:xfrm>
            <a:off x="56578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Nutzerin. Plant, teilt zu, informiert. Heute vierfacher Aufwand.</a:t>
            </a:r>
            <a:endParaRPr lang="en-US" sz="825" dirty="0"/>
          </a:p>
        </p:txBody>
      </p:sp>
      <p:sp>
        <p:nvSpPr>
          <p:cNvPr id="25" name="Shape 22"/>
          <p:cNvSpPr/>
          <p:nvPr/>
        </p:nvSpPr>
        <p:spPr>
          <a:xfrm>
            <a:off x="7086600" y="15240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Text 23"/>
          <p:cNvSpPr txBox="1"/>
          <p:nvPr/>
        </p:nvSpPr>
        <p:spPr>
          <a:xfrm>
            <a:off x="7219950" y="16573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Mietende</a:t>
            </a:r>
            <a:endParaRPr lang="en-US" sz="1050" dirty="0"/>
          </a:p>
        </p:txBody>
      </p:sp>
      <p:sp>
        <p:nvSpPr>
          <p:cNvPr id="27" name="Text 24"/>
          <p:cNvSpPr txBox="1"/>
          <p:nvPr/>
        </p:nvSpPr>
        <p:spPr>
          <a:xfrm>
            <a:off x="7219950" y="21336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App. Stimmen freiwillig zu, sehen Auszug, Wohnung, Rückkehr.</a:t>
            </a:r>
            <a:endParaRPr lang="en-US" sz="825" dirty="0"/>
          </a:p>
        </p:txBody>
      </p:sp>
      <p:sp>
        <p:nvSpPr>
          <p:cNvPr id="28" name="Shape 25"/>
          <p:cNvSpPr/>
          <p:nvPr/>
        </p:nvSpPr>
        <p:spPr>
          <a:xfrm>
            <a:off x="39624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9" name="Text 26"/>
          <p:cNvSpPr txBox="1"/>
          <p:nvPr/>
        </p:nvSpPr>
        <p:spPr>
          <a:xfrm>
            <a:off x="40957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Bauleitung</a:t>
            </a:r>
            <a:endParaRPr lang="en-US" sz="1050" dirty="0"/>
          </a:p>
        </p:txBody>
      </p:sp>
      <p:sp>
        <p:nvSpPr>
          <p:cNvPr id="30" name="Text 27"/>
          <p:cNvSpPr txBox="1"/>
          <p:nvPr/>
        </p:nvSpPr>
        <p:spPr>
          <a:xfrm>
            <a:off x="40957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Liefert Etappen und Termine, bekommt leere Wohnungen.</a:t>
            </a:r>
            <a:endParaRPr lang="en-US" sz="825" dirty="0"/>
          </a:p>
        </p:txBody>
      </p:sp>
      <p:sp>
        <p:nvSpPr>
          <p:cNvPr id="31" name="Shape 28"/>
          <p:cNvSpPr/>
          <p:nvPr/>
        </p:nvSpPr>
        <p:spPr>
          <a:xfrm>
            <a:off x="5524500" y="3009900"/>
            <a:ext cx="1447800" cy="1371600"/>
          </a:xfrm>
          <a:prstGeom prst="roundRect">
            <a:avLst>
              <a:gd name="adj" fmla="val 8333"/>
            </a:avLst>
          </a:prstGeom>
          <a:solidFill>
            <a:srgbClr val="E2ECEE"/>
          </a:solidFill>
          <a:ln w="12700">
            <a:solidFill>
              <a:srgbClr val="E2ECEE"/>
            </a:solidFill>
            <a:prstDash val="solid"/>
          </a:ln>
        </p:spPr>
      </p:sp>
      <p:sp>
        <p:nvSpPr>
          <p:cNvPr id="32" name="Text 29"/>
          <p:cNvSpPr txBox="1"/>
          <p:nvPr/>
        </p:nvSpPr>
        <p:spPr>
          <a:xfrm>
            <a:off x="56578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Gemeinde</a:t>
            </a:r>
            <a:endParaRPr lang="en-US" sz="1050" dirty="0"/>
          </a:p>
        </p:txBody>
      </p:sp>
      <p:sp>
        <p:nvSpPr>
          <p:cNvPr id="33" name="Text 30"/>
          <p:cNvSpPr txBox="1"/>
          <p:nvPr/>
        </p:nvSpPr>
        <p:spPr>
          <a:xfrm>
            <a:off x="56578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Baubewilligung. Zürich prüft neu den Nachweis, wir liefern ihn.</a:t>
            </a:r>
            <a:endParaRPr lang="en-US" sz="825" dirty="0"/>
          </a:p>
        </p:txBody>
      </p:sp>
      <p:sp>
        <p:nvSpPr>
          <p:cNvPr id="34" name="Shape 31"/>
          <p:cNvSpPr/>
          <p:nvPr/>
        </p:nvSpPr>
        <p:spPr>
          <a:xfrm>
            <a:off x="7086600" y="3009900"/>
            <a:ext cx="1447800" cy="1371600"/>
          </a:xfrm>
          <a:prstGeom prst="roundRect">
            <a:avLst>
              <a:gd name="adj" fmla="val 8333"/>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5" name="Text 32"/>
          <p:cNvSpPr txBox="1"/>
          <p:nvPr/>
        </p:nvSpPr>
        <p:spPr>
          <a:xfrm>
            <a:off x="7219950" y="3143250"/>
            <a:ext cx="1181100" cy="428625"/>
          </a:xfrm>
          <a:prstGeom prst="rect">
            <a:avLst/>
          </a:prstGeom>
          <a:noFill/>
          <a:ln/>
        </p:spPr>
        <p:txBody>
          <a:bodyPr wrap="square" lIns="0" tIns="0" rIns="0" bIns="0" rtlCol="0" anchor="t"/>
          <a:lstStyle/>
          <a:p>
            <a:pPr algn="l" indent="0" marL="0">
              <a:lnSpc>
                <a:spcPct val="115000"/>
              </a:lnSpc>
              <a:buNone/>
            </a:pPr>
            <a:r>
              <a:rPr lang="en-US" sz="1050" b="1" dirty="0">
                <a:solidFill>
                  <a:srgbClr val="1C2326"/>
                </a:solidFill>
                <a:latin typeface="Manrope" pitchFamily="34" charset="0"/>
                <a:ea typeface="Manrope" pitchFamily="34" charset="-122"/>
                <a:cs typeface="Manrope" pitchFamily="34" charset="-120"/>
              </a:rPr>
              <a:t>Mieterverband</a:t>
            </a:r>
            <a:endParaRPr lang="en-US" sz="1050" dirty="0"/>
          </a:p>
        </p:txBody>
      </p:sp>
      <p:sp>
        <p:nvSpPr>
          <p:cNvPr id="36" name="Text 33"/>
          <p:cNvSpPr txBox="1"/>
          <p:nvPr/>
        </p:nvSpPr>
        <p:spPr>
          <a:xfrm>
            <a:off x="7219950" y="3619500"/>
            <a:ext cx="1181100" cy="66675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Berät die Mietenden. Für uns Verbündeter, nicht Gegner.</a:t>
            </a:r>
            <a:endParaRPr lang="en-US" sz="825" dirty="0"/>
          </a:p>
        </p:txBody>
      </p:sp>
      <p:sp>
        <p:nvSpPr>
          <p:cNvPr id="37" name="Text 34"/>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Rechtslage Bund und Kantone Zürich, Luzern, Zug, Schwyz: Reservefolie 6</a:t>
            </a:r>
            <a:endParaRPr lang="en-US" sz="900" dirty="0"/>
          </a:p>
        </p:txBody>
      </p:sp>
      <p:sp>
        <p:nvSpPr>
          <p:cNvPr id="39"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name="Slide 6">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RECHTSLAGE</a:t>
            </a:r>
            <a:endParaRPr lang="en-US" sz="900" dirty="0"/>
          </a:p>
        </p:txBody>
      </p:sp>
      <p:sp>
        <p:nvSpPr>
          <p:cNvPr id="4" name="Text 1"/>
          <p:cNvSpPr txBox="1"/>
          <p:nvPr/>
        </p:nvSpPr>
        <p:spPr>
          <a:xfrm>
            <a:off x="609600" y="838200"/>
            <a:ext cx="7620000" cy="809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Leerkündigen ist erlaubt, wenn es nicht anders geht. Zürich prüft das jetzt.</a:t>
            </a:r>
            <a:endParaRPr lang="en-US" sz="2700" dirty="0"/>
          </a:p>
        </p:txBody>
      </p:sp>
      <p:sp>
        <p:nvSpPr>
          <p:cNvPr id="5" name="Shape 2"/>
          <p:cNvSpPr/>
          <p:nvPr/>
        </p:nvSpPr>
        <p:spPr>
          <a:xfrm>
            <a:off x="609600" y="1762125"/>
            <a:ext cx="2590800" cy="2000250"/>
          </a:xfrm>
          <a:prstGeom prst="roundRect">
            <a:avLst>
              <a:gd name="adj" fmla="val 5714"/>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6" name="Text 3"/>
          <p:cNvSpPr txBox="1"/>
          <p:nvPr/>
        </p:nvSpPr>
        <p:spPr>
          <a:xfrm>
            <a:off x="762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BUND · OR 271</a:t>
            </a:r>
            <a:endParaRPr lang="en-US" sz="675" dirty="0"/>
          </a:p>
        </p:txBody>
      </p:sp>
      <p:sp>
        <p:nvSpPr>
          <p:cNvPr id="7" name="Text 4"/>
          <p:cNvSpPr txBox="1"/>
          <p:nvPr/>
        </p:nvSpPr>
        <p:spPr>
          <a:xfrm>
            <a:off x="762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1C2326"/>
                </a:solidFill>
                <a:latin typeface="Manrope" pitchFamily="34" charset="0"/>
                <a:ea typeface="Manrope" pitchFamily="34" charset="-122"/>
                <a:cs typeface="Manrope" pitchFamily="34" charset="-120"/>
              </a:rPr>
              <a:t>Erlaubt, wenn nötig</a:t>
            </a:r>
            <a:endParaRPr lang="en-US" sz="1350" dirty="0"/>
          </a:p>
        </p:txBody>
      </p:sp>
      <p:sp>
        <p:nvSpPr>
          <p:cNvPr id="8" name="Text 5"/>
          <p:cNvSpPr txBox="1"/>
          <p:nvPr/>
        </p:nvSpPr>
        <p:spPr>
          <a:xfrm>
            <a:off x="762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Eine Sanierungskündigung hält, wenn der Verbleib der Mietenden die Arbeiten erheblich erschwert (BGE 135 III 112). Geht es bewohnt oder in Etappen, ist sie anfechtbar. Erstreckung bis 4 Jahre.</a:t>
            </a:r>
            <a:endParaRPr lang="en-US" sz="825" dirty="0"/>
          </a:p>
        </p:txBody>
      </p:sp>
      <p:sp>
        <p:nvSpPr>
          <p:cNvPr id="9" name="Shape 6"/>
          <p:cNvSpPr/>
          <p:nvPr/>
        </p:nvSpPr>
        <p:spPr>
          <a:xfrm>
            <a:off x="3276600" y="1762125"/>
            <a:ext cx="2590800" cy="2000250"/>
          </a:xfrm>
          <a:prstGeom prst="roundRect">
            <a:avLst>
              <a:gd name="adj" fmla="val 5714"/>
            </a:avLst>
          </a:prstGeom>
          <a:solidFill>
            <a:srgbClr val="FDEBDD"/>
          </a:solidFill>
          <a:ln w="12700">
            <a:solidFill>
              <a:srgbClr val="FDEBDD"/>
            </a:solidFill>
            <a:prstDash val="solid"/>
          </a:ln>
        </p:spPr>
      </p:sp>
      <p:sp>
        <p:nvSpPr>
          <p:cNvPr id="10" name="Text 7"/>
          <p:cNvSpPr txBox="1"/>
          <p:nvPr/>
        </p:nvSpPr>
        <p:spPr>
          <a:xfrm>
            <a:off x="3429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KANTON ZÜRICH · WBFG, JA 54,3 % AM 14.6.2026</a:t>
            </a:r>
            <a:endParaRPr lang="en-US" sz="675" dirty="0"/>
          </a:p>
        </p:txBody>
      </p:sp>
      <p:sp>
        <p:nvSpPr>
          <p:cNvPr id="11" name="Text 8"/>
          <p:cNvSpPr txBox="1"/>
          <p:nvPr/>
        </p:nvSpPr>
        <p:spPr>
          <a:xfrm>
            <a:off x="3429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B8460E"/>
                </a:solidFill>
                <a:latin typeface="Manrope" pitchFamily="34" charset="0"/>
                <a:ea typeface="Manrope" pitchFamily="34" charset="-122"/>
                <a:cs typeface="Manrope" pitchFamily="34" charset="-120"/>
              </a:rPr>
              <a:t>Prüfpflicht ab 20 Mietverhältnissen</a:t>
            </a:r>
            <a:endParaRPr lang="en-US" sz="1350" dirty="0"/>
          </a:p>
        </p:txBody>
      </p:sp>
      <p:sp>
        <p:nvSpPr>
          <p:cNvPr id="12" name="Text 9"/>
          <p:cNvSpPr txBox="1"/>
          <p:nvPr/>
        </p:nvSpPr>
        <p:spPr>
          <a:xfrm>
            <a:off x="3429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Bewohnt oder etappiert sanieren prüfen, 12 Monate Vorlauf, Ansprechperson, Hilfe bei der Wohnungssuche. Sonst keine Baubewilligung. In Kraft frühestens Ende 2026.</a:t>
            </a:r>
            <a:endParaRPr lang="en-US" sz="825" dirty="0"/>
          </a:p>
        </p:txBody>
      </p:sp>
      <p:sp>
        <p:nvSpPr>
          <p:cNvPr id="13" name="Shape 10"/>
          <p:cNvSpPr/>
          <p:nvPr/>
        </p:nvSpPr>
        <p:spPr>
          <a:xfrm>
            <a:off x="5943600" y="1762125"/>
            <a:ext cx="2590800" cy="2000250"/>
          </a:xfrm>
          <a:prstGeom prst="roundRect">
            <a:avLst>
              <a:gd name="adj" fmla="val 5714"/>
            </a:avLst>
          </a:prstGeom>
          <a:solidFill>
            <a:srgbClr val="E2ECEE"/>
          </a:solidFill>
          <a:ln w="12700">
            <a:solidFill>
              <a:srgbClr val="E2ECEE"/>
            </a:solidFill>
            <a:prstDash val="solid"/>
          </a:ln>
        </p:spPr>
      </p:sp>
      <p:sp>
        <p:nvSpPr>
          <p:cNvPr id="14" name="Text 11"/>
          <p:cNvSpPr txBox="1"/>
          <p:nvPr/>
        </p:nvSpPr>
        <p:spPr>
          <a:xfrm>
            <a:off x="6096000" y="1895475"/>
            <a:ext cx="2286000" cy="142875"/>
          </a:xfrm>
          <a:prstGeom prst="rect">
            <a:avLst/>
          </a:prstGeom>
          <a:noFill/>
          <a:ln/>
        </p:spPr>
        <p:txBody>
          <a:bodyPr wrap="square" lIns="0" tIns="0" rIns="0" bIns="0" rtlCol="0" anchor="t"/>
          <a:lstStyle/>
          <a:p>
            <a:pPr algn="l" indent="0" marL="0">
              <a:buNone/>
            </a:pPr>
            <a:r>
              <a:rPr lang="en-US" sz="675" b="1" spc="75" kern="0" dirty="0">
                <a:solidFill>
                  <a:srgbClr val="5B6468"/>
                </a:solidFill>
                <a:latin typeface="Manrope" pitchFamily="34" charset="0"/>
                <a:ea typeface="Manrope" pitchFamily="34" charset="-122"/>
                <a:cs typeface="Manrope" pitchFamily="34" charset="-120"/>
              </a:rPr>
              <a:t>GENOSSENSCHAFTEN · OR 846</a:t>
            </a:r>
            <a:endParaRPr lang="en-US" sz="675" dirty="0"/>
          </a:p>
        </p:txBody>
      </p:sp>
      <p:sp>
        <p:nvSpPr>
          <p:cNvPr id="15" name="Text 12"/>
          <p:cNvSpPr txBox="1"/>
          <p:nvPr/>
        </p:nvSpPr>
        <p:spPr>
          <a:xfrm>
            <a:off x="6096000" y="2076450"/>
            <a:ext cx="2286000" cy="428625"/>
          </a:xfrm>
          <a:prstGeom prst="rect">
            <a:avLst/>
          </a:prstGeom>
          <a:noFill/>
          <a:ln/>
        </p:spPr>
        <p:txBody>
          <a:bodyPr wrap="square" lIns="0" tIns="0" rIns="0" bIns="0" rtlCol="0" anchor="t"/>
          <a:lstStyle/>
          <a:p>
            <a:pPr algn="l" indent="0" marL="0">
              <a:lnSpc>
                <a:spcPct val="110000"/>
              </a:lnSpc>
              <a:buNone/>
            </a:pPr>
            <a:r>
              <a:rPr lang="en-US" sz="1350" b="1" dirty="0">
                <a:solidFill>
                  <a:srgbClr val="24414A"/>
                </a:solidFill>
                <a:latin typeface="Manrope" pitchFamily="34" charset="0"/>
                <a:ea typeface="Manrope" pitchFamily="34" charset="-122"/>
                <a:cs typeface="Manrope" pitchFamily="34" charset="-120"/>
              </a:rPr>
              <a:t>Sanierung ist kein Kündigungsgrund</a:t>
            </a:r>
            <a:endParaRPr lang="en-US" sz="1350" dirty="0"/>
          </a:p>
        </p:txBody>
      </p:sp>
      <p:sp>
        <p:nvSpPr>
          <p:cNvPr id="16" name="Text 13"/>
          <p:cNvSpPr txBox="1"/>
          <p:nvPr/>
        </p:nvSpPr>
        <p:spPr>
          <a:xfrm>
            <a:off x="6096000" y="2552700"/>
            <a:ext cx="2286000" cy="1143000"/>
          </a:xfrm>
          <a:prstGeom prst="rect">
            <a:avLst/>
          </a:prstGeom>
          <a:noFill/>
          <a:ln/>
        </p:spPr>
        <p:txBody>
          <a:bodyPr wrap="square" lIns="0" tIns="0" rIns="0" bIns="0" rtlCol="0" anchor="t"/>
          <a:lstStyle/>
          <a:p>
            <a:pPr algn="l" indent="0" marL="0">
              <a:lnSpc>
                <a:spcPct val="130000"/>
              </a:lnSpc>
              <a:buNone/>
            </a:pPr>
            <a:r>
              <a:rPr lang="en-US" sz="825" dirty="0">
                <a:solidFill>
                  <a:srgbClr val="1C2326"/>
                </a:solidFill>
                <a:latin typeface="Manrope" pitchFamily="34" charset="0"/>
                <a:ea typeface="Manrope" pitchFamily="34" charset="-122"/>
                <a:cs typeface="Manrope" pitchFamily="34" charset="-120"/>
              </a:rPr>
              <a:t>Mitglieder sind Mitbesitzer. Ohne Statutengrundlage kann die Genossenschaft wegen einer Sanierung nicht kündigen. Darum: Rochade oder befristete Zwischenvermietung.</a:t>
            </a:r>
            <a:endParaRPr lang="en-US" sz="825" dirty="0"/>
          </a:p>
        </p:txBody>
      </p:sp>
      <p:sp>
        <p:nvSpPr>
          <p:cNvPr id="17" name="Shape 14"/>
          <p:cNvSpPr/>
          <p:nvPr/>
        </p:nvSpPr>
        <p:spPr>
          <a:xfrm>
            <a:off x="6096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18" name="Shape 15"/>
          <p:cNvSpPr/>
          <p:nvPr/>
        </p:nvSpPr>
        <p:spPr>
          <a:xfrm>
            <a:off x="723900" y="4029075"/>
            <a:ext cx="95250" cy="95250"/>
          </a:xfrm>
          <a:prstGeom prst="ellipse">
            <a:avLst/>
          </a:prstGeom>
          <a:solidFill>
            <a:srgbClr val="276B43"/>
          </a:solidFill>
          <a:ln w="12700">
            <a:solidFill>
              <a:srgbClr val="276B43"/>
            </a:solidFill>
            <a:prstDash val="solid"/>
          </a:ln>
        </p:spPr>
      </p:sp>
      <p:sp>
        <p:nvSpPr>
          <p:cNvPr id="19" name="Text 16"/>
          <p:cNvSpPr txBox="1"/>
          <p:nvPr/>
        </p:nvSpPr>
        <p:spPr>
          <a:xfrm>
            <a:off x="8763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Zürich</a:t>
            </a:r>
            <a:endParaRPr lang="en-US" sz="975" dirty="0"/>
          </a:p>
        </p:txBody>
      </p:sp>
      <p:sp>
        <p:nvSpPr>
          <p:cNvPr id="20" name="Text 17"/>
          <p:cNvSpPr txBox="1"/>
          <p:nvPr/>
        </p:nvSpPr>
        <p:spPr>
          <a:xfrm>
            <a:off x="7239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Prüfpflicht neu. Der Nachweis, den ROCHADE liefert.</a:t>
            </a:r>
            <a:endParaRPr lang="en-US" sz="713" dirty="0"/>
          </a:p>
        </p:txBody>
      </p:sp>
      <p:sp>
        <p:nvSpPr>
          <p:cNvPr id="21" name="Shape 18"/>
          <p:cNvSpPr/>
          <p:nvPr/>
        </p:nvSpPr>
        <p:spPr>
          <a:xfrm>
            <a:off x="25908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2" name="Shape 19"/>
          <p:cNvSpPr/>
          <p:nvPr/>
        </p:nvSpPr>
        <p:spPr>
          <a:xfrm>
            <a:off x="2705100" y="4029075"/>
            <a:ext cx="95250" cy="95250"/>
          </a:xfrm>
          <a:prstGeom prst="ellipse">
            <a:avLst/>
          </a:prstGeom>
          <a:solidFill>
            <a:srgbClr val="F26A1B"/>
          </a:solidFill>
          <a:ln w="12700">
            <a:solidFill>
              <a:srgbClr val="F26A1B"/>
            </a:solidFill>
            <a:prstDash val="solid"/>
          </a:ln>
        </p:spPr>
      </p:sp>
      <p:sp>
        <p:nvSpPr>
          <p:cNvPr id="23" name="Text 20"/>
          <p:cNvSpPr txBox="1"/>
          <p:nvPr/>
        </p:nvSpPr>
        <p:spPr>
          <a:xfrm>
            <a:off x="28575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Luzern</a:t>
            </a:r>
            <a:endParaRPr lang="en-US" sz="975" dirty="0"/>
          </a:p>
        </p:txBody>
      </p:sp>
      <p:sp>
        <p:nvSpPr>
          <p:cNvPr id="24" name="Text 21"/>
          <p:cNvSpPr txBox="1"/>
          <p:nvPr/>
        </p:nvSpPr>
        <p:spPr>
          <a:xfrm>
            <a:off x="27051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Wohnraum-Gesetz umkämpft: Stadt Nein 24:23, Initiative läuft.</a:t>
            </a:r>
            <a:endParaRPr lang="en-US" sz="713" dirty="0"/>
          </a:p>
        </p:txBody>
      </p:sp>
      <p:sp>
        <p:nvSpPr>
          <p:cNvPr id="25" name="Shape 22"/>
          <p:cNvSpPr/>
          <p:nvPr/>
        </p:nvSpPr>
        <p:spPr>
          <a:xfrm>
            <a:off x="45720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26" name="Shape 23"/>
          <p:cNvSpPr/>
          <p:nvPr/>
        </p:nvSpPr>
        <p:spPr>
          <a:xfrm>
            <a:off x="4686300" y="4029075"/>
            <a:ext cx="95250" cy="95250"/>
          </a:xfrm>
          <a:prstGeom prst="ellipse">
            <a:avLst/>
          </a:prstGeom>
          <a:solidFill>
            <a:srgbClr val="F26A1B"/>
          </a:solidFill>
          <a:ln w="12700">
            <a:solidFill>
              <a:srgbClr val="F26A1B"/>
            </a:solidFill>
            <a:prstDash val="solid"/>
          </a:ln>
        </p:spPr>
      </p:sp>
      <p:sp>
        <p:nvSpPr>
          <p:cNvPr id="27" name="Text 24"/>
          <p:cNvSpPr txBox="1"/>
          <p:nvPr/>
        </p:nvSpPr>
        <p:spPr>
          <a:xfrm>
            <a:off x="48387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Zug</a:t>
            </a:r>
            <a:endParaRPr lang="en-US" sz="975" dirty="0"/>
          </a:p>
        </p:txBody>
      </p:sp>
      <p:sp>
        <p:nvSpPr>
          <p:cNvPr id="28" name="Text 25"/>
          <p:cNvSpPr txBox="1"/>
          <p:nvPr/>
        </p:nvSpPr>
        <p:spPr>
          <a:xfrm>
            <a:off x="46863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Kein Gesetz. Herti: Veto, 68 Wohnungen werden bewohnt saniert.</a:t>
            </a:r>
            <a:endParaRPr lang="en-US" sz="713" dirty="0"/>
          </a:p>
        </p:txBody>
      </p:sp>
      <p:sp>
        <p:nvSpPr>
          <p:cNvPr id="29" name="Shape 26"/>
          <p:cNvSpPr/>
          <p:nvPr/>
        </p:nvSpPr>
        <p:spPr>
          <a:xfrm>
            <a:off x="6553200" y="3905250"/>
            <a:ext cx="1905000" cy="714375"/>
          </a:xfrm>
          <a:prstGeom prst="roundRect">
            <a:avLst>
              <a:gd name="adj" fmla="val 10667"/>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sp>
        <p:nvSpPr>
          <p:cNvPr id="30" name="Shape 27"/>
          <p:cNvSpPr/>
          <p:nvPr/>
        </p:nvSpPr>
        <p:spPr>
          <a:xfrm>
            <a:off x="6667500" y="4029075"/>
            <a:ext cx="95250" cy="95250"/>
          </a:xfrm>
          <a:prstGeom prst="ellipse">
            <a:avLst/>
          </a:prstGeom>
          <a:solidFill>
            <a:srgbClr val="8A8178"/>
          </a:solidFill>
          <a:ln w="12700">
            <a:solidFill>
              <a:srgbClr val="8A8178"/>
            </a:solidFill>
            <a:prstDash val="solid"/>
          </a:ln>
        </p:spPr>
      </p:sp>
      <p:sp>
        <p:nvSpPr>
          <p:cNvPr id="31" name="Text 28"/>
          <p:cNvSpPr txBox="1"/>
          <p:nvPr/>
        </p:nvSpPr>
        <p:spPr>
          <a:xfrm>
            <a:off x="6819900" y="3990975"/>
            <a:ext cx="1524000" cy="171450"/>
          </a:xfrm>
          <a:prstGeom prst="rect">
            <a:avLst/>
          </a:prstGeom>
          <a:noFill/>
          <a:ln/>
        </p:spPr>
        <p:txBody>
          <a:bodyPr wrap="square" lIns="0" tIns="0" rIns="0" bIns="0" rtlCol="0" anchor="t"/>
          <a:lstStyle/>
          <a:p>
            <a:pPr algn="l" indent="0" marL="0">
              <a:buNone/>
            </a:pPr>
            <a:r>
              <a:rPr lang="en-US" sz="975" b="1" dirty="0">
                <a:solidFill>
                  <a:srgbClr val="1C2326"/>
                </a:solidFill>
                <a:latin typeface="Manrope" pitchFamily="34" charset="0"/>
                <a:ea typeface="Manrope" pitchFamily="34" charset="-122"/>
                <a:cs typeface="Manrope" pitchFamily="34" charset="-120"/>
              </a:rPr>
              <a:t>Schwyz</a:t>
            </a:r>
            <a:endParaRPr lang="en-US" sz="975" dirty="0"/>
          </a:p>
        </p:txBody>
      </p:sp>
      <p:sp>
        <p:nvSpPr>
          <p:cNvPr id="32" name="Text 29"/>
          <p:cNvSpPr txBox="1"/>
          <p:nvPr/>
        </p:nvSpPr>
        <p:spPr>
          <a:xfrm>
            <a:off x="6667500" y="4210050"/>
            <a:ext cx="1676400" cy="361950"/>
          </a:xfrm>
          <a:prstGeom prst="rect">
            <a:avLst/>
          </a:prstGeom>
          <a:noFill/>
          <a:ln/>
        </p:spPr>
        <p:txBody>
          <a:bodyPr wrap="square" lIns="0" tIns="0" rIns="0" bIns="0" rtlCol="0" anchor="t"/>
          <a:lstStyle/>
          <a:p>
            <a:pPr algn="l" indent="0" marL="0">
              <a:lnSpc>
                <a:spcPct val="125000"/>
              </a:lnSpc>
              <a:buNone/>
            </a:pPr>
            <a:r>
              <a:rPr lang="en-US" sz="713" dirty="0">
                <a:solidFill>
                  <a:srgbClr val="5B6468"/>
                </a:solidFill>
                <a:latin typeface="Manrope" pitchFamily="34" charset="0"/>
                <a:ea typeface="Manrope" pitchFamily="34" charset="-122"/>
                <a:cs typeface="Manrope" pitchFamily="34" charset="-120"/>
              </a:rPr>
              <a:t>Nur Bundesrecht. Mieten +10,5 % in einem Jahr.</a:t>
            </a:r>
            <a:endParaRPr lang="en-US" sz="713" dirty="0"/>
          </a:p>
        </p:txBody>
      </p:sp>
      <p:sp>
        <p:nvSpPr>
          <p:cNvPr id="34"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DER PROTOTYP</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ROCHADE plant die Rochade.</a:t>
            </a:r>
            <a:endParaRPr lang="en-US" sz="2700" dirty="0"/>
          </a:p>
        </p:txBody>
      </p:sp>
      <p:sp>
        <p:nvSpPr>
          <p:cNvPr id="5" name="Shape 2"/>
          <p:cNvSpPr/>
          <p:nvPr/>
        </p:nvSpPr>
        <p:spPr>
          <a:xfrm>
            <a:off x="609600" y="1524000"/>
            <a:ext cx="5619750" cy="2095500"/>
          </a:xfrm>
          <a:prstGeom prst="roundRect">
            <a:avLst>
              <a:gd name="adj" fmla="val 5455"/>
            </a:avLst>
          </a:prstGeom>
          <a:solidFill>
            <a:srgbClr val="FFFFFF"/>
          </a:solidFill>
          <a:ln w="9525">
            <a:solidFill>
              <a:srgbClr val="E3DDD4"/>
            </a:solidFill>
            <a:prstDash val="solid"/>
          </a:ln>
          <a:effectLst>
            <a:outerShdw sx="100000" sy="100000" kx="0" ky="0" algn="bl" rotWithShape="0" blurRad="127000" dist="25400" dir="5400000">
              <a:srgbClr val="1C2326">
                <a:alpha val="8000"/>
              </a:srgbClr>
            </a:outerShdw>
          </a:effectLst>
        </p:spPr>
      </p:sp>
      <p:pic>
        <p:nvPicPr>
          <p:cNvPr id="6" name="Image 1" descr="/private/tmp/claude-501/-Users-francescorocca--claude-spares-spare-pTP7p5/c9c54887-e9ac-44ae-bd9c-ebf5f8016333/scratchpad/deck/img/stage-square-crop.png">    </p:cNvPr>
          <p:cNvPicPr>
            <a:picLocks noChangeAspect="1"/>
          </p:cNvPicPr>
          <p:nvPr/>
        </p:nvPicPr>
        <p:blipFill>
          <a:blip r:embed="rId2"/>
          <a:srcRect l="0" r="0" t="0" b="0"/>
          <a:stretch/>
        </p:blipFill>
        <p:spPr>
          <a:xfrm>
            <a:off x="723900" y="1638300"/>
            <a:ext cx="5391150" cy="1866900"/>
          </a:xfrm>
          <a:prstGeom prst="rect">
            <a:avLst/>
          </a:prstGeom>
        </p:spPr>
      </p:pic>
      <p:sp>
        <p:nvSpPr>
          <p:cNvPr id="7" name="Shape 3"/>
          <p:cNvSpPr/>
          <p:nvPr/>
        </p:nvSpPr>
        <p:spPr>
          <a:xfrm>
            <a:off x="609600" y="3810000"/>
            <a:ext cx="228600" cy="228600"/>
          </a:xfrm>
          <a:prstGeom prst="roundRect">
            <a:avLst>
              <a:gd name="adj" fmla="val 20833"/>
            </a:avLst>
          </a:prstGeom>
          <a:solidFill>
            <a:srgbClr val="1C2326"/>
          </a:solidFill>
          <a:ln w="12700">
            <a:solidFill>
              <a:srgbClr val="1C2326"/>
            </a:solidFill>
            <a:prstDash val="solid"/>
          </a:ln>
        </p:spPr>
      </p:sp>
      <p:sp>
        <p:nvSpPr>
          <p:cNvPr id="8" name="Text 4"/>
          <p:cNvSpPr txBox="1"/>
          <p:nvPr/>
        </p:nvSpPr>
        <p:spPr>
          <a:xfrm>
            <a:off x="609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1</a:t>
            </a:r>
            <a:endParaRPr lang="en-US" sz="900" dirty="0"/>
          </a:p>
        </p:txBody>
      </p:sp>
      <p:sp>
        <p:nvSpPr>
          <p:cNvPr id="9" name="Text 5"/>
          <p:cNvSpPr txBox="1"/>
          <p:nvPr/>
        </p:nvSpPr>
        <p:spPr>
          <a:xfrm>
            <a:off x="914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Zimmerzahl</a:t>
            </a:r>
            <a:endParaRPr lang="en-US" sz="900" dirty="0"/>
          </a:p>
        </p:txBody>
      </p:sp>
      <p:sp>
        <p:nvSpPr>
          <p:cNvPr id="10" name="Shape 6"/>
          <p:cNvSpPr/>
          <p:nvPr/>
        </p:nvSpPr>
        <p:spPr>
          <a:xfrm>
            <a:off x="1943100" y="3810000"/>
            <a:ext cx="228600" cy="228600"/>
          </a:xfrm>
          <a:prstGeom prst="roundRect">
            <a:avLst>
              <a:gd name="adj" fmla="val 20833"/>
            </a:avLst>
          </a:prstGeom>
          <a:solidFill>
            <a:srgbClr val="1C2326"/>
          </a:solidFill>
          <a:ln w="12700">
            <a:solidFill>
              <a:srgbClr val="1C2326"/>
            </a:solidFill>
            <a:prstDash val="solid"/>
          </a:ln>
        </p:spPr>
      </p:sp>
      <p:sp>
        <p:nvSpPr>
          <p:cNvPr id="11" name="Text 7"/>
          <p:cNvSpPr txBox="1"/>
          <p:nvPr/>
        </p:nvSpPr>
        <p:spPr>
          <a:xfrm>
            <a:off x="1943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2</a:t>
            </a:r>
            <a:endParaRPr lang="en-US" sz="900" dirty="0"/>
          </a:p>
        </p:txBody>
      </p:sp>
      <p:sp>
        <p:nvSpPr>
          <p:cNvPr id="12" name="Text 8"/>
          <p:cNvSpPr txBox="1"/>
          <p:nvPr/>
        </p:nvSpPr>
        <p:spPr>
          <a:xfrm>
            <a:off x="22479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Hindernisfrei</a:t>
            </a:r>
            <a:endParaRPr lang="en-US" sz="900" dirty="0"/>
          </a:p>
        </p:txBody>
      </p:sp>
      <p:sp>
        <p:nvSpPr>
          <p:cNvPr id="13" name="Shape 9"/>
          <p:cNvSpPr/>
          <p:nvPr/>
        </p:nvSpPr>
        <p:spPr>
          <a:xfrm>
            <a:off x="3276600" y="3810000"/>
            <a:ext cx="228600" cy="228600"/>
          </a:xfrm>
          <a:prstGeom prst="roundRect">
            <a:avLst>
              <a:gd name="adj" fmla="val 20833"/>
            </a:avLst>
          </a:prstGeom>
          <a:solidFill>
            <a:srgbClr val="1C2326"/>
          </a:solidFill>
          <a:ln w="12700">
            <a:solidFill>
              <a:srgbClr val="1C2326"/>
            </a:solidFill>
            <a:prstDash val="solid"/>
          </a:ln>
        </p:spPr>
      </p:sp>
      <p:sp>
        <p:nvSpPr>
          <p:cNvPr id="14" name="Text 10"/>
          <p:cNvSpPr txBox="1"/>
          <p:nvPr/>
        </p:nvSpPr>
        <p:spPr>
          <a:xfrm>
            <a:off x="32766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3</a:t>
            </a:r>
            <a:endParaRPr lang="en-US" sz="900" dirty="0"/>
          </a:p>
        </p:txBody>
      </p:sp>
      <p:sp>
        <p:nvSpPr>
          <p:cNvPr id="15" name="Text 11"/>
          <p:cNvSpPr txBox="1"/>
          <p:nvPr/>
        </p:nvSpPr>
        <p:spPr>
          <a:xfrm>
            <a:off x="3581400" y="3810000"/>
            <a:ext cx="1000125"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Zeitfenster</a:t>
            </a:r>
            <a:endParaRPr lang="en-US" sz="900" dirty="0"/>
          </a:p>
        </p:txBody>
      </p:sp>
      <p:sp>
        <p:nvSpPr>
          <p:cNvPr id="16" name="Shape 12"/>
          <p:cNvSpPr/>
          <p:nvPr/>
        </p:nvSpPr>
        <p:spPr>
          <a:xfrm>
            <a:off x="4610100" y="3810000"/>
            <a:ext cx="228600" cy="228600"/>
          </a:xfrm>
          <a:prstGeom prst="roundRect">
            <a:avLst>
              <a:gd name="adj" fmla="val 20833"/>
            </a:avLst>
          </a:prstGeom>
          <a:solidFill>
            <a:srgbClr val="1C2326"/>
          </a:solidFill>
          <a:ln w="12700">
            <a:solidFill>
              <a:srgbClr val="1C2326"/>
            </a:solidFill>
            <a:prstDash val="solid"/>
          </a:ln>
        </p:spPr>
      </p:sp>
      <p:sp>
        <p:nvSpPr>
          <p:cNvPr id="17" name="Text 13"/>
          <p:cNvSpPr txBox="1"/>
          <p:nvPr/>
        </p:nvSpPr>
        <p:spPr>
          <a:xfrm>
            <a:off x="4610100" y="3810000"/>
            <a:ext cx="228600" cy="228600"/>
          </a:xfrm>
          <a:prstGeom prst="rect">
            <a:avLst/>
          </a:prstGeom>
          <a:noFill/>
          <a:ln/>
        </p:spPr>
        <p:txBody>
          <a:bodyPr wrap="square" lIns="0" tIns="0" rIns="0" bIns="0" rtlCol="0" anchor="ctr"/>
          <a:lstStyle/>
          <a:p>
            <a:pPr algn="ctr" indent="0" marL="0">
              <a:buNone/>
            </a:pPr>
            <a:r>
              <a:rPr lang="en-US" sz="900" b="1" dirty="0">
                <a:solidFill>
                  <a:srgbClr val="FFFFFF"/>
                </a:solidFill>
                <a:latin typeface="Manrope" pitchFamily="34" charset="0"/>
                <a:ea typeface="Manrope" pitchFamily="34" charset="-122"/>
                <a:cs typeface="Manrope" pitchFamily="34" charset="-120"/>
              </a:rPr>
              <a:t>4</a:t>
            </a:r>
            <a:endParaRPr lang="en-US" sz="900" dirty="0"/>
          </a:p>
        </p:txBody>
      </p:sp>
      <p:sp>
        <p:nvSpPr>
          <p:cNvPr id="18" name="Text 14"/>
          <p:cNvSpPr txBox="1"/>
          <p:nvPr/>
        </p:nvSpPr>
        <p:spPr>
          <a:xfrm>
            <a:off x="4914900" y="3810000"/>
            <a:ext cx="1524000" cy="228600"/>
          </a:xfrm>
          <a:prstGeom prst="rect">
            <a:avLst/>
          </a:prstGeom>
          <a:noFill/>
          <a:ln/>
        </p:spPr>
        <p:txBody>
          <a:bodyPr wrap="square" lIns="0" tIns="0" rIns="0" bIns="0" rtlCol="0" anchor="ctr"/>
          <a:lstStyle/>
          <a:p>
            <a:pPr algn="l" indent="0" marL="0">
              <a:buNone/>
            </a:pPr>
            <a:r>
              <a:rPr lang="en-US" sz="900" b="1" dirty="0">
                <a:solidFill>
                  <a:srgbClr val="1C2326"/>
                </a:solidFill>
                <a:latin typeface="Manrope" pitchFamily="34" charset="0"/>
                <a:ea typeface="Manrope" pitchFamily="34" charset="-122"/>
                <a:cs typeface="Manrope" pitchFamily="34" charset="-120"/>
              </a:rPr>
              <a:t>Keine Doppelbelegung</a:t>
            </a:r>
            <a:endParaRPr lang="en-US" sz="900" dirty="0"/>
          </a:p>
        </p:txBody>
      </p:sp>
      <p:sp>
        <p:nvSpPr>
          <p:cNvPr id="19" name="Text 15"/>
          <p:cNvSpPr txBox="1"/>
          <p:nvPr/>
        </p:nvSpPr>
        <p:spPr>
          <a:xfrm>
            <a:off x="609600" y="4171950"/>
            <a:ext cx="561975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Vier Regeln, nie gebrochen. Verzögert sich Etappe 1 um zwei Monate: 11 Konflikte mit Namen und Grund, Vorschlag Etappe 2 ab November 2027. Ein Klick.</a:t>
            </a:r>
            <a:endParaRPr lang="en-US" sz="900" dirty="0"/>
          </a:p>
        </p:txBody>
      </p:sp>
      <p:sp>
        <p:nvSpPr>
          <p:cNvPr id="20" name="Shape 16"/>
          <p:cNvSpPr/>
          <p:nvPr/>
        </p:nvSpPr>
        <p:spPr>
          <a:xfrm rot="-360000">
            <a:off x="6438900" y="1809750"/>
            <a:ext cx="1004411" cy="206675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10000"/>
              </a:srgbClr>
            </a:outerShdw>
          </a:effectLst>
        </p:spPr>
      </p:sp>
      <p:pic>
        <p:nvPicPr>
          <p:cNvPr id="21" name="Image 2" descr="/private/tmp/claude-501/-Users-francescorocca--claude-spares-spare-pTP7p5/c9c54887-e9ac-44ae-bd9c-ebf5f8016333/scratchpad/deck/img/app-siedlung-round.png">    </p:cNvPr>
          <p:cNvPicPr>
            <a:picLocks noChangeAspect="1"/>
          </p:cNvPicPr>
          <p:nvPr/>
        </p:nvPicPr>
        <p:blipFill>
          <a:blip r:embed="rId3">
            <a:alphaModFix amt="85000"/>
          </a:blip>
          <a:stretch>
            <a:fillRect/>
          </a:stretch>
        </p:blipFill>
        <p:spPr>
          <a:xfrm rot="-360000">
            <a:off x="6488668" y="1859518"/>
            <a:ext cx="904875" cy="1967216"/>
          </a:xfrm>
          <a:prstGeom prst="rect">
            <a:avLst/>
          </a:prstGeom>
        </p:spPr>
      </p:pic>
      <p:sp>
        <p:nvSpPr>
          <p:cNvPr id="22" name="Shape 17"/>
          <p:cNvSpPr/>
          <p:nvPr/>
        </p:nvSpPr>
        <p:spPr>
          <a:xfrm>
            <a:off x="7239000" y="1571625"/>
            <a:ext cx="1163002" cy="2393082"/>
          </a:xfrm>
          <a:prstGeom prst="roundRect">
            <a:avLst>
              <a:gd name="adj" fmla="val 14414"/>
            </a:avLst>
          </a:prstGeom>
          <a:solidFill>
            <a:srgbClr val="F4F1EC"/>
          </a:solidFill>
          <a:ln w="9525">
            <a:solidFill>
              <a:srgbClr val="E3DDD4"/>
            </a:solidFill>
            <a:prstDash val="solid"/>
          </a:ln>
          <a:effectLst>
            <a:outerShdw sx="100000" sy="100000" kx="0" ky="0" algn="bl" rotWithShape="0" blurRad="177800" dist="50800" dir="5400000">
              <a:srgbClr val="1C2326">
                <a:alpha val="22000"/>
              </a:srgbClr>
            </a:outerShdw>
          </a:effectLst>
        </p:spPr>
      </p:sp>
      <p:pic>
        <p:nvPicPr>
          <p:cNvPr id="23" name="Image 3" descr="/private/tmp/claude-501/-Users-francescorocca--claude-spares-spare-pTP7p5/c9c54887-e9ac-44ae-bd9c-ebf5f8016333/scratchpad/deck/img/app-mein-umzug-round.png">    </p:cNvPr>
          <p:cNvPicPr>
            <a:picLocks noChangeAspect="1"/>
          </p:cNvPicPr>
          <p:nvPr/>
        </p:nvPicPr>
        <p:blipFill>
          <a:blip r:embed="rId4"/>
          <a:stretch>
            <a:fillRect/>
          </a:stretch>
        </p:blipFill>
        <p:spPr>
          <a:xfrm>
            <a:off x="7296626" y="1629251"/>
            <a:ext cx="1047750" cy="2277829"/>
          </a:xfrm>
          <a:prstGeom prst="rect">
            <a:avLst/>
          </a:prstGeom>
        </p:spPr>
      </p:pic>
      <p:sp>
        <p:nvSpPr>
          <p:cNvPr id="24" name="Text 18"/>
          <p:cNvSpPr txBox="1"/>
          <p:nvPr/>
        </p:nvSpPr>
        <p:spPr>
          <a:xfrm>
            <a:off x="6381750" y="4171950"/>
            <a:ext cx="2152650" cy="381000"/>
          </a:xfrm>
          <a:prstGeom prst="rect">
            <a:avLst/>
          </a:prstGeom>
          <a:noFill/>
          <a:ln/>
        </p:spPr>
        <p:txBody>
          <a:bodyPr wrap="square" lIns="0" tIns="0" rIns="0" bIns="0" rtlCol="0" anchor="t"/>
          <a:lstStyle/>
          <a:p>
            <a:pPr algn="ctr" indent="0" marL="0">
              <a:lnSpc>
                <a:spcPct val="130000"/>
              </a:lnSpc>
              <a:buNone/>
            </a:pPr>
            <a:r>
              <a:rPr lang="en-US" sz="825" dirty="0">
                <a:solidFill>
                  <a:srgbClr val="5B6468"/>
                </a:solidFill>
                <a:latin typeface="Manrope" pitchFamily="34" charset="0"/>
                <a:ea typeface="Manrope" pitchFamily="34" charset="-122"/>
                <a:cs typeface="Manrope" pitchFamily="34" charset="-120"/>
              </a:rPr>
              <a:t>Bewohnende: Auszug, Wohnung, Rückkehr. Live auf dem Handy.</a:t>
            </a:r>
            <a:endParaRPr lang="en-US" sz="825" dirty="0"/>
          </a:p>
        </p:txBody>
      </p:sp>
      <p:sp>
        <p:nvSpPr>
          <p:cNvPr id="25" name="Text 19"/>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Prototyp: Siedlung Brunnenwiese (fiktiv), 24 Haushalte, 11 Rochade-Wohnungen · App «Mein Umzug»</a:t>
            </a:r>
            <a:endParaRPr lang="en-US" sz="900" dirty="0"/>
          </a:p>
        </p:txBody>
      </p:sp>
      <p:sp>
        <p:nvSpPr>
          <p:cNvPr id="27"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ivate/tmp/claude-501/-Users-francescorocca--claude-spares-spare-pTP7p5/c9c54887-e9ac-44ae-bd9c-ebf5f8016333/scratchpad/deck/img/logo-rochade-x.png">    </p:cNvPr>
          <p:cNvPicPr>
            <a:picLocks noChangeAspect="1"/>
          </p:cNvPicPr>
          <p:nvPr/>
        </p:nvPicPr>
        <p:blipFill>
          <a:blip r:embed="rId1"/>
          <a:srcRect l="0" r="0" t="0" b="0"/>
          <a:stretch/>
        </p:blipFill>
        <p:spPr>
          <a:xfrm>
            <a:off x="8229600" y="266700"/>
            <a:ext cx="304800" cy="304800"/>
          </a:xfrm>
          <a:prstGeom prst="rect">
            <a:avLst/>
          </a:prstGeom>
        </p:spPr>
      </p:pic>
      <p:sp>
        <p:nvSpPr>
          <p:cNvPr id="3" name="Text 0"/>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GESCHÄFTSMODELL</a:t>
            </a:r>
            <a:endParaRPr lang="en-US" sz="900" dirty="0"/>
          </a:p>
        </p:txBody>
      </p:sp>
      <p:sp>
        <p:nvSpPr>
          <p:cNvPr id="4" name="Text 1"/>
          <p:cNvSpPr txBox="1"/>
          <p:nvPr/>
        </p:nvSpPr>
        <p:spPr>
          <a:xfrm>
            <a:off x="609600" y="838200"/>
            <a:ext cx="7620000" cy="428625"/>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Wer zahlt: die Eigentümerschaft.</a:t>
            </a:r>
            <a:endParaRPr lang="en-US" sz="2700" dirty="0"/>
          </a:p>
        </p:txBody>
      </p:sp>
      <p:sp>
        <p:nvSpPr>
          <p:cNvPr id="5" name="Shape 2"/>
          <p:cNvSpPr/>
          <p:nvPr/>
        </p:nvSpPr>
        <p:spPr>
          <a:xfrm>
            <a:off x="609600" y="1524000"/>
            <a:ext cx="3810000" cy="2857500"/>
          </a:xfrm>
          <a:prstGeom prst="roundRect">
            <a:avLst>
              <a:gd name="adj" fmla="val 5333"/>
            </a:avLst>
          </a:prstGeom>
          <a:solidFill>
            <a:srgbClr val="F26A1B"/>
          </a:solidFill>
          <a:ln w="12700">
            <a:solidFill>
              <a:srgbClr val="F26A1B"/>
            </a:solidFill>
            <a:prstDash val="solid"/>
          </a:ln>
        </p:spPr>
      </p:sp>
      <p:sp>
        <p:nvSpPr>
          <p:cNvPr id="6" name="Text 3"/>
          <p:cNvSpPr txBox="1"/>
          <p:nvPr/>
        </p:nvSpPr>
        <p:spPr>
          <a:xfrm>
            <a:off x="914400" y="1790700"/>
            <a:ext cx="32004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PROJEKT-LIZENZ</a:t>
            </a:r>
            <a:endParaRPr lang="en-US" sz="900" dirty="0"/>
          </a:p>
        </p:txBody>
      </p:sp>
      <p:sp>
        <p:nvSpPr>
          <p:cNvPr id="7" name="Text 4"/>
          <p:cNvSpPr txBox="1"/>
          <p:nvPr/>
        </p:nvSpPr>
        <p:spPr>
          <a:xfrm>
            <a:off x="914400" y="2000250"/>
            <a:ext cx="3200400" cy="762000"/>
          </a:xfrm>
          <a:prstGeom prst="rect">
            <a:avLst/>
          </a:prstGeom>
          <a:noFill/>
          <a:ln/>
        </p:spPr>
        <p:txBody>
          <a:bodyPr wrap="square" lIns="0" tIns="0" rIns="0" bIns="0" rtlCol="0" anchor="t"/>
          <a:lstStyle/>
          <a:p>
            <a:pPr algn="l" indent="0" marL="0">
              <a:lnSpc>
                <a:spcPct val="100000"/>
              </a:lnSpc>
              <a:buNone/>
            </a:pPr>
            <a:r>
              <a:rPr lang="en-US" sz="5250" b="1" dirty="0">
                <a:solidFill>
                  <a:srgbClr val="1C2326"/>
                </a:solidFill>
                <a:latin typeface="Manrope" pitchFamily="34" charset="0"/>
                <a:ea typeface="Manrope" pitchFamily="34" charset="-122"/>
                <a:cs typeface="Manrope" pitchFamily="34" charset="-120"/>
              </a:rPr>
              <a:t>CHF 200</a:t>
            </a:r>
            <a:endParaRPr lang="en-US" sz="5250" dirty="0"/>
          </a:p>
        </p:txBody>
      </p:sp>
      <p:sp>
        <p:nvSpPr>
          <p:cNvPr id="8" name="Text 5"/>
          <p:cNvSpPr txBox="1"/>
          <p:nvPr/>
        </p:nvSpPr>
        <p:spPr>
          <a:xfrm>
            <a:off x="914400" y="2857500"/>
            <a:ext cx="3200400" cy="619125"/>
          </a:xfrm>
          <a:prstGeom prst="rect">
            <a:avLst/>
          </a:prstGeom>
          <a:noFill/>
          <a:ln/>
        </p:spPr>
        <p:txBody>
          <a:bodyPr wrap="square" lIns="0" tIns="0" rIns="0" bIns="0" rtlCol="0" anchor="t"/>
          <a:lstStyle/>
          <a:p>
            <a:pPr algn="l" indent="0" marL="0">
              <a:lnSpc>
                <a:spcPct val="130000"/>
              </a:lnSpc>
              <a:buNone/>
            </a:pPr>
            <a:r>
              <a:rPr lang="en-US" sz="1200" dirty="0">
                <a:solidFill>
                  <a:srgbClr val="1C2326"/>
                </a:solidFill>
                <a:latin typeface="Manrope" pitchFamily="34" charset="0"/>
                <a:ea typeface="Manrope" pitchFamily="34" charset="-122"/>
                <a:cs typeface="Manrope" pitchFamily="34" charset="-120"/>
              </a:rPr>
              <a:t>pro Haushalt, mindestens CHF 5'000. Mit Bewohnenden-App und Nachweis fürs Baugesuch.</a:t>
            </a:r>
            <a:endParaRPr lang="en-US" sz="1200" dirty="0"/>
          </a:p>
        </p:txBody>
      </p:sp>
      <p:sp>
        <p:nvSpPr>
          <p:cNvPr id="9" name="Text 6"/>
          <p:cNvSpPr txBox="1"/>
          <p:nvPr/>
        </p:nvSpPr>
        <p:spPr>
          <a:xfrm>
            <a:off x="914400" y="3619500"/>
            <a:ext cx="3200400" cy="285750"/>
          </a:xfrm>
          <a:prstGeom prst="rect">
            <a:avLst/>
          </a:prstGeom>
          <a:noFill/>
          <a:ln/>
        </p:spPr>
        <p:txBody>
          <a:bodyPr wrap="square" lIns="0" tIns="0" rIns="0" bIns="0" rtlCol="0" anchor="t"/>
          <a:lstStyle/>
          <a:p>
            <a:pPr algn="l" indent="0" marL="0">
              <a:buNone/>
            </a:pPr>
            <a:r>
              <a:rPr lang="en-US" sz="1200" b="1" dirty="0">
                <a:solidFill>
                  <a:srgbClr val="1C2326"/>
                </a:solidFill>
                <a:latin typeface="Manrope" pitchFamily="34" charset="0"/>
                <a:ea typeface="Manrope" pitchFamily="34" charset="-122"/>
                <a:cs typeface="Manrope" pitchFamily="34" charset="-120"/>
              </a:rPr>
              <a:t>bgnzwo: 49 × 200 = CHF 9'800</a:t>
            </a:r>
            <a:endParaRPr lang="en-US" sz="1200" dirty="0"/>
          </a:p>
        </p:txBody>
      </p:sp>
      <p:sp>
        <p:nvSpPr>
          <p:cNvPr id="10" name="Text 7"/>
          <p:cNvSpPr txBox="1"/>
          <p:nvPr/>
        </p:nvSpPr>
        <p:spPr>
          <a:xfrm>
            <a:off x="914400" y="3905250"/>
            <a:ext cx="3200400" cy="238125"/>
          </a:xfrm>
          <a:prstGeom prst="rect">
            <a:avLst/>
          </a:prstGeom>
          <a:noFill/>
          <a:ln/>
        </p:spPr>
        <p:txBody>
          <a:bodyPr wrap="square" lIns="0" tIns="0" rIns="0" bIns="0" rtlCol="0" anchor="t"/>
          <a:lstStyle/>
          <a:p>
            <a:pPr algn="l" indent="0" marL="0">
              <a:buNone/>
            </a:pPr>
            <a:r>
              <a:rPr lang="en-US" sz="900" dirty="0">
                <a:solidFill>
                  <a:srgbClr val="1C2326"/>
                </a:solidFill>
                <a:latin typeface="Manrope" pitchFamily="34" charset="0"/>
                <a:ea typeface="Manrope" pitchFamily="34" charset="-122"/>
                <a:cs typeface="Manrope" pitchFamily="34" charset="-120"/>
              </a:rPr>
              <a:t>Eine Woche Bauverzug kostet mehr.</a:t>
            </a:r>
            <a:endParaRPr lang="en-US" sz="900" dirty="0"/>
          </a:p>
        </p:txBody>
      </p:sp>
      <p:sp>
        <p:nvSpPr>
          <p:cNvPr id="11" name="Text 8"/>
          <p:cNvSpPr txBox="1"/>
          <p:nvPr/>
        </p:nvSpPr>
        <p:spPr>
          <a:xfrm>
            <a:off x="4800600" y="1524000"/>
            <a:ext cx="3733800" cy="161925"/>
          </a:xfrm>
          <a:prstGeom prst="rect">
            <a:avLst/>
          </a:prstGeom>
          <a:noFill/>
          <a:ln/>
        </p:spPr>
        <p:txBody>
          <a:bodyPr wrap="square" lIns="0" tIns="0" rIns="0" bIns="0" rtlCol="0" anchor="t"/>
          <a:lstStyle/>
          <a:p>
            <a:pPr algn="l" indent="0" marL="0">
              <a:buNone/>
            </a:pPr>
            <a:r>
              <a:rPr lang="en-US" sz="900" b="1" spc="113" kern="0" dirty="0">
                <a:solidFill>
                  <a:srgbClr val="B8460E"/>
                </a:solidFill>
                <a:latin typeface="Manrope" pitchFamily="34" charset="0"/>
                <a:ea typeface="Manrope" pitchFamily="34" charset="-122"/>
                <a:cs typeface="Manrope" pitchFamily="34" charset="-120"/>
              </a:rPr>
              <a:t>RECHNUNG FÜR DEN KUNDEN</a:t>
            </a:r>
            <a:endParaRPr lang="en-US" sz="900" dirty="0"/>
          </a:p>
        </p:txBody>
      </p:sp>
      <p:sp>
        <p:nvSpPr>
          <p:cNvPr id="12" name="Text 9"/>
          <p:cNvSpPr txBox="1"/>
          <p:nvPr/>
        </p:nvSpPr>
        <p:spPr>
          <a:xfrm>
            <a:off x="4800600" y="1714500"/>
            <a:ext cx="3733800" cy="272415"/>
          </a:xfrm>
          <a:prstGeom prst="rect">
            <a:avLst/>
          </a:prstGeom>
          <a:noFill/>
          <a:ln/>
        </p:spPr>
        <p:txBody>
          <a:bodyPr wrap="square" lIns="0" tIns="0" rIns="0" bIns="0" rtlCol="0" anchor="t"/>
          <a:lstStyle/>
          <a:p>
            <a:pPr algn="l" indent="0" marL="0">
              <a:lnSpc>
                <a:spcPct val="105000"/>
              </a:lnSpc>
              <a:buNone/>
            </a:pPr>
            <a:r>
              <a:rPr lang="en-US" sz="1650" b="1" dirty="0">
                <a:solidFill>
                  <a:srgbClr val="1C2326"/>
                </a:solidFill>
                <a:latin typeface="Manrope" pitchFamily="34" charset="0"/>
                <a:ea typeface="Manrope" pitchFamily="34" charset="-122"/>
                <a:cs typeface="Manrope" pitchFamily="34" charset="-120"/>
              </a:rPr>
              <a:t>CHF 216'000 Mietausfall</a:t>
            </a:r>
            <a:endParaRPr lang="en-US" sz="1650" dirty="0"/>
          </a:p>
        </p:txBody>
      </p:sp>
      <p:sp>
        <p:nvSpPr>
          <p:cNvPr id="13" name="Text 10"/>
          <p:cNvSpPr txBox="1"/>
          <p:nvPr/>
        </p:nvSpPr>
        <p:spPr>
          <a:xfrm>
            <a:off x="4800600" y="2025015"/>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wenn 24 Wohnungen 6 Monate leer stehen (24 × CHF 1'500 × 6). Bei der Rochade wird weiter Miete bezahlt.</a:t>
            </a:r>
            <a:endParaRPr lang="en-US" sz="900" dirty="0"/>
          </a:p>
        </p:txBody>
      </p:sp>
      <p:sp>
        <p:nvSpPr>
          <p:cNvPr id="14" name="Text 11"/>
          <p:cNvSpPr txBox="1"/>
          <p:nvPr/>
        </p:nvSpPr>
        <p:spPr>
          <a:xfrm>
            <a:off x="4800600" y="257175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KOSTEN &amp; BREAK-EVEN</a:t>
            </a:r>
            <a:endParaRPr lang="en-US" sz="900" dirty="0"/>
          </a:p>
        </p:txBody>
      </p:sp>
      <p:sp>
        <p:nvSpPr>
          <p:cNvPr id="15" name="Text 12"/>
          <p:cNvSpPr txBox="1"/>
          <p:nvPr/>
        </p:nvSpPr>
        <p:spPr>
          <a:xfrm>
            <a:off x="4800600" y="276225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CHF 10'000 im ersten Jahr</a:t>
            </a:r>
            <a:endParaRPr lang="en-US" sz="1500" dirty="0"/>
          </a:p>
        </p:txBody>
      </p:sp>
      <p:sp>
        <p:nvSpPr>
          <p:cNvPr id="16" name="Text 13"/>
          <p:cNvSpPr txBox="1"/>
          <p:nvPr/>
        </p:nvSpPr>
        <p:spPr>
          <a:xfrm>
            <a:off x="4800600" y="304800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Break-even ab dem zweiten Projekt; keine Löhne, wir sind in der Lehre. Ab 2028 mit 1,5 Stellen CHF 120'000, Break-even mit 13 Projekten.</a:t>
            </a:r>
            <a:endParaRPr lang="en-US" sz="900" dirty="0"/>
          </a:p>
        </p:txBody>
      </p:sp>
      <p:sp>
        <p:nvSpPr>
          <p:cNvPr id="17" name="Text 14"/>
          <p:cNvSpPr txBox="1"/>
          <p:nvPr/>
        </p:nvSpPr>
        <p:spPr>
          <a:xfrm>
            <a:off x="4800600" y="3695700"/>
            <a:ext cx="3733800" cy="161925"/>
          </a:xfrm>
          <a:prstGeom prst="rect">
            <a:avLst/>
          </a:prstGeom>
          <a:noFill/>
          <a:ln/>
        </p:spPr>
        <p:txBody>
          <a:bodyPr wrap="square" lIns="0" tIns="0" rIns="0" bIns="0" rtlCol="0" anchor="t"/>
          <a:lstStyle/>
          <a:p>
            <a:pPr algn="l" indent="0" marL="0">
              <a:buNone/>
            </a:pPr>
            <a:r>
              <a:rPr lang="en-US" sz="900" b="1" spc="113" kern="0" dirty="0">
                <a:solidFill>
                  <a:srgbClr val="5B6468"/>
                </a:solidFill>
                <a:latin typeface="Manrope" pitchFamily="34" charset="0"/>
                <a:ea typeface="Manrope" pitchFamily="34" charset="-122"/>
                <a:cs typeface="Manrope" pitchFamily="34" charset="-120"/>
              </a:rPr>
              <a:t>PORTFOLIO-ABO, AB 2028</a:t>
            </a:r>
            <a:endParaRPr lang="en-US" sz="900" dirty="0"/>
          </a:p>
        </p:txBody>
      </p:sp>
      <p:sp>
        <p:nvSpPr>
          <p:cNvPr id="18" name="Text 15"/>
          <p:cNvSpPr txBox="1"/>
          <p:nvPr/>
        </p:nvSpPr>
        <p:spPr>
          <a:xfrm>
            <a:off x="4800600" y="3886200"/>
            <a:ext cx="3733800" cy="247650"/>
          </a:xfrm>
          <a:prstGeom prst="rect">
            <a:avLst/>
          </a:prstGeom>
          <a:noFill/>
          <a:ln/>
        </p:spPr>
        <p:txBody>
          <a:bodyPr wrap="square" lIns="0" tIns="0" rIns="0" bIns="0" rtlCol="0" anchor="t"/>
          <a:lstStyle/>
          <a:p>
            <a:pPr algn="l" indent="0" marL="0">
              <a:lnSpc>
                <a:spcPct val="105000"/>
              </a:lnSpc>
              <a:buNone/>
            </a:pPr>
            <a:r>
              <a:rPr lang="en-US" sz="1500" b="1" dirty="0">
                <a:solidFill>
                  <a:srgbClr val="1C2326"/>
                </a:solidFill>
                <a:latin typeface="Manrope" pitchFamily="34" charset="0"/>
                <a:ea typeface="Manrope" pitchFamily="34" charset="-122"/>
                <a:cs typeface="Manrope" pitchFamily="34" charset="-120"/>
              </a:rPr>
              <a:t>ab CHF 2'000 pro Monat</a:t>
            </a:r>
            <a:endParaRPr lang="en-US" sz="1500" dirty="0"/>
          </a:p>
        </p:txBody>
      </p:sp>
      <p:sp>
        <p:nvSpPr>
          <p:cNvPr id="19" name="Text 16"/>
          <p:cNvSpPr txBox="1"/>
          <p:nvPr/>
        </p:nvSpPr>
        <p:spPr>
          <a:xfrm>
            <a:off x="4800600" y="4171950"/>
            <a:ext cx="37338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für Pensionskassen und grosse Genossenschaften mit mehreren Sanierungen pro Jahr</a:t>
            </a:r>
            <a:endParaRPr lang="en-US" sz="900" dirty="0"/>
          </a:p>
        </p:txBody>
      </p:sp>
      <p:sp>
        <p:nvSpPr>
          <p:cNvPr id="20"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Preise, Kosten und Rechenbeispiel sind Annahmen, die wir im Pilot prüfen.</a:t>
            </a:r>
            <a:endParaRPr lang="en-US" sz="900" dirty="0"/>
          </a:p>
        </p:txBody>
      </p:sp>
      <p:sp>
        <p:nvSpPr>
          <p:cNvPr id="22"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name="Slide 9">
    <p:spTree>
      <p:nvGrpSpPr>
        <p:cNvPr id="1" name=""/>
        <p:cNvGrpSpPr/>
        <p:nvPr/>
      </p:nvGrpSpPr>
      <p:grpSpPr>
        <a:xfrm>
          <a:off x="0" y="0"/>
          <a:ext cx="0" cy="0"/>
          <a:chOff x="0" y="0"/>
          <a:chExt cx="0" cy="0"/>
        </a:xfrm>
      </p:grpSpPr>
      <p:sp>
        <p:nvSpPr>
          <p:cNvPr id="2" name="Shape 0"/>
          <p:cNvSpPr/>
          <p:nvPr/>
        </p:nvSpPr>
        <p:spPr>
          <a:xfrm>
            <a:off x="4572000" y="609600"/>
            <a:ext cx="3962400" cy="3924300"/>
          </a:xfrm>
          <a:prstGeom prst="roundRect">
            <a:avLst>
              <a:gd name="adj" fmla="val 3883"/>
            </a:avLst>
          </a:prstGeom>
          <a:solidFill>
            <a:srgbClr val="E2ECEE"/>
          </a:solidFill>
          <a:ln w="12700">
            <a:solidFill>
              <a:srgbClr val="E2ECEE"/>
            </a:solidFill>
            <a:prstDash val="solid"/>
          </a:ln>
        </p:spPr>
      </p:sp>
      <p:sp>
        <p:nvSpPr>
          <p:cNvPr id="3" name="Shape 1"/>
          <p:cNvSpPr/>
          <p:nvPr/>
        </p:nvSpPr>
        <p:spPr>
          <a:xfrm>
            <a:off x="5638800" y="1943100"/>
            <a:ext cx="2895600" cy="2590800"/>
          </a:xfrm>
          <a:prstGeom prst="roundRect">
            <a:avLst>
              <a:gd name="adj" fmla="val 5882"/>
            </a:avLst>
          </a:prstGeom>
          <a:solidFill>
            <a:srgbClr val="24414A"/>
          </a:solidFill>
          <a:ln w="12700">
            <a:solidFill>
              <a:srgbClr val="24414A"/>
            </a:solidFill>
            <a:prstDash val="solid"/>
          </a:ln>
        </p:spPr>
      </p:sp>
      <p:sp>
        <p:nvSpPr>
          <p:cNvPr id="4" name="Shape 2"/>
          <p:cNvSpPr/>
          <p:nvPr/>
        </p:nvSpPr>
        <p:spPr>
          <a:xfrm>
            <a:off x="6705600" y="3238500"/>
            <a:ext cx="1828800" cy="1295400"/>
          </a:xfrm>
          <a:prstGeom prst="roundRect">
            <a:avLst>
              <a:gd name="adj" fmla="val 11765"/>
            </a:avLst>
          </a:prstGeom>
          <a:solidFill>
            <a:srgbClr val="F26A1B"/>
          </a:solidFill>
          <a:ln w="12700">
            <a:solidFill>
              <a:srgbClr val="F26A1B"/>
            </a:solidFill>
            <a:prstDash val="solid"/>
          </a:ln>
        </p:spPr>
      </p:sp>
      <p:sp>
        <p:nvSpPr>
          <p:cNvPr id="5" name="Text 3"/>
          <p:cNvSpPr txBox="1"/>
          <p:nvPr/>
        </p:nvSpPr>
        <p:spPr>
          <a:xfrm>
            <a:off x="609600" y="609600"/>
            <a:ext cx="365760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MARKT</a:t>
            </a:r>
            <a:endParaRPr lang="en-US" sz="900" dirty="0"/>
          </a:p>
        </p:txBody>
      </p:sp>
      <p:sp>
        <p:nvSpPr>
          <p:cNvPr id="6" name="Text 4"/>
          <p:cNvSpPr txBox="1"/>
          <p:nvPr/>
        </p:nvSpPr>
        <p:spPr>
          <a:xfrm>
            <a:off x="609600" y="838200"/>
            <a:ext cx="3657600" cy="1238250"/>
          </a:xfrm>
          <a:prstGeom prst="rect">
            <a:avLst/>
          </a:prstGeom>
          <a:noFill/>
          <a:ln/>
        </p:spPr>
        <p:txBody>
          <a:bodyPr wrap="square" lIns="0" tIns="0" rIns="0" bIns="0" rtlCol="0" anchor="t"/>
          <a:lstStyle/>
          <a:p>
            <a:pPr algn="l" indent="0" marL="0">
              <a:lnSpc>
                <a:spcPct val="108000"/>
              </a:lnSpc>
              <a:buNone/>
            </a:pPr>
            <a:r>
              <a:rPr lang="en-US" sz="2700" b="1" dirty="0">
                <a:solidFill>
                  <a:srgbClr val="1C2326"/>
                </a:solidFill>
                <a:latin typeface="Manrope" pitchFamily="34" charset="0"/>
                <a:ea typeface="Manrope" pitchFamily="34" charset="-122"/>
                <a:cs typeface="Manrope" pitchFamily="34" charset="-120"/>
              </a:rPr>
              <a:t>Jede Sanierung mit Auszug ist ein Projekt.</a:t>
            </a:r>
            <a:endParaRPr lang="en-US" sz="2700" dirty="0"/>
          </a:p>
        </p:txBody>
      </p:sp>
      <p:sp>
        <p:nvSpPr>
          <p:cNvPr id="7" name="Text 5"/>
          <p:cNvSpPr txBox="1"/>
          <p:nvPr/>
        </p:nvSpPr>
        <p:spPr>
          <a:xfrm>
            <a:off x="609600" y="2190750"/>
            <a:ext cx="3429000" cy="809625"/>
          </a:xfrm>
          <a:prstGeom prst="rect">
            <a:avLst/>
          </a:prstGeom>
          <a:noFill/>
          <a:ln/>
        </p:spPr>
        <p:txBody>
          <a:bodyPr wrap="square" lIns="0" tIns="0" rIns="0" bIns="0" rtlCol="0" anchor="t"/>
          <a:lstStyle/>
          <a:p>
            <a:pPr algn="l" indent="0" marL="0">
              <a:lnSpc>
                <a:spcPct val="130000"/>
              </a:lnSpc>
              <a:buNone/>
            </a:pPr>
            <a:r>
              <a:rPr lang="en-US" sz="1200" dirty="0">
                <a:solidFill>
                  <a:srgbClr val="5B6468"/>
                </a:solidFill>
                <a:latin typeface="Manrope" pitchFamily="34" charset="0"/>
                <a:ea typeface="Manrope" pitchFamily="34" charset="-122"/>
                <a:cs typeface="Manrope" pitchFamily="34" charset="-120"/>
              </a:rPr>
              <a:t>Niemand plant die Rochade: Garaio, Abacus und Rimo verwalten Verträge, Flatfox und emonitor die Vermietung. Excel plant sie von Hand.</a:t>
            </a:r>
            <a:endParaRPr lang="en-US" sz="1200" dirty="0"/>
          </a:p>
        </p:txBody>
      </p:sp>
      <p:sp>
        <p:nvSpPr>
          <p:cNvPr id="8" name="Text 6"/>
          <p:cNvSpPr txBox="1"/>
          <p:nvPr/>
        </p:nvSpPr>
        <p:spPr>
          <a:xfrm>
            <a:off x="609600" y="3238500"/>
            <a:ext cx="3429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2'180</a:t>
            </a:r>
            <a:endParaRPr lang="en-US" sz="2700" dirty="0"/>
          </a:p>
        </p:txBody>
      </p:sp>
      <p:sp>
        <p:nvSpPr>
          <p:cNvPr id="9" name="Text 7"/>
          <p:cNvSpPr txBox="1"/>
          <p:nvPr/>
        </p:nvSpPr>
        <p:spPr>
          <a:xfrm>
            <a:off x="609600" y="3695700"/>
            <a:ext cx="3429000" cy="47625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Häuser pro Jahr werden in der Schweiz komplett leergekündigt. Jedes davon könnte eine Rochade sein.</a:t>
            </a:r>
            <a:endParaRPr lang="en-US" sz="900" dirty="0"/>
          </a:p>
        </p:txBody>
      </p:sp>
      <p:sp>
        <p:nvSpPr>
          <p:cNvPr id="10" name="Text 8"/>
          <p:cNvSpPr txBox="1"/>
          <p:nvPr/>
        </p:nvSpPr>
        <p:spPr>
          <a:xfrm>
            <a:off x="4800600" y="800100"/>
            <a:ext cx="3505200" cy="161925"/>
          </a:xfrm>
          <a:prstGeom prst="rect">
            <a:avLst/>
          </a:prstGeom>
          <a:noFill/>
          <a:ln/>
        </p:spPr>
        <p:txBody>
          <a:bodyPr wrap="square" lIns="0" tIns="0" rIns="0" bIns="0" rtlCol="0" anchor="t"/>
          <a:lstStyle/>
          <a:p>
            <a:pPr algn="l" indent="0" marL="0">
              <a:buNone/>
            </a:pPr>
            <a:r>
              <a:rPr lang="en-US" sz="900" b="1" spc="113" kern="0" dirty="0">
                <a:solidFill>
                  <a:srgbClr val="24414A"/>
                </a:solidFill>
                <a:latin typeface="Manrope" pitchFamily="34" charset="0"/>
                <a:ea typeface="Manrope" pitchFamily="34" charset="-122"/>
                <a:cs typeface="Manrope" pitchFamily="34" charset="-120"/>
              </a:rPr>
              <a:t>SCHWEIZ</a:t>
            </a:r>
            <a:endParaRPr lang="en-US" sz="900" dirty="0"/>
          </a:p>
        </p:txBody>
      </p:sp>
      <p:sp>
        <p:nvSpPr>
          <p:cNvPr id="11" name="Text 9"/>
          <p:cNvSpPr txBox="1"/>
          <p:nvPr/>
        </p:nvSpPr>
        <p:spPr>
          <a:xfrm>
            <a:off x="4800600" y="990600"/>
            <a:ext cx="35052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174'000</a:t>
            </a:r>
            <a:endParaRPr lang="en-US" sz="2700" dirty="0"/>
          </a:p>
        </p:txBody>
      </p:sp>
      <p:sp>
        <p:nvSpPr>
          <p:cNvPr id="12" name="Text 10"/>
          <p:cNvSpPr txBox="1"/>
          <p:nvPr/>
        </p:nvSpPr>
        <p:spPr>
          <a:xfrm>
            <a:off x="4800600" y="1428750"/>
            <a:ext cx="3505200" cy="190500"/>
          </a:xfrm>
          <a:prstGeom prst="rect">
            <a:avLst/>
          </a:prstGeom>
          <a:noFill/>
          <a:ln/>
        </p:spPr>
        <p:txBody>
          <a:bodyPr wrap="square" lIns="0" tIns="0" rIns="0" bIns="0" rtlCol="0" anchor="t"/>
          <a:lstStyle/>
          <a:p>
            <a:pPr algn="l" indent="0" marL="0">
              <a:buNone/>
            </a:pPr>
            <a:r>
              <a:rPr lang="en-US" sz="900" dirty="0">
                <a:solidFill>
                  <a:srgbClr val="24414A"/>
                </a:solidFill>
                <a:latin typeface="Manrope" pitchFamily="34" charset="0"/>
                <a:ea typeface="Manrope" pitchFamily="34" charset="-122"/>
                <a:cs typeface="Manrope" pitchFamily="34" charset="-120"/>
              </a:rPr>
              <a:t>Genossenschafts-Wohnungen, 1'300 Genossenschaften</a:t>
            </a:r>
            <a:endParaRPr lang="en-US" sz="900" dirty="0"/>
          </a:p>
        </p:txBody>
      </p:sp>
      <p:sp>
        <p:nvSpPr>
          <p:cNvPr id="13" name="Text 11"/>
          <p:cNvSpPr txBox="1"/>
          <p:nvPr/>
        </p:nvSpPr>
        <p:spPr>
          <a:xfrm>
            <a:off x="5829300" y="2095500"/>
            <a:ext cx="2514600" cy="161925"/>
          </a:xfrm>
          <a:prstGeom prst="rect">
            <a:avLst/>
          </a:prstGeom>
          <a:noFill/>
          <a:ln/>
        </p:spPr>
        <p:txBody>
          <a:bodyPr wrap="square" lIns="0" tIns="0" rIns="0" bIns="0" rtlCol="0" anchor="t"/>
          <a:lstStyle/>
          <a:p>
            <a:pPr algn="l" indent="0" marL="0">
              <a:buNone/>
            </a:pPr>
            <a:r>
              <a:rPr lang="en-US" sz="900" b="1" spc="113" kern="0" dirty="0">
                <a:solidFill>
                  <a:srgbClr val="C9D6D9"/>
                </a:solidFill>
                <a:latin typeface="Manrope" pitchFamily="34" charset="0"/>
                <a:ea typeface="Manrope" pitchFamily="34" charset="-122"/>
                <a:cs typeface="Manrope" pitchFamily="34" charset="-120"/>
              </a:rPr>
              <a:t>REGION ZÜRICH</a:t>
            </a:r>
            <a:endParaRPr lang="en-US" sz="900" dirty="0"/>
          </a:p>
        </p:txBody>
      </p:sp>
      <p:sp>
        <p:nvSpPr>
          <p:cNvPr id="14" name="Text 12"/>
          <p:cNvSpPr txBox="1"/>
          <p:nvPr/>
        </p:nvSpPr>
        <p:spPr>
          <a:xfrm>
            <a:off x="5829300" y="2286000"/>
            <a:ext cx="2514600" cy="428625"/>
          </a:xfrm>
          <a:prstGeom prst="rect">
            <a:avLst/>
          </a:prstGeom>
          <a:noFill/>
          <a:ln/>
        </p:spPr>
        <p:txBody>
          <a:bodyPr wrap="square" lIns="0" tIns="0" rIns="0" bIns="0" rtlCol="0" anchor="t"/>
          <a:lstStyle/>
          <a:p>
            <a:pPr algn="l" indent="0" marL="0">
              <a:lnSpc>
                <a:spcPct val="105000"/>
              </a:lnSpc>
              <a:buNone/>
            </a:pPr>
            <a:r>
              <a:rPr lang="en-US" sz="2700" b="1" dirty="0">
                <a:solidFill>
                  <a:srgbClr val="FAF8F5"/>
                </a:solidFill>
                <a:latin typeface="Manrope" pitchFamily="34" charset="0"/>
                <a:ea typeface="Manrope" pitchFamily="34" charset="-122"/>
                <a:cs typeface="Manrope" pitchFamily="34" charset="-120"/>
              </a:rPr>
              <a:t>75'000</a:t>
            </a:r>
            <a:endParaRPr lang="en-US" sz="2700" dirty="0"/>
          </a:p>
        </p:txBody>
      </p:sp>
      <p:sp>
        <p:nvSpPr>
          <p:cNvPr id="15" name="Text 13"/>
          <p:cNvSpPr txBox="1"/>
          <p:nvPr/>
        </p:nvSpPr>
        <p:spPr>
          <a:xfrm>
            <a:off x="5829300" y="2724150"/>
            <a:ext cx="2514600" cy="333375"/>
          </a:xfrm>
          <a:prstGeom prst="rect">
            <a:avLst/>
          </a:prstGeom>
          <a:noFill/>
          <a:ln/>
        </p:spPr>
        <p:txBody>
          <a:bodyPr wrap="square" lIns="0" tIns="0" rIns="0" bIns="0" rtlCol="0" anchor="t"/>
          <a:lstStyle/>
          <a:p>
            <a:pPr algn="l" indent="0" marL="0">
              <a:lnSpc>
                <a:spcPct val="130000"/>
              </a:lnSpc>
              <a:buNone/>
            </a:pPr>
            <a:r>
              <a:rPr lang="en-US" sz="900" dirty="0">
                <a:solidFill>
                  <a:srgbClr val="C9D6D9"/>
                </a:solidFill>
                <a:latin typeface="Manrope" pitchFamily="34" charset="0"/>
                <a:ea typeface="Manrope" pitchFamily="34" charset="-122"/>
                <a:cs typeface="Manrope" pitchFamily="34" charset="-120"/>
              </a:rPr>
              <a:t>Wohnungen und Gewerberäume, 300 Genossenschaften</a:t>
            </a:r>
            <a:endParaRPr lang="en-US" sz="900" dirty="0"/>
          </a:p>
        </p:txBody>
      </p:sp>
      <p:sp>
        <p:nvSpPr>
          <p:cNvPr id="16" name="Text 14"/>
          <p:cNvSpPr txBox="1"/>
          <p:nvPr/>
        </p:nvSpPr>
        <p:spPr>
          <a:xfrm>
            <a:off x="6858000" y="3352800"/>
            <a:ext cx="1524000" cy="161925"/>
          </a:xfrm>
          <a:prstGeom prst="rect">
            <a:avLst/>
          </a:prstGeom>
          <a:noFill/>
          <a:ln/>
        </p:spPr>
        <p:txBody>
          <a:bodyPr wrap="square" lIns="0" tIns="0" rIns="0" bIns="0" rtlCol="0" anchor="t"/>
          <a:lstStyle/>
          <a:p>
            <a:pPr algn="l" indent="0" marL="0">
              <a:buNone/>
            </a:pPr>
            <a:r>
              <a:rPr lang="en-US" sz="900" b="1" spc="113" kern="0" dirty="0">
                <a:solidFill>
                  <a:srgbClr val="1C2326"/>
                </a:solidFill>
                <a:latin typeface="Manrope" pitchFamily="34" charset="0"/>
                <a:ea typeface="Manrope" pitchFamily="34" charset="-122"/>
                <a:cs typeface="Manrope" pitchFamily="34" charset="-120"/>
              </a:rPr>
              <a:t>UNSER START</a:t>
            </a:r>
            <a:endParaRPr lang="en-US" sz="900" dirty="0"/>
          </a:p>
        </p:txBody>
      </p:sp>
      <p:sp>
        <p:nvSpPr>
          <p:cNvPr id="17" name="Text 15"/>
          <p:cNvSpPr txBox="1"/>
          <p:nvPr/>
        </p:nvSpPr>
        <p:spPr>
          <a:xfrm>
            <a:off x="6858000" y="3543300"/>
            <a:ext cx="1524000" cy="428625"/>
          </a:xfrm>
          <a:prstGeom prst="rect">
            <a:avLst/>
          </a:prstGeom>
          <a:noFill/>
          <a:ln/>
        </p:spPr>
        <p:txBody>
          <a:bodyPr wrap="square" lIns="0" tIns="0" rIns="0" bIns="0" rtlCol="0" anchor="t"/>
          <a:lstStyle/>
          <a:p>
            <a:pPr algn="l" indent="0" marL="0">
              <a:lnSpc>
                <a:spcPct val="105000"/>
              </a:lnSpc>
              <a:buNone/>
            </a:pPr>
            <a:r>
              <a:rPr lang="en-US" sz="2700" b="1" dirty="0">
                <a:solidFill>
                  <a:srgbClr val="1C2326"/>
                </a:solidFill>
                <a:latin typeface="Manrope" pitchFamily="34" charset="0"/>
                <a:ea typeface="Manrope" pitchFamily="34" charset="-122"/>
                <a:cs typeface="Manrope" pitchFamily="34" charset="-120"/>
              </a:rPr>
              <a:t>~750</a:t>
            </a:r>
            <a:endParaRPr lang="en-US" sz="2700" dirty="0"/>
          </a:p>
        </p:txBody>
      </p:sp>
      <p:sp>
        <p:nvSpPr>
          <p:cNvPr id="18" name="Text 16"/>
          <p:cNvSpPr txBox="1"/>
          <p:nvPr/>
        </p:nvSpPr>
        <p:spPr>
          <a:xfrm>
            <a:off x="6858000" y="3981450"/>
            <a:ext cx="1524000" cy="381000"/>
          </a:xfrm>
          <a:prstGeom prst="rect">
            <a:avLst/>
          </a:prstGeom>
          <a:noFill/>
          <a:ln/>
        </p:spPr>
        <p:txBody>
          <a:bodyPr wrap="square" lIns="0" tIns="0" rIns="0" bIns="0" rtlCol="0" anchor="t"/>
          <a:lstStyle/>
          <a:p>
            <a:pPr algn="l" indent="0" marL="0">
              <a:lnSpc>
                <a:spcPct val="125000"/>
              </a:lnSpc>
              <a:buNone/>
            </a:pPr>
            <a:r>
              <a:rPr lang="en-US" sz="900" dirty="0">
                <a:solidFill>
                  <a:srgbClr val="1C2326"/>
                </a:solidFill>
                <a:latin typeface="Manrope" pitchFamily="34" charset="0"/>
                <a:ea typeface="Manrope" pitchFamily="34" charset="-122"/>
                <a:cs typeface="Manrope" pitchFamily="34" charset="-120"/>
              </a:rPr>
              <a:t>Haushalte pro Jahr in einer Rochade</a:t>
            </a:r>
            <a:endParaRPr lang="en-US" sz="900" dirty="0"/>
          </a:p>
        </p:txBody>
      </p:sp>
      <p:sp>
        <p:nvSpPr>
          <p:cNvPr id="19" name="Text 17"/>
          <p:cNvSpPr txBox="1"/>
          <p:nvPr/>
        </p:nvSpPr>
        <p:spPr>
          <a:xfrm>
            <a:off x="609600" y="4695825"/>
            <a:ext cx="7924800" cy="152400"/>
          </a:xfrm>
          <a:prstGeom prst="rect">
            <a:avLst/>
          </a:prstGeom>
          <a:noFill/>
          <a:ln/>
        </p:spPr>
        <p:txBody>
          <a:bodyPr wrap="square" lIns="0" tIns="0" rIns="0" bIns="0" rtlCol="0" anchor="t"/>
          <a:lstStyle/>
          <a:p>
            <a:pPr algn="l" indent="0" marL="0">
              <a:buNone/>
            </a:pPr>
            <a:r>
              <a:rPr lang="en-US" sz="900" dirty="0">
                <a:solidFill>
                  <a:srgbClr val="5B6468"/>
                </a:solidFill>
                <a:latin typeface="Manrope" pitchFamily="34" charset="0"/>
                <a:ea typeface="Manrope" pitchFamily="34" charset="-122"/>
                <a:cs typeface="Manrope" pitchFamily="34" charset="-120"/>
              </a:rPr>
              <a:t>Quellen: WBG Schweiz, WBG Zürich, ZKB · Annahme: 1 % des Bestands pro Jahr saniert mit Auszug</a:t>
            </a:r>
            <a:endParaRPr lang="en-US" sz="900" dirty="0"/>
          </a:p>
        </p:txBody>
      </p:sp>
      <p:sp>
        <p:nvSpPr>
          <p:cNvPr id="21"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486400" y="609600"/>
            <a:ext cx="3048000" cy="3924300"/>
          </a:xfrm>
          <a:prstGeom prst="roundRect">
            <a:avLst>
              <a:gd name="adj" fmla="val 5000"/>
            </a:avLst>
          </a:prstGeom>
          <a:solidFill>
            <a:srgbClr val="F26A1B"/>
          </a:solidFill>
          <a:ln w="12700">
            <a:solidFill>
              <a:srgbClr val="F26A1B"/>
            </a:solidFill>
            <a:prstDash val="solid"/>
          </a:ln>
        </p:spPr>
      </p:sp>
      <p:pic>
        <p:nvPicPr>
          <p:cNvPr id="3" name="Image 0" descr="/private/tmp/claude-501/-Users-francescorocca--claude-spares-spare-pTP7p5/c9c54887-e9ac-44ae-bd9c-ebf5f8016333/scratchpad/deck/img/logo-rochade-x-white-on-orange.png">    </p:cNvPr>
          <p:cNvPicPr>
            <a:picLocks noChangeAspect="1"/>
          </p:cNvPicPr>
          <p:nvPr/>
        </p:nvPicPr>
        <p:blipFill>
          <a:blip r:embed="rId1"/>
          <a:srcRect l="0" r="0" t="0" b="0"/>
          <a:stretch/>
        </p:blipFill>
        <p:spPr>
          <a:xfrm>
            <a:off x="6248400" y="1809750"/>
            <a:ext cx="1524000" cy="1524000"/>
          </a:xfrm>
          <a:prstGeom prst="rect">
            <a:avLst/>
          </a:prstGeom>
        </p:spPr>
      </p:pic>
      <p:sp>
        <p:nvSpPr>
          <p:cNvPr id="4" name="Text 1"/>
          <p:cNvSpPr txBox="1"/>
          <p:nvPr/>
        </p:nvSpPr>
        <p:spPr>
          <a:xfrm>
            <a:off x="609600" y="609600"/>
            <a:ext cx="4286250" cy="190500"/>
          </a:xfrm>
          <a:prstGeom prst="rect">
            <a:avLst/>
          </a:prstGeom>
          <a:noFill/>
          <a:ln/>
        </p:spPr>
        <p:txBody>
          <a:bodyPr wrap="square" lIns="0" tIns="0" rIns="0" bIns="0" rtlCol="0" anchor="t"/>
          <a:lstStyle/>
          <a:p>
            <a:pPr algn="l" indent="0" marL="0">
              <a:buNone/>
            </a:pPr>
            <a:r>
              <a:rPr lang="en-US" sz="900" b="1" spc="150" kern="0" dirty="0">
                <a:solidFill>
                  <a:srgbClr val="B8460E"/>
                </a:solidFill>
                <a:latin typeface="Manrope" pitchFamily="34" charset="0"/>
                <a:ea typeface="Manrope" pitchFamily="34" charset="-122"/>
                <a:cs typeface="Manrope" pitchFamily="34" charset="-120"/>
              </a:rPr>
              <a:t>WAS WIR JETZT BRAUCHEN</a:t>
            </a:r>
            <a:endParaRPr lang="en-US" sz="900" dirty="0"/>
          </a:p>
        </p:txBody>
      </p:sp>
      <p:sp>
        <p:nvSpPr>
          <p:cNvPr id="5" name="Text 2"/>
          <p:cNvSpPr txBox="1"/>
          <p:nvPr/>
        </p:nvSpPr>
        <p:spPr>
          <a:xfrm>
            <a:off x="609600" y="952500"/>
            <a:ext cx="4572000" cy="1238250"/>
          </a:xfrm>
          <a:prstGeom prst="rect">
            <a:avLst/>
          </a:prstGeom>
          <a:noFill/>
          <a:ln/>
        </p:spPr>
        <p:txBody>
          <a:bodyPr wrap="square" lIns="0" tIns="0" rIns="0" bIns="0" rtlCol="0" anchor="t"/>
          <a:lstStyle/>
          <a:p>
            <a:pPr algn="l" indent="0" marL="0">
              <a:lnSpc>
                <a:spcPct val="110000"/>
              </a:lnSpc>
              <a:buNone/>
            </a:pPr>
            <a:r>
              <a:rPr lang="en-US" sz="2400" b="1" dirty="0">
                <a:solidFill>
                  <a:srgbClr val="1C2326"/>
                </a:solidFill>
                <a:latin typeface="Manrope" pitchFamily="34" charset="0"/>
                <a:ea typeface="Manrope" pitchFamily="34" charset="-122"/>
                <a:cs typeface="Manrope" pitchFamily="34" charset="-120"/>
              </a:rPr>
              <a:t>Jede Rochade, die gelingt, ist eine Kündigung, die nicht geschrieben wird.</a:t>
            </a:r>
            <a:endParaRPr lang="en-US" sz="2400" dirty="0"/>
          </a:p>
        </p:txBody>
      </p:sp>
      <p:sp>
        <p:nvSpPr>
          <p:cNvPr id="6" name="Text 3"/>
          <p:cNvSpPr txBox="1"/>
          <p:nvPr/>
        </p:nvSpPr>
        <p:spPr>
          <a:xfrm>
            <a:off x="609600" y="25717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Zwei Pilot-Genossenschaften</a:t>
            </a:r>
            <a:pPr indent="0" marL="0">
              <a:buNone/>
            </a:pPr>
            <a:r>
              <a:rPr lang="en-US" sz="1200" dirty="0">
                <a:solidFill>
                  <a:srgbClr val="1C2326"/>
                </a:solidFill>
                <a:latin typeface="Manrope" pitchFamily="34" charset="0"/>
                <a:ea typeface="Manrope" pitchFamily="34" charset="-122"/>
                <a:cs typeface="Manrope" pitchFamily="34" charset="-120"/>
              </a:rPr>
              <a:t> mit Etappensanierung 2027</a:t>
            </a:r>
            <a:endParaRPr lang="en-US" sz="1200" dirty="0"/>
          </a:p>
        </p:txBody>
      </p:sp>
      <p:sp>
        <p:nvSpPr>
          <p:cNvPr id="7" name="Text 4"/>
          <p:cNvSpPr txBox="1"/>
          <p:nvPr/>
        </p:nvSpPr>
        <p:spPr>
          <a:xfrm>
            <a:off x="609600" y="285750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Ein Gespräch</a:t>
            </a:r>
            <a:pPr indent="0" marL="0">
              <a:buNone/>
            </a:pPr>
            <a:r>
              <a:rPr lang="en-US" sz="1200" dirty="0">
                <a:solidFill>
                  <a:srgbClr val="1C2326"/>
                </a:solidFill>
                <a:latin typeface="Manrope" pitchFamily="34" charset="0"/>
                <a:ea typeface="Manrope" pitchFamily="34" charset="-122"/>
                <a:cs typeface="Manrope" pitchFamily="34" charset="-120"/>
              </a:rPr>
              <a:t> mit einer Bewirtschaftung</a:t>
            </a:r>
            <a:endParaRPr lang="en-US" sz="1200" dirty="0"/>
          </a:p>
        </p:txBody>
      </p:sp>
      <p:sp>
        <p:nvSpPr>
          <p:cNvPr id="8" name="Text 5"/>
          <p:cNvSpPr txBox="1"/>
          <p:nvPr/>
        </p:nvSpPr>
        <p:spPr>
          <a:xfrm>
            <a:off x="609600" y="3143250"/>
            <a:ext cx="4572000" cy="247650"/>
          </a:xfrm>
          <a:prstGeom prst="rect">
            <a:avLst/>
          </a:prstGeom>
          <a:noFill/>
          <a:ln/>
        </p:spPr>
        <p:txBody>
          <a:bodyPr wrap="square" lIns="0" tIns="0" rIns="0" bIns="0" rtlCol="0" anchor="ctr"/>
          <a:lstStyle/>
          <a:p>
            <a:pPr indent="0" marL="0">
              <a:buNone/>
            </a:pPr>
            <a:r>
              <a:rPr lang="en-US" sz="1200" b="1" dirty="0">
                <a:solidFill>
                  <a:srgbClr val="1C2326"/>
                </a:solidFill>
                <a:latin typeface="Manrope" pitchFamily="34" charset="0"/>
                <a:ea typeface="Manrope" pitchFamily="34" charset="-122"/>
                <a:cs typeface="Manrope" pitchFamily="34" charset="-120"/>
              </a:rPr>
              <a:t>Euer Feedback</a:t>
            </a:r>
            <a:pPr indent="0" marL="0">
              <a:buNone/>
            </a:pPr>
            <a:r>
              <a:rPr lang="en-US" sz="1200" dirty="0">
                <a:solidFill>
                  <a:srgbClr val="1C2326"/>
                </a:solidFill>
                <a:latin typeface="Manrope" pitchFamily="34" charset="0"/>
                <a:ea typeface="Manrope" pitchFamily="34" charset="-122"/>
                <a:cs typeface="Manrope" pitchFamily="34" charset="-120"/>
              </a:rPr>
              <a:t>, heute</a:t>
            </a:r>
            <a:endParaRPr lang="en-US" sz="1200" dirty="0"/>
          </a:p>
        </p:txBody>
      </p:sp>
      <p:sp>
        <p:nvSpPr>
          <p:cNvPr id="9" name="Text 6"/>
          <p:cNvSpPr txBox="1"/>
          <p:nvPr/>
        </p:nvSpPr>
        <p:spPr>
          <a:xfrm>
            <a:off x="609600" y="3524250"/>
            <a:ext cx="4572000" cy="381000"/>
          </a:xfrm>
          <a:prstGeom prst="rect">
            <a:avLst/>
          </a:prstGeom>
          <a:noFill/>
          <a:ln/>
        </p:spPr>
        <p:txBody>
          <a:bodyPr wrap="square" lIns="0" tIns="0" rIns="0" bIns="0" rtlCol="0" anchor="t"/>
          <a:lstStyle/>
          <a:p>
            <a:pPr algn="l" indent="0" marL="0">
              <a:lnSpc>
                <a:spcPct val="130000"/>
              </a:lnSpc>
              <a:buNone/>
            </a:pPr>
            <a:r>
              <a:rPr lang="en-US" sz="900" dirty="0">
                <a:solidFill>
                  <a:srgbClr val="5B6468"/>
                </a:solidFill>
                <a:latin typeface="Manrope" pitchFamily="34" charset="0"/>
                <a:ea typeface="Manrope" pitchFamily="34" charset="-122"/>
                <a:cs typeface="Manrope" pitchFamily="34" charset="-120"/>
              </a:rPr>
              <a:t>Nach 24 Stunden: Web-Planer für die Verwaltung und App für Bewohnende, live verbunden. Website mit belegten Zahlen und Rechtslage.</a:t>
            </a:r>
            <a:endParaRPr lang="en-US" sz="900" dirty="0"/>
          </a:p>
        </p:txBody>
      </p:sp>
      <p:sp>
        <p:nvSpPr>
          <p:cNvPr id="10" name="Text 7"/>
          <p:cNvSpPr txBox="1"/>
          <p:nvPr/>
        </p:nvSpPr>
        <p:spPr>
          <a:xfrm>
            <a:off x="609600" y="4048125"/>
            <a:ext cx="4762500" cy="333375"/>
          </a:xfrm>
          <a:prstGeom prst="rect">
            <a:avLst/>
          </a:prstGeom>
          <a:noFill/>
          <a:ln/>
        </p:spPr>
        <p:txBody>
          <a:bodyPr wrap="square" lIns="0" tIns="0" rIns="0" bIns="0" rtlCol="0" anchor="t"/>
          <a:lstStyle/>
          <a:p>
            <a:pPr algn="l" indent="0" marL="0">
              <a:buNone/>
            </a:pPr>
            <a:r>
              <a:rPr lang="en-US" sz="1650" b="1" dirty="0">
                <a:solidFill>
                  <a:srgbClr val="B8460E"/>
                </a:solidFill>
                <a:latin typeface="Manrope" pitchFamily="34" charset="0"/>
                <a:ea typeface="Manrope" pitchFamily="34" charset="-122"/>
                <a:cs typeface="Manrope" pitchFamily="34" charset="-120"/>
              </a:rPr>
              <a:t>Sanieren, ohne jemanden rauszuwerfen.</a:t>
            </a:r>
            <a:endParaRPr lang="en-US" sz="1650" dirty="0"/>
          </a:p>
        </p:txBody>
      </p:sp>
      <p:sp>
        <p:nvSpPr>
          <p:cNvPr id="11" name="Text 8"/>
          <p:cNvSpPr txBox="1"/>
          <p:nvPr/>
        </p:nvSpPr>
        <p:spPr>
          <a:xfrm>
            <a:off x="609600" y="4695825"/>
            <a:ext cx="4572000" cy="152400"/>
          </a:xfrm>
          <a:prstGeom prst="rect">
            <a:avLst/>
          </a:prstGeom>
          <a:noFill/>
          <a:ln/>
        </p:spPr>
        <p:txBody>
          <a:bodyPr wrap="square" lIns="0" tIns="0" rIns="0" bIns="0" rtlCol="0" anchor="t"/>
          <a:lstStyle/>
          <a:p>
            <a:pPr algn="l" indent="0" marL="0">
              <a:buNone/>
            </a:pPr>
            <a:r>
              <a:rPr lang="en-US" sz="900" b="1" dirty="0">
                <a:solidFill>
                  <a:srgbClr val="1C2326"/>
                </a:solidFill>
                <a:latin typeface="Manrope" pitchFamily="34" charset="0"/>
                <a:ea typeface="Manrope" pitchFamily="34" charset="-122"/>
                <a:cs typeface="Manrope" pitchFamily="34" charset="-120"/>
              </a:rPr>
              <a:t>Francesco (Website, Pitch) · Alex (App, Solver, Design)</a:t>
            </a:r>
            <a:endParaRPr lang="en-US" sz="900" dirty="0"/>
          </a:p>
        </p:txBody>
      </p:sp>
      <p:sp>
        <p:nvSpPr>
          <p:cNvPr id="13" name="Text 0"/>
          <p:cNvSpPr/>
          <p:nvPr>
            <p:ph idx="100" type="title" hasCustomPrompt="1"/>
          </p:nvPr>
        </p:nvSpPr>
        <p:spPr>
          <a:xfrm>
            <a:off x="609905" y="838505"/>
            <a:ext cx="7619695" cy="822960"/>
          </a:xfrm>
          <a:prstGeom prst="rect">
            <a:avLst/>
          </a:prstGeom>
          <a:noFill/>
          <a:ln/>
        </p:spPr>
        <p:txBody>
          <a:bodyPr wrap="square" lIns="0" tIns="0" rIns="0" bIns="0" rtlCol="0" anchor="t"/>
          <a:lstStyle/>
          <a:p>
            <a:pPr indent="0" marL="0">
              <a:buNone/>
            </a:pPr>
            <a:endParaRPr lang="en-US" sz="2700" dirty="0"/>
          </a:p>
        </p:txBody>
      </p:sp>
    </p:spTree>
  </p:cSld>
  <p:clrMapOvr>
    <a:masterClrMapping/>
  </p:clrMapOvr>
</p:sld>
</file>

<file path=ppt/theme/theme1.xml><?xml version="1.0" encoding="utf-8"?>
<a:theme xmlns:a="http://schemas.openxmlformats.org/drawingml/2006/main" name="ROCHADE">
  <a:themeElements>
    <a:clrScheme name="ROCHADE">
      <a:dk1>
        <a:srgbClr val="1C2326"/>
      </a:dk1>
      <a:lt1>
        <a:srgbClr val="FAF8F5"/>
      </a:lt1>
      <a:dk2>
        <a:srgbClr val="24414A"/>
      </a:dk2>
      <a:lt2>
        <a:srgbClr val="F1EDE6"/>
      </a:lt2>
      <a:accent1>
        <a:srgbClr val="F26A1B"/>
      </a:accent1>
      <a:accent2>
        <a:srgbClr val="B8460E"/>
      </a:accent2>
      <a:accent3>
        <a:srgbClr val="E2ECEE"/>
      </a:accent3>
      <a:accent4>
        <a:srgbClr val="FDEBDD"/>
      </a:accent4>
      <a:accent5>
        <a:srgbClr val="276B43"/>
      </a:accent5>
      <a:accent6>
        <a:srgbClr val="B42318"/>
      </a:accent6>
      <a:hlink>
        <a:srgbClr val="B8460E"/>
      </a:hlink>
      <a:folHlink>
        <a:srgbClr val="B8460E"/>
      </a:folHlink>
    </a:clrScheme>
    <a:fontScheme name="ROCHADE">
      <a:majorFont>
        <a:latin typeface="Manrop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nrope"/>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ROCHADE – Pitch ZentralHack 2026</dc:title>
  <dc:subject>PptxGenJS Presentation</dc:subject>
  <dc:creator>Team ROCHADE</dc:creator>
  <cp:lastModifiedBy>Team ROCHADE</cp:lastModifiedBy>
  <cp:revision>1</cp:revision>
  <dcterms:created xsi:type="dcterms:W3CDTF">2026-10-24T07:32:44Z</dcterms:created>
  <dcterms:modified xsi:type="dcterms:W3CDTF">2026-10-24T07:32:44Z</dcterms:modified>
</cp:coreProperties>
</file>