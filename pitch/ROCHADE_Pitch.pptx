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id="{872131a1-06cb-533c-b4db-540381dcd525}">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Häuser</c:v>
                </c:pt>
              </c:strCache>
            </c:strRef>
          </c:tx>
          <c:spPr>
            <a:solidFill>
              <a:srgbClr val="F26A1B"/>
            </a:solidFill>
            <a:effectLst/>
          </c:spPr>
          <c:invertIfNegative val="0"/>
          <c:dLbls>
            <c:numFmt formatCode="#,##0" sourceLinked="0"/>
            <c:txPr>
              <a:bodyPr/>
              <a:lstStyle/>
              <a:p>
                <a:pPr>
                  <a:defRPr b="1" i="0" strike="noStrike" sz="1300" u="none">
                    <a:solidFill>
                      <a:srgbClr val="1C2326"/>
                    </a:solidFill>
                    <a:latin typeface="+mn-lt"/>
                  </a:defRPr>
                </a:pPr>
              </a:p>
            </c:txPr>
            <c:showLegendKey val="0"/>
            <c:showVal val="1"/>
            <c:showCatName val="0"/>
            <c:showSerName val="0"/>
            <c:showPercent val="0"/>
            <c:showBubbleSize val="0"/>
            <c:showLeaderLines val="0"/>
          </c:dLbls>
          <c:dPt>
            <c:idx val="0"/>
            <c:invertIfNegative val="0"/>
            <c:bubble3D val="0"/>
            <c:spPr>
              <a:solidFill>
                <a:srgbClr val="F26A1B"/>
              </a:solidFill>
              <a:effectLst/>
            </c:spPr>
          </c:dPt>
          <c:dPt>
            <c:idx val="1"/>
            <c:invertIfNegative val="0"/>
            <c:bubble3D val="0"/>
            <c:spPr>
              <a:solidFill>
                <a:srgbClr val="24414A"/>
              </a:solidFill>
              <a:effectLst/>
            </c:spPr>
          </c:dPt>
          <c:dPt>
            <c:idx val="2"/>
            <c:invertIfNegative val="0"/>
            <c:bubble3D val="0"/>
            <c:spPr>
              <a:solidFill>
                <a:srgbClr val="8A8178"/>
              </a:solidFill>
              <a:effectLst/>
            </c:spPr>
          </c:dPt>
          <c:cat>
            <c:multiLvlStrRef>
              <c:f>Sheet1!$A$2:$A$4</c:f>
              <c:multiLvlStrCache>
                <c:ptCount val="3"/>
                <c:lvl>
                  <c:pt idx="0">
                    <c:v>Zürich</c:v>
                  </c:pt>
                  <c:pt idx="1">
                    <c:v>Basel</c:v>
                  </c:pt>
                  <c:pt idx="2">
                    <c:v>Genf</c:v>
                  </c:pt>
                </c:lvl>
              </c:multiLvlStrCache>
            </c:multiLvlStrRef>
          </c:cat>
          <c:val>
            <c:numRef>
              <c:f>Sheet1!$B$2:$B$4</c:f>
              <c:numCache>
                <c:formatCode>General</c:formatCode>
                <c:ptCount val="3"/>
                <c:pt idx="0">
                  <c:v>1270</c:v>
                </c:pt>
                <c:pt idx="1">
                  <c:v>380</c:v>
                </c:pt>
                <c:pt idx="2">
                  <c:v>100</c:v>
                </c:pt>
              </c:numCache>
            </c:numRef>
          </c:val>
        </c:ser>
        <c:dLbls>
          <c:numFmt formatCode="#,##0" sourceLinked="0"/>
          <c:txPr>
            <a:bodyPr/>
            <a:lstStyle/>
            <a:p>
              <a:pPr>
                <a:defRPr b="1" i="0" strike="noStrike" sz="1300" u="none">
                  <a:solidFill>
                    <a:srgbClr val="1C2326"/>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1C2326"/>
                </a:solidFill>
                <a:latin typeface="+mn-lt"/>
              </a:defRPr>
            </a:pPr>
            <a:endParaRPr lang="en-US"/>
          </a:p>
        </c:txPr>
        <c:crossAx val="2094734552"/>
        <c:crosses val="autoZero"/>
        <c:auto val="1"/>
        <c:lblAlgn val="ctr"/>
        <c:noMultiLvlLbl val="1"/>
      </c:catAx>
      <c:valAx>
        <c:axId val="2094734552"/>
        <c:scaling>
          <c:orientation val="minMax"/>
          <c:max val="15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Frau Meier, 78, wohnt seit 1994 in Höngg. Dann kommt der Brief: Sanierung, alle müssen raus. Wir sind ROCHADE. Wir sorgen dafür, dass dieser Brief nicht mehr geschrieben werden muss.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[0:15–0:40] Das ist kein Einzelfall. 2018 bis 2022 wurden in der Schweiz 10'900 Mehrfamilienhäuser komplett leergekündigt, knapp 30'000 Menschen pro Jahr. 1'270 Häuser allein in der Stadt Zürich, Basel 380, Genf mit seinen strengen Regeln rund 100. Jedes vierte geleerte Haus in Zürich gehörte einer Genossenschaft, also genau denen, die niemanden rauswerfen wollen. Und die Angst ist da: 84 Prozent der Zürcher Mietenden sorgen sich deswegen, bei den über 55-Jährigen 91 Prozent. Die Umfrage hat der Mieterverband bezahlt, die Zahlen der ZKB nicht.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[0:40–1:05] Drei Menschen. Rosa Meier bekommt den Brief, findet bei 0,11 Prozent Leerstand nichts, zahlt im Neubau 30 Prozent mehr; jede dritte Gekündigte muss die Gemeinde verlassen. Sandra Keller soll 49 Mietparteien durch drei Etappen schieben, in Excel, mit vierfachem Aufwand, und wenn der Bau sich verschiebt, fängt sie von vorne an. Und Reto Huber im Vorstand weiss seit den Sugus-Häusern, was eine Leerkündigung kostet: Schlichtungsbehörde, Schlagzeilen, ein Jahr Stillstand. Zürich verlangt von ihm neu den Nachweis, dass es nicht anders geht. Er ist unser Kunde.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[1:05–1:25] Es geht anders: die Rochade. Frau Meier zieht für fünf Monate in eine freie Wohnung in der Siedlung, ihre eigene wird saniert, dann kommt sie zurück. Ihr Mietvertrag bleibt die ganze Zeit bestehen. Die Uni Zürich hat zwölf Eigentümer und Genossenschaften befragt: Rochaden sind die mit Abstand effektivste Massnahme, aber «enorm aufwändig». Flächen finden, zuteilen, zwei Übergaben pro Haushalt, und jede Bauverschiebung wirft den Plan um. Darum machen es viele nicht, und kündigen.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[1:25–1:55] Darf man leerkündigen? Ja. Das Bundesgericht sagt: Die Kündigung hält, wenn der Verbleib der Mietenden die Arbeiten erheblich erschwert. Geht es bewohnt oder in Etappen, ist sie anfechtbar, und die Mietenden können bis vier Jahre Erstreckung verlangen. Genau da setzt Zürich jetzt an: Seit dem Ja vom 14. Juni müssen Eigentümer ab 20 Mietverhältnissen nachweisen, dass sie bewohnt oder etappiert geprüft haben, zwölf Monate vorher informieren, eine Ansprechperson stellen, bei der Wohnungssuche helfen. Sonst gibt es keine Baubewilligung. In Kraft frühestens Ende 2026. Für Genossenschaften ist eine Sanierung ohne Statutengrundlage gar kein Kündigungsgrund, ihre Mitglieder sind Mitbesitzer. Luzern streitet um sein Wohnraum-Gesetz, Zug hat keines, aber beim Herti-Quartier ist die Leerkündigung von 68 Wohnungen am Veto der Korporation gescheitert. Schwyz hat nur Bundesrecht und den stärksten Mietanstieg.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[1:55–2:20] Wer redet mit? Die Eigentümerschaft entscheidet und zahlt. Die Bewirtschaftung organisiert, heute mit vierfachem Aufwand. Die Bauleitung braucht leere Etappen zum Termin. Die Mietenden ziehen freiwillig um und wollen wissen: wohin, wann, wann zurück. Und die Gemeinde erteilt die Baubewilligung, in Zürich neu nur mit Nachweis. Rechtlich hält die Rochade so: Der Mietvertrag bleibt, also keine Kündigung und kein Gericht. Die Ausweichwohnung wird befristet vereinbart, mit Terminen, Umzugskosten und Rückkehr. Ist das Ersatzangebot gleichwertig, entfallen die Mängelrechte weitgehend, das hat das Zürcher Obergericht 2025 bestätigt. Und nach der Sanierung darf nur der wertvermehrende Anteil auf die Miete, 50 bis 70 Prozent bei einer umfassenden Überholung. ROCHADE liefert für Punkt 2 und 3 die Daten: wer, wohin, wann, zurück.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[2:20–2:50] Darum bauen wir ROCHADE. Die Verwaltung sieht die ganze Siedlung: Haus A wird saniert, die acht Haushalte sitzen in freien Wohnungen von Haus B, Haus C und zwei externen. Vier Regeln werden nie gebrochen: Zimmerzahl, Hindernisfreiheit, Zeitfenster, keine Doppelbelegung. Verzögert sich Etappe 1 um zwei Monate, sagt ROCHADE: 11 Konflikte. Für Hr. Aydin fehlt ab Juni 2027 eine 2,5-Zimmer-Wohnung. Etappe 2 ab November 2027 löst alles, ein Klick; in Excel wäre das ein Wochenende. Die Bewohnenden sehen auf dem Handy nur, was sie betrifft: Auszug, Wohnung, Rückkehr,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[2:50–3:15] Wie verdienen wir Geld? Die Eigentümerschaft zahlt, pro Sanierungsprojekt: ein Promille der Sanierungssumme, mindestens 5'000 Franken. Bei 10 Millionen sind das 10'000 Franken, inklusive Bewohner-App und Live-Updates. Das Nachweis-Dossier für das Baugesuch ist drin, in Zürich ab 20 Mietverhältnissen Pflicht, das ist unser Türöffner. Später ein Abo für Pensionskassen und grosse Genossenschaften mit mehreren Sanierungen im Jahr. Für den Kunden rechnet es sich sofort: Eine Leerkündigung von 24 Wohnungen kostet sechs Monate Mietzinsausfall, rund 216'000 Franken, die Rochade hält die Mieten am Laufen. Unsere Kosten pro Projekt liegen bei rund 2'000 Franken, die Fixkosten im ersten Jahr bei 120'000. Mit zwölf Projekten sind wir kostendeckend, danach rund 80 Prozent Marge. Alles Annahmen, die wir in den Pilotgesprächen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[3:15–3:40] Der Markt: Über 2'000 Häuser werden in der Schweiz jedes Jahr komplett leergekündigt, über eine Million Gebäude sind sanierungsbedürftig. Wir starten in Zürich, bei den Genossenschaften: 58'100 Wohnungen, sie dürfen nicht kündigen und sanieren ohnehin in Etappen. 2027 zwei Pilot-Genossenschaften, gratis gegen echte Daten, dann über die Verbände; unser Hebel ist die Zürcher Prüfpflicht. Konkurrenz: Garaio, Abacus und Rimo kennen Verträge, emonitor und Flatfox die Vermietung. Die Rochade plant niemand, ausser Excel, von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[3:40–4:00] Nach 24 Stunden stehen Website, Prototyp und App. Was wir jetzt brauchen: zwei Pilot-Genossenschaften, die 2027 eine Etappensanierung planen, ein Gespräch mit einer Bewirtschaftung, und euer Feedback. Jede Rochade, die gelingt, ist eine Kündigung, die nicht geschrieben wird. Danke.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txBox="1"/>
          <p:nvPr/>
        </p:nvSpPr>
        <p:spPr>
          <a:xfrm>
            <a:off x="457200" y="4818888"/>
            <a:ext cx="7315200" cy="201168"/>
          </a:xfrm>
          <a:prstGeom prst="rect">
            <a:avLst/>
          </a:prstGeom>
          <a:noFill/>
          <a:ln/>
        </p:spPr>
        <p:txBody>
          <a:bodyPr wrap="square" lIns="0" tIns="0" rIns="0" bIns="0" rtlCol="0" anchor="ctr"/>
          <a:lstStyle/>
          <a:p>
            <a:pPr indent="0" marL="0">
              <a:buNone/>
            </a:pPr>
            <a:r>
              <a:rPr lang="en-US" sz="800" dirty="0">
                <a:solidFill>
                  <a:schemeClr val="tx1">
                    <a:alpha val="45000"/>
                  </a:schemeClr>
                </a:solidFill>
              </a:rPr>
              <a:t>ROCHADE · ZentralHack 2026 · Quellen: ROCHADE_Quellen_und_Fakten.md</a:t>
            </a:r>
            <a:endParaRPr lang="en-US" sz="800" dirty="0"/>
          </a:p>
        </p:txBody>
      </p:sp>
      <p:sp>
        <p:nvSpPr>
          <p:cNvPr id="3" name="Text 1"/>
          <p:cNvSpPr/>
          <p:nvPr>
            <p:ph idx="101" type="title" hasCustomPrompt="1"/>
          </p:nvPr>
        </p:nvSpPr>
        <p:spPr>
          <a:xfrm>
            <a:off x="457200" y="320040"/>
            <a:ext cx="8229600" cy="822960"/>
          </a:xfrm>
          <a:prstGeom prst="rect">
            <a:avLst/>
          </a:prstGeom>
          <a:noFill/>
          <a:ln/>
        </p:spPr>
        <p:txBody>
          <a:bodyPr wrap="square" rtlCol="0"/>
          <a:lstStyle>
            <a:lvl1pPr indent="0" marL="0">
              <a:buNone/>
              <a:defRPr lang="en-US" sz="3000" b="1" dirty="0">
                <a:solidFill>
                  <a:schemeClr val="tx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8321040" y="4791456"/>
            <a:ext cx="365760" cy="274320"/>
          </a:xfrm>
          <a:prstGeom prst="rect">
            <a:avLst/>
          </a:prstGeom>
          <a:extLst>
            <a:ext uri="{C572A759-6A51-4108-AA02-DFA0A04FC94B}">
              <ma14:wrappingTextBoxFlag xmlns:ma14="http://schemas.microsoft.com/office/mac/drawingml/2011/main" val="0"/>
            </a:ext>
          </a:extLst>
        </p:spPr>
        <p:txBody>
          <a:bodyPr/>
          <a:lstStyle>
            <a:lvl1pPr>
              <a:defRPr sz="800">
                <a:solidFill>
                  <a:schemeClr val="tx1"/>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822960"/>
          </a:xfrm>
          <a:prstGeom prst="rect">
            <a:avLst/>
          </a:prstGeom>
          <a:noFill/>
          <a:ln/>
        </p:spPr>
        <p:txBody>
          <a:bodyPr wrap="square" rtlCol="0"/>
          <a:lstStyle>
            <a:lvl1pPr indent="0" marL="0">
              <a:buNone/>
              <a:defRPr lang="en-US" sz="3000" b="1" dirty="0">
                <a:solidFill>
                  <a:schemeClr val="bg1"/>
                </a:solidFill>
              </a:defRPr>
            </a:lvl1pPr>
          </a:lstStyle>
          <a:p>
            <a:pPr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91456"/>
            <a:ext cx="365760" cy="274320"/>
          </a:xfrm>
          <a:prstGeom prst="rect">
            <a:avLst/>
          </a:prstGeom>
          <a:extLst>
            <a:ext uri="{C572A759-6A51-4108-AA02-DFA0A04FC94B}">
              <ma14:wrappingTextBoxFlag xmlns:ma14="http://schemas.microsoft.com/office/mac/drawingml/2011/main" val="0"/>
            </a:ext>
          </a:extLst>
        </p:spPr>
        <p:txBody>
          <a:bodyPr/>
          <a:lstStyle>
            <a:lvl1pPr>
              <a:defRPr sz="8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37210" y="537210"/>
            <a:ext cx="160020" cy="160020"/>
          </a:xfrm>
          <a:prstGeom prst="rect">
            <a:avLst/>
          </a:prstGeom>
          <a:ln w="80010">
            <a:solidFill>
              <a:srgbClr val="FFFFFF"/>
            </a:solidFill>
            <a:prstDash val="solid"/>
          </a:ln>
        </p:spPr>
      </p:sp>
      <p:sp>
        <p:nvSpPr>
          <p:cNvPr id="3" name="Shape 1"/>
          <p:cNvSpPr/>
          <p:nvPr/>
        </p:nvSpPr>
        <p:spPr>
          <a:xfrm>
            <a:off x="737235" y="577215"/>
            <a:ext cx="80010" cy="80010"/>
          </a:xfrm>
          <a:prstGeom prst="rect">
            <a:avLst/>
          </a:prstGeom>
          <a:solidFill>
            <a:srgbClr val="FFFFFF"/>
          </a:solidFill>
          <a:ln w="12700">
            <a:solidFill>
              <a:srgbClr val="FFFFFF"/>
            </a:solidFill>
            <a:prstDash val="solid"/>
          </a:ln>
        </p:spPr>
      </p:sp>
      <p:sp>
        <p:nvSpPr>
          <p:cNvPr id="4" name="Shape 2"/>
          <p:cNvSpPr/>
          <p:nvPr/>
        </p:nvSpPr>
        <p:spPr>
          <a:xfrm>
            <a:off x="817245" y="497205"/>
            <a:ext cx="240030" cy="240030"/>
          </a:xfrm>
          <a:prstGeom prst="rect">
            <a:avLst/>
          </a:prstGeom>
          <a:solidFill>
            <a:srgbClr val="FFFFFF"/>
          </a:solidFill>
          <a:ln w="12700">
            <a:solidFill>
              <a:srgbClr val="FFFFFF"/>
            </a:solidFill>
            <a:prstDash val="solid"/>
          </a:ln>
        </p:spPr>
      </p:sp>
      <p:sp>
        <p:nvSpPr>
          <p:cNvPr id="5" name="Shape 3"/>
          <p:cNvSpPr/>
          <p:nvPr/>
        </p:nvSpPr>
        <p:spPr>
          <a:xfrm>
            <a:off x="497205" y="817245"/>
            <a:ext cx="240030" cy="240030"/>
          </a:xfrm>
          <a:prstGeom prst="rect">
            <a:avLst/>
          </a:prstGeom>
          <a:solidFill>
            <a:srgbClr val="FFFFFF"/>
          </a:solidFill>
          <a:ln w="12700">
            <a:solidFill>
              <a:srgbClr val="FFFFFF"/>
            </a:solidFill>
            <a:prstDash val="solid"/>
          </a:ln>
        </p:spPr>
      </p:sp>
      <p:sp>
        <p:nvSpPr>
          <p:cNvPr id="6" name="Shape 4"/>
          <p:cNvSpPr/>
          <p:nvPr/>
        </p:nvSpPr>
        <p:spPr>
          <a:xfrm>
            <a:off x="737235" y="897255"/>
            <a:ext cx="80010" cy="80010"/>
          </a:xfrm>
          <a:prstGeom prst="rect">
            <a:avLst/>
          </a:prstGeom>
          <a:solidFill>
            <a:srgbClr val="FFFFFF"/>
          </a:solidFill>
          <a:ln w="12700">
            <a:solidFill>
              <a:srgbClr val="FFFFFF"/>
            </a:solidFill>
            <a:prstDash val="solid"/>
          </a:ln>
        </p:spPr>
      </p:sp>
      <p:sp>
        <p:nvSpPr>
          <p:cNvPr id="7" name="Shape 5"/>
          <p:cNvSpPr/>
          <p:nvPr/>
        </p:nvSpPr>
        <p:spPr>
          <a:xfrm>
            <a:off x="857250" y="857250"/>
            <a:ext cx="160020" cy="160020"/>
          </a:xfrm>
          <a:prstGeom prst="rect">
            <a:avLst/>
          </a:prstGeom>
          <a:ln w="80010">
            <a:solidFill>
              <a:srgbClr val="FFFFFF"/>
            </a:solidFill>
            <a:prstDash val="solid"/>
          </a:ln>
        </p:spPr>
      </p:sp>
      <p:sp>
        <p:nvSpPr>
          <p:cNvPr id="8" name="Text 6"/>
          <p:cNvSpPr txBox="1"/>
          <p:nvPr/>
        </p:nvSpPr>
        <p:spPr>
          <a:xfrm>
            <a:off x="1321308" y="444398"/>
            <a:ext cx="2743200" cy="640080"/>
          </a:xfrm>
          <a:prstGeom prst="rect">
            <a:avLst/>
          </a:prstGeom>
          <a:noFill/>
          <a:ln/>
        </p:spPr>
        <p:txBody>
          <a:bodyPr wrap="square" lIns="0" tIns="0" rIns="0" bIns="0" rtlCol="0" anchor="ctr"/>
          <a:lstStyle/>
          <a:p>
            <a:pPr indent="0" marL="0">
              <a:buNone/>
            </a:pPr>
            <a:r>
              <a:rPr lang="en-US" sz="2800" b="1" spc="400" kern="0" dirty="0">
                <a:solidFill>
                  <a:srgbClr val="FFFFFF"/>
                </a:solidFill>
                <a:latin typeface="Arial" pitchFamily="34" charset="0"/>
                <a:ea typeface="Arial" pitchFamily="34" charset="-122"/>
                <a:cs typeface="Arial" pitchFamily="34" charset="-120"/>
              </a:rPr>
              <a:t>ROCHADE</a:t>
            </a:r>
            <a:endParaRPr lang="en-US" sz="2800" dirty="0"/>
          </a:p>
        </p:txBody>
      </p:sp>
      <p:sp>
        <p:nvSpPr>
          <p:cNvPr id="9" name="Text 7"/>
          <p:cNvSpPr txBox="1"/>
          <p:nvPr/>
        </p:nvSpPr>
        <p:spPr>
          <a:xfrm>
            <a:off x="457200" y="1371600"/>
            <a:ext cx="7863840" cy="1737360"/>
          </a:xfrm>
          <a:prstGeom prst="rect">
            <a:avLst/>
          </a:prstGeom>
          <a:noFill/>
          <a:ln/>
        </p:spPr>
        <p:txBody>
          <a:bodyPr wrap="square" lIns="0" tIns="0" rIns="0" bIns="0" rtlCol="0" anchor="t"/>
          <a:lstStyle/>
          <a:p>
            <a:pPr indent="0" marL="0">
              <a:buNone/>
            </a:pPr>
            <a:r>
              <a:rPr lang="en-US" sz="5200" b="1" dirty="0">
                <a:solidFill>
                  <a:srgbClr val="FFFFFF"/>
                </a:solidFill>
                <a:latin typeface="Arial" pitchFamily="34" charset="0"/>
                <a:ea typeface="Arial" pitchFamily="34" charset="-122"/>
                <a:cs typeface="Arial" pitchFamily="34" charset="-120"/>
              </a:rPr>
              <a:t>Sanieren, ohne jemanden rauszuwerfen.</a:t>
            </a:r>
            <a:endParaRPr lang="en-US" sz="5200" dirty="0"/>
          </a:p>
        </p:txBody>
      </p:sp>
      <p:sp>
        <p:nvSpPr>
          <p:cNvPr id="10" name="Text 8"/>
          <p:cNvSpPr txBox="1"/>
          <p:nvPr/>
        </p:nvSpPr>
        <p:spPr>
          <a:xfrm>
            <a:off x="457200" y="3154680"/>
            <a:ext cx="6035040" cy="731520"/>
          </a:xfrm>
          <a:prstGeom prst="rect">
            <a:avLst/>
          </a:prstGeom>
          <a:noFill/>
          <a:ln/>
        </p:spPr>
        <p:txBody>
          <a:bodyPr wrap="square" lIns="0" tIns="0" rIns="0" bIns="0" rtlCol="0" anchor="t"/>
          <a:lstStyle/>
          <a:p>
            <a:pPr indent="0" marL="0">
              <a:buNone/>
            </a:pPr>
            <a:r>
              <a:rPr lang="en-US" sz="1800" dirty="0">
                <a:solidFill>
                  <a:srgbClr val="D4E1E5"/>
                </a:solidFill>
                <a:latin typeface="Arial" pitchFamily="34" charset="0"/>
                <a:ea typeface="Arial" pitchFamily="34" charset="-122"/>
                <a:cs typeface="Arial" pitchFamily="34" charset="-120"/>
              </a:rPr>
              <a:t>ROCHADE plant, wer während einer Sanierung wann in welche freie Wohnung zieht. Und wann zurück.</a:t>
            </a:r>
            <a:endParaRPr lang="en-US" sz="1800" dirty="0"/>
          </a:p>
        </p:txBody>
      </p:sp>
      <p:sp>
        <p:nvSpPr>
          <p:cNvPr id="11" name="Shape 9"/>
          <p:cNvSpPr/>
          <p:nvPr/>
        </p:nvSpPr>
        <p:spPr>
          <a:xfrm>
            <a:off x="457200" y="4160520"/>
            <a:ext cx="1097280" cy="45720"/>
          </a:xfrm>
          <a:prstGeom prst="rect">
            <a:avLst/>
          </a:prstGeom>
          <a:solidFill>
            <a:srgbClr val="F26A1B"/>
          </a:solidFill>
          <a:ln w="12700">
            <a:solidFill>
              <a:srgbClr val="F26A1B"/>
            </a:solidFill>
            <a:prstDash val="solid"/>
          </a:ln>
        </p:spPr>
      </p:sp>
      <p:sp>
        <p:nvSpPr>
          <p:cNvPr id="12" name="Text 10"/>
          <p:cNvSpPr txBox="1"/>
          <p:nvPr/>
        </p:nvSpPr>
        <p:spPr>
          <a:xfrm>
            <a:off x="457200" y="4389120"/>
            <a:ext cx="4572000" cy="274320"/>
          </a:xfrm>
          <a:prstGeom prst="rect">
            <a:avLst/>
          </a:prstGeom>
          <a:noFill/>
          <a:ln/>
        </p:spPr>
        <p:txBody>
          <a:bodyPr wrap="square" lIns="0" tIns="0" rIns="0" bIns="0" rtlCol="0" anchor="ctr"/>
          <a:lstStyle/>
          <a:p>
            <a:pPr indent="0" marL="0">
              <a:buNone/>
            </a:pPr>
            <a:r>
              <a:rPr lang="en-US" sz="1200" dirty="0">
                <a:solidFill>
                  <a:srgbClr val="B5C9CE"/>
                </a:solidFill>
                <a:latin typeface="Arial" pitchFamily="34" charset="0"/>
                <a:ea typeface="Arial" pitchFamily="34" charset="-122"/>
                <a:cs typeface="Arial" pitchFamily="34" charset="-120"/>
              </a:rPr>
              <a:t>Team ROCHADE · Francesco · Alex</a:t>
            </a:r>
            <a:endParaRPr lang="en-US" sz="1200" dirty="0"/>
          </a:p>
        </p:txBody>
      </p:sp>
      <p:sp>
        <p:nvSpPr>
          <p:cNvPr id="13" name="Text 11"/>
          <p:cNvSpPr txBox="1"/>
          <p:nvPr/>
        </p:nvSpPr>
        <p:spPr>
          <a:xfrm>
            <a:off x="4572000" y="4389120"/>
            <a:ext cx="4114800" cy="274320"/>
          </a:xfrm>
          <a:prstGeom prst="rect">
            <a:avLst/>
          </a:prstGeom>
          <a:noFill/>
          <a:ln/>
        </p:spPr>
        <p:txBody>
          <a:bodyPr wrap="square" lIns="0" tIns="0" rIns="0" bIns="0" rtlCol="0" anchor="ctr"/>
          <a:lstStyle/>
          <a:p>
            <a:pPr algn="r" indent="0" marL="0">
              <a:buNone/>
            </a:pPr>
            <a:r>
              <a:rPr lang="en-US" sz="1200" dirty="0">
                <a:solidFill>
                  <a:srgbClr val="B5C9CE"/>
                </a:solidFill>
                <a:latin typeface="Arial" pitchFamily="34" charset="0"/>
                <a:ea typeface="Arial" pitchFamily="34" charset="-122"/>
                <a:cs typeface="Arial" pitchFamily="34" charset="-120"/>
              </a:rPr>
              <a:t>ZentralHack 2026 · SDG 11.1 Bezahlbarer Wohnraum</a:t>
            </a:r>
            <a:endParaRPr lang="en-US" sz="1200" dirty="0"/>
          </a:p>
        </p:txBody>
      </p:sp>
      <p:sp>
        <p:nvSpPr>
          <p:cNvPr id="15" name="Text 0"/>
          <p:cNvSpPr/>
          <p:nvPr>
            <p:ph idx="100" type="title" hasCustomPrompt="1"/>
          </p:nvPr>
        </p:nvSpPr>
        <p:spPr>
          <a:xfrm>
            <a:off x="457200" y="320040"/>
            <a:ext cx="8229600" cy="822960"/>
          </a:xfrm>
          <a:prstGeom prst="rect">
            <a:avLst/>
          </a:prstGeom>
          <a:noFill/>
          <a:ln/>
        </p:spPr>
        <p:txBody>
          <a:bodyPr wrap="square" lIns="0" tIns="0" rIns="0" bIns="0" rtlCol="0" anchor="t"/>
          <a:lstStyle/>
          <a:p>
            <a:pPr indent="0" marL="0">
              <a:buNone/>
            </a:pP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822960"/>
          </a:xfrm>
          <a:prstGeom prst="rect">
            <a:avLst/>
          </a:prstGeom>
          <a:noFill/>
          <a:ln/>
        </p:spPr>
        <p:txBody>
          <a:bodyPr wrap="square" lIns="0" tIns="0" rIns="0" bIns="0" rtlCol="0" anchor="t"/>
          <a:lstStyle/>
          <a:p>
            <a:pPr indent="0" marL="0">
              <a:buNone/>
            </a:pPr>
            <a:r>
              <a:rPr lang="en-US" sz="3000" b="1" dirty="0">
                <a:solidFill>
                  <a:schemeClr val="tx1"/>
                </a:solidFill>
              </a:rPr>
              <a:t>Wer saniert, kündigt. Allen.</a:t>
            </a:r>
            <a:endParaRPr lang="en-US" sz="3000" dirty="0"/>
          </a:p>
        </p:txBody>
      </p:sp>
      <p:sp>
        <p:nvSpPr>
          <p:cNvPr id="3" name="Shape 1"/>
          <p:cNvSpPr/>
          <p:nvPr/>
        </p:nvSpPr>
        <p:spPr>
          <a:xfrm>
            <a:off x="457200" y="1280160"/>
            <a:ext cx="3383280" cy="3291840"/>
          </a:xfrm>
          <a:prstGeom prst="rect">
            <a:avLst/>
          </a:prstGeom>
          <a:solidFill>
            <a:srgbClr val="24414A"/>
          </a:solidFill>
          <a:ln w="12700">
            <a:solidFill>
              <a:srgbClr val="24414A"/>
            </a:solidFill>
            <a:prstDash val="solid"/>
          </a:ln>
        </p:spPr>
      </p:sp>
      <p:sp>
        <p:nvSpPr>
          <p:cNvPr id="4" name="Text 2"/>
          <p:cNvSpPr txBox="1"/>
          <p:nvPr/>
        </p:nvSpPr>
        <p:spPr>
          <a:xfrm>
            <a:off x="731520" y="1417320"/>
            <a:ext cx="2926080" cy="914400"/>
          </a:xfrm>
          <a:prstGeom prst="rect">
            <a:avLst/>
          </a:prstGeom>
          <a:noFill/>
          <a:ln/>
        </p:spPr>
        <p:txBody>
          <a:bodyPr wrap="square" lIns="0" tIns="0" rIns="0" bIns="0" rtlCol="0" anchor="ctr"/>
          <a:lstStyle/>
          <a:p>
            <a:pPr indent="0" marL="0">
              <a:buNone/>
            </a:pPr>
            <a:r>
              <a:rPr lang="en-US" sz="5800" b="1" dirty="0">
                <a:solidFill>
                  <a:srgbClr val="FFFFFF"/>
                </a:solidFill>
                <a:latin typeface="Arial" pitchFamily="34" charset="0"/>
                <a:ea typeface="Arial" pitchFamily="34" charset="-122"/>
                <a:cs typeface="Arial" pitchFamily="34" charset="-120"/>
              </a:rPr>
              <a:t>10'900</a:t>
            </a:r>
            <a:endParaRPr lang="en-US" sz="5800" dirty="0"/>
          </a:p>
        </p:txBody>
      </p:sp>
      <p:sp>
        <p:nvSpPr>
          <p:cNvPr id="5" name="Text 3"/>
          <p:cNvSpPr txBox="1"/>
          <p:nvPr/>
        </p:nvSpPr>
        <p:spPr>
          <a:xfrm>
            <a:off x="731520" y="2331720"/>
            <a:ext cx="2834640" cy="822960"/>
          </a:xfrm>
          <a:prstGeom prst="rect">
            <a:avLst/>
          </a:prstGeom>
          <a:noFill/>
          <a:ln/>
        </p:spPr>
        <p:txBody>
          <a:bodyPr wrap="square" lIns="0" tIns="0" rIns="0" bIns="0" rtlCol="0" anchor="t"/>
          <a:lstStyle/>
          <a:p>
            <a:pPr indent="0" marL="0">
              <a:buNone/>
            </a:pPr>
            <a:r>
              <a:rPr lang="en-US" sz="1500" dirty="0">
                <a:solidFill>
                  <a:srgbClr val="FFFFFF"/>
                </a:solidFill>
                <a:latin typeface="Arial" pitchFamily="34" charset="0"/>
                <a:ea typeface="Arial" pitchFamily="34" charset="-122"/>
                <a:cs typeface="Arial" pitchFamily="34" charset="-120"/>
              </a:rPr>
              <a:t>Mehrfamilienhäuser in der Schweiz komplett leergekündigt, 2018 bis 2022.</a:t>
            </a:r>
            <a:endParaRPr lang="en-US" sz="1500" dirty="0"/>
          </a:p>
        </p:txBody>
      </p:sp>
      <p:sp>
        <p:nvSpPr>
          <p:cNvPr id="6" name="Text 4"/>
          <p:cNvSpPr txBox="1"/>
          <p:nvPr/>
        </p:nvSpPr>
        <p:spPr>
          <a:xfrm>
            <a:off x="731520" y="3200400"/>
            <a:ext cx="2926080" cy="365760"/>
          </a:xfrm>
          <a:prstGeom prst="rect">
            <a:avLst/>
          </a:prstGeom>
          <a:noFill/>
          <a:ln/>
        </p:spPr>
        <p:txBody>
          <a:bodyPr wrap="square" lIns="0" tIns="0" rIns="0" bIns="0" rtlCol="0" anchor="ctr"/>
          <a:lstStyle/>
          <a:p>
            <a:pPr indent="0" marL="0">
              <a:buNone/>
            </a:pPr>
            <a:r>
              <a:rPr lang="en-US" sz="1600" b="1" dirty="0">
                <a:solidFill>
                  <a:srgbClr val="F26A1B"/>
                </a:solidFill>
                <a:latin typeface="Arial" pitchFamily="34" charset="0"/>
                <a:ea typeface="Arial" pitchFamily="34" charset="-122"/>
                <a:cs typeface="Arial" pitchFamily="34" charset="-120"/>
              </a:rPr>
              <a:t>30'000 Menschen pro Jahr</a:t>
            </a:r>
            <a:endParaRPr lang="en-US" sz="1600" dirty="0"/>
          </a:p>
        </p:txBody>
      </p:sp>
      <p:sp>
        <p:nvSpPr>
          <p:cNvPr id="7" name="Text 5"/>
          <p:cNvSpPr txBox="1"/>
          <p:nvPr/>
        </p:nvSpPr>
        <p:spPr>
          <a:xfrm>
            <a:off x="731520" y="3611880"/>
            <a:ext cx="2834640" cy="548640"/>
          </a:xfrm>
          <a:prstGeom prst="rect">
            <a:avLst/>
          </a:prstGeom>
          <a:noFill/>
          <a:ln/>
        </p:spPr>
        <p:txBody>
          <a:bodyPr wrap="square" lIns="0" tIns="0" rIns="0" bIns="0" rtlCol="0" anchor="t"/>
          <a:lstStyle/>
          <a:p>
            <a:pPr indent="0" marL="0">
              <a:buNone/>
            </a:pPr>
            <a:r>
              <a:rPr lang="en-US" sz="1200" dirty="0">
                <a:solidFill>
                  <a:srgbClr val="D4E1E5"/>
                </a:solidFill>
                <a:latin typeface="Arial" pitchFamily="34" charset="0"/>
                <a:ea typeface="Arial" pitchFamily="34" charset="-122"/>
                <a:cs typeface="Arial" pitchFamily="34" charset="-120"/>
              </a:rPr>
              <a:t>Jedes vierte geleerte Haus in Zürich gehörte einer Genossenschaft.</a:t>
            </a:r>
            <a:endParaRPr lang="en-US" sz="1200" dirty="0"/>
          </a:p>
        </p:txBody>
      </p:sp>
      <p:sp>
        <p:nvSpPr>
          <p:cNvPr id="8" name="Text 6"/>
          <p:cNvSpPr txBox="1"/>
          <p:nvPr/>
        </p:nvSpPr>
        <p:spPr>
          <a:xfrm>
            <a:off x="731520" y="4251960"/>
            <a:ext cx="2834640" cy="228600"/>
          </a:xfrm>
          <a:prstGeom prst="rect">
            <a:avLst/>
          </a:prstGeom>
          <a:noFill/>
          <a:ln/>
        </p:spPr>
        <p:txBody>
          <a:bodyPr wrap="square" lIns="0" tIns="0" rIns="0" bIns="0" rtlCol="0" anchor="ctr"/>
          <a:lstStyle/>
          <a:p>
            <a:pPr indent="0" marL="0">
              <a:buNone/>
            </a:pPr>
            <a:r>
              <a:rPr lang="en-US" sz="800" dirty="0">
                <a:solidFill>
                  <a:srgbClr val="B5C9CE"/>
                </a:solidFill>
                <a:latin typeface="Arial" pitchFamily="34" charset="0"/>
                <a:ea typeface="Arial" pitchFamily="34" charset="-122"/>
                <a:cs typeface="Arial" pitchFamily="34" charset="-120"/>
              </a:rPr>
              <a:t>Zürcher Kantonalbank auf Basis BFS, 2024</a:t>
            </a:r>
            <a:endParaRPr lang="en-US" sz="800" dirty="0"/>
          </a:p>
        </p:txBody>
      </p:sp>
      <p:sp>
        <p:nvSpPr>
          <p:cNvPr id="9" name="Text 7"/>
          <p:cNvSpPr txBox="1"/>
          <p:nvPr/>
        </p:nvSpPr>
        <p:spPr>
          <a:xfrm>
            <a:off x="4114800" y="1280160"/>
            <a:ext cx="4572000" cy="320040"/>
          </a:xfrm>
          <a:prstGeom prst="rect">
            <a:avLst/>
          </a:prstGeom>
          <a:noFill/>
          <a:ln/>
        </p:spPr>
        <p:txBody>
          <a:bodyPr wrap="square" lIns="0" tIns="0" rIns="0" bIns="0" rtlCol="0" anchor="ctr"/>
          <a:lstStyle/>
          <a:p>
            <a:pPr indent="0" marL="0">
              <a:buNone/>
            </a:pPr>
            <a:r>
              <a:rPr lang="en-US" sz="1400" b="1" dirty="0">
                <a:solidFill>
                  <a:srgbClr val="1C2326"/>
                </a:solidFill>
                <a:latin typeface="Arial" pitchFamily="34" charset="0"/>
                <a:ea typeface="Arial" pitchFamily="34" charset="-122"/>
                <a:cs typeface="Arial" pitchFamily="34" charset="-120"/>
              </a:rPr>
              <a:t>Leergekündigte Häuser 2018 bis 2022, nach Stadt</a:t>
            </a:r>
            <a:endParaRPr lang="en-US" sz="1400" dirty="0"/>
          </a:p>
        </p:txBody>
      </p:sp>
      <p:graphicFrame>
        <p:nvGraphicFramePr>
          <p:cNvPr id="10" name="Chart 0" descr=""/>
          <p:cNvGraphicFramePr/>
          <p:nvPr/>
        </p:nvGraphicFramePr>
        <p:xfrm>
          <a:off x="4023360" y="1554480"/>
          <a:ext cx="4663440" cy="233172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txBox="1"/>
          <p:nvPr/>
        </p:nvSpPr>
        <p:spPr>
          <a:xfrm>
            <a:off x="4114800" y="3886200"/>
            <a:ext cx="4572000" cy="228600"/>
          </a:xfrm>
          <a:prstGeom prst="rect">
            <a:avLst/>
          </a:prstGeom>
          <a:noFill/>
          <a:ln/>
        </p:spPr>
        <p:txBody>
          <a:bodyPr wrap="square" lIns="0" tIns="0" rIns="0" bIns="0" rtlCol="0" anchor="ctr"/>
          <a:lstStyle/>
          <a:p>
            <a:pPr indent="0" marL="0">
              <a:buNone/>
            </a:pPr>
            <a:r>
              <a:rPr lang="en-US" sz="950" dirty="0">
                <a:solidFill>
                  <a:srgbClr val="5B6468"/>
                </a:solidFill>
                <a:latin typeface="Arial" pitchFamily="34" charset="0"/>
                <a:ea typeface="Arial" pitchFamily="34" charset="-122"/>
                <a:cs typeface="Arial" pitchFamily="34" charset="-120"/>
              </a:rPr>
              <a:t>Genf: rund 20 Häuser pro Jahr dank strenger Regeln. Zürich: rund 250.</a:t>
            </a:r>
            <a:endParaRPr lang="en-US" sz="950" dirty="0"/>
          </a:p>
        </p:txBody>
      </p:sp>
      <p:sp>
        <p:nvSpPr>
          <p:cNvPr id="12" name="Shape 9"/>
          <p:cNvSpPr/>
          <p:nvPr/>
        </p:nvSpPr>
        <p:spPr>
          <a:xfrm>
            <a:off x="4023360" y="4160520"/>
            <a:ext cx="4663440" cy="457200"/>
          </a:xfrm>
          <a:prstGeom prst="rect">
            <a:avLst/>
          </a:prstGeom>
          <a:solidFill>
            <a:srgbClr val="FDEBDD"/>
          </a:solidFill>
          <a:ln w="12700">
            <a:solidFill>
              <a:srgbClr val="FDEBDD"/>
            </a:solidFill>
            <a:prstDash val="solid"/>
          </a:ln>
        </p:spPr>
      </p:sp>
      <p:sp>
        <p:nvSpPr>
          <p:cNvPr id="13" name="Text 10"/>
          <p:cNvSpPr txBox="1"/>
          <p:nvPr/>
        </p:nvSpPr>
        <p:spPr>
          <a:xfrm>
            <a:off x="4206240" y="4160520"/>
            <a:ext cx="822960" cy="457200"/>
          </a:xfrm>
          <a:prstGeom prst="rect">
            <a:avLst/>
          </a:prstGeom>
          <a:noFill/>
          <a:ln/>
        </p:spPr>
        <p:txBody>
          <a:bodyPr wrap="square" lIns="0" tIns="0" rIns="0" bIns="0" rtlCol="0" anchor="ctr"/>
          <a:lstStyle/>
          <a:p>
            <a:pPr indent="0" marL="0">
              <a:buNone/>
            </a:pPr>
            <a:r>
              <a:rPr lang="en-US" sz="2000" b="1" dirty="0">
                <a:solidFill>
                  <a:srgbClr val="B8460E"/>
                </a:solidFill>
                <a:latin typeface="Arial" pitchFamily="34" charset="0"/>
                <a:ea typeface="Arial" pitchFamily="34" charset="-122"/>
                <a:cs typeface="Arial" pitchFamily="34" charset="-120"/>
              </a:rPr>
              <a:t>84 %</a:t>
            </a:r>
            <a:endParaRPr lang="en-US" sz="2000" dirty="0"/>
          </a:p>
        </p:txBody>
      </p:sp>
      <p:sp>
        <p:nvSpPr>
          <p:cNvPr id="14" name="Text 11"/>
          <p:cNvSpPr txBox="1"/>
          <p:nvPr/>
        </p:nvSpPr>
        <p:spPr>
          <a:xfrm>
            <a:off x="5029200" y="4160520"/>
            <a:ext cx="3566160" cy="457200"/>
          </a:xfrm>
          <a:prstGeom prst="rect">
            <a:avLst/>
          </a:prstGeom>
          <a:noFill/>
          <a:ln/>
        </p:spPr>
        <p:txBody>
          <a:bodyPr wrap="square" lIns="0" tIns="0" rIns="0" bIns="0" rtlCol="0" anchor="ctr"/>
          <a:lstStyle/>
          <a:p>
            <a:pPr indent="0" marL="0">
              <a:buNone/>
            </a:pPr>
            <a:r>
              <a:rPr lang="en-US" sz="900" dirty="0">
                <a:solidFill>
                  <a:srgbClr val="1C2326"/>
                </a:solidFill>
                <a:latin typeface="Arial" pitchFamily="34" charset="0"/>
                <a:ea typeface="Arial" pitchFamily="34" charset="-122"/>
                <a:cs typeface="Arial" pitchFamily="34" charset="-120"/>
              </a:rPr>
              <a:t>der Mietenden im Kanton Zürich sorgen sich wegen Leerkündigungen, über 55 sind es 91 %. Sotomo für den Mieterverband, Mai 2026</a:t>
            </a:r>
            <a:endParaRPr lang="en-US" sz="900" dirty="0"/>
          </a:p>
        </p:txBody>
      </p:sp>
      <p:sp>
        <p:nvSpPr>
          <p:cNvPr id="25" name="Slide Number Placeholder 0"/>
          <p:cNvSpPr>
            <a:spLocks noGrp="1"/>
          </p:cNvSpPr>
          <p:nvPr>
            <p:ph type="sldNum" sz="quarter" idx="4294967295"/>
          </p:nvPr>
        </p:nvSpPr>
        <p:spPr>
          <a:xfrm>
            <a:off x="8321040" y="4791456"/>
            <a:ext cx="365760" cy="274320"/>
          </a:xfrm>
          <a:prstGeom prst="rect">
            <a:avLst/>
          </a:prstGeom>
          <a:extLst>
            <a:ext uri="{C572A759-6A51-4108-AA02-DFA0A04FC94B}">
              <ma14:wrappingTextBoxFlag xmlns:ma14="http://schemas.microsoft.com/office/mac/drawingml/2011/main" val="0"/>
            </a:ext>
          </a:extLst>
        </p:spPr>
        <p:txBody>
          <a:bodyPr/>
          <a:lstStyle>
            <a:lvl1pPr>
              <a:defRPr sz="8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822960"/>
          </a:xfrm>
          <a:prstGeom prst="rect">
            <a:avLst/>
          </a:prstGeom>
          <a:noFill/>
          <a:ln/>
        </p:spPr>
        <p:txBody>
          <a:bodyPr wrap="square" lIns="0" tIns="0" rIns="0" bIns="0" rtlCol="0" anchor="t"/>
          <a:lstStyle/>
          <a:p>
            <a:pPr indent="0" marL="0">
              <a:buNone/>
            </a:pPr>
            <a:r>
              <a:rPr lang="en-US" sz="3000" b="1" dirty="0">
                <a:solidFill>
                  <a:schemeClr val="tx1"/>
                </a:solidFill>
              </a:rPr>
              <a:t>Drei Menschen, drei Probleme. Einer davon zahlt.</a:t>
            </a:r>
            <a:endParaRPr lang="en-US" sz="3000" dirty="0"/>
          </a:p>
        </p:txBody>
      </p:sp>
      <p:sp>
        <p:nvSpPr>
          <p:cNvPr id="3" name="Shape 1"/>
          <p:cNvSpPr/>
          <p:nvPr/>
        </p:nvSpPr>
        <p:spPr>
          <a:xfrm>
            <a:off x="457200" y="1280160"/>
            <a:ext cx="2651760" cy="3291840"/>
          </a:xfrm>
          <a:prstGeom prst="rect">
            <a:avLst/>
          </a:prstGeom>
          <a:solidFill>
            <a:srgbClr val="FFFFFF"/>
          </a:solidFill>
          <a:ln w="9525">
            <a:solidFill>
              <a:srgbClr val="E3DDD4"/>
            </a:solidFill>
            <a:prstDash val="solid"/>
          </a:ln>
        </p:spPr>
      </p:sp>
      <p:sp>
        <p:nvSpPr>
          <p:cNvPr id="4" name="Shape 2"/>
          <p:cNvSpPr/>
          <p:nvPr/>
        </p:nvSpPr>
        <p:spPr>
          <a:xfrm>
            <a:off x="640080" y="1463040"/>
            <a:ext cx="457200" cy="457200"/>
          </a:xfrm>
          <a:prstGeom prst="rect">
            <a:avLst/>
          </a:prstGeom>
          <a:solidFill>
            <a:srgbClr val="24414A"/>
          </a:solidFill>
          <a:ln w="12700">
            <a:solidFill>
              <a:srgbClr val="24414A"/>
            </a:solidFill>
            <a:prstDash val="solid"/>
          </a:ln>
        </p:spPr>
      </p:sp>
      <p:sp>
        <p:nvSpPr>
          <p:cNvPr id="5" name="Text 3"/>
          <p:cNvSpPr txBox="1"/>
          <p:nvPr/>
        </p:nvSpPr>
        <p:spPr>
          <a:xfrm>
            <a:off x="640080" y="14630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RM</a:t>
            </a:r>
            <a:endParaRPr lang="en-US" sz="1400" dirty="0"/>
          </a:p>
        </p:txBody>
      </p:sp>
      <p:sp>
        <p:nvSpPr>
          <p:cNvPr id="6" name="Text 4"/>
          <p:cNvSpPr txBox="1"/>
          <p:nvPr/>
        </p:nvSpPr>
        <p:spPr>
          <a:xfrm>
            <a:off x="1234440" y="1444752"/>
            <a:ext cx="1737360" cy="256032"/>
          </a:xfrm>
          <a:prstGeom prst="rect">
            <a:avLst/>
          </a:prstGeom>
          <a:noFill/>
          <a:ln/>
        </p:spPr>
        <p:txBody>
          <a:bodyPr wrap="square" lIns="0" tIns="0" rIns="0" bIns="0" rtlCol="0" anchor="ctr"/>
          <a:lstStyle/>
          <a:p>
            <a:pPr indent="0" marL="0">
              <a:buNone/>
            </a:pPr>
            <a:r>
              <a:rPr lang="en-US" sz="1300" b="1" dirty="0">
                <a:solidFill>
                  <a:srgbClr val="1C2326"/>
                </a:solidFill>
                <a:latin typeface="Arial" pitchFamily="34" charset="0"/>
                <a:ea typeface="Arial" pitchFamily="34" charset="-122"/>
                <a:cs typeface="Arial" pitchFamily="34" charset="-120"/>
              </a:rPr>
              <a:t>Rosa Meier, 78</a:t>
            </a:r>
            <a:endParaRPr lang="en-US" sz="1300" dirty="0"/>
          </a:p>
        </p:txBody>
      </p:sp>
      <p:sp>
        <p:nvSpPr>
          <p:cNvPr id="7" name="Text 5"/>
          <p:cNvSpPr txBox="1"/>
          <p:nvPr/>
        </p:nvSpPr>
        <p:spPr>
          <a:xfrm>
            <a:off x="1234440" y="1700784"/>
            <a:ext cx="1737360" cy="365760"/>
          </a:xfrm>
          <a:prstGeom prst="rect">
            <a:avLst/>
          </a:prstGeom>
          <a:noFill/>
          <a:ln/>
        </p:spPr>
        <p:txBody>
          <a:bodyPr wrap="square" lIns="0" tIns="0" rIns="0" bIns="0" rtlCol="0" anchor="t"/>
          <a:lstStyle/>
          <a:p>
            <a:pPr indent="0" marL="0">
              <a:buNone/>
            </a:pPr>
            <a:r>
              <a:rPr lang="en-US" sz="850" dirty="0">
                <a:solidFill>
                  <a:srgbClr val="5B6468"/>
                </a:solidFill>
                <a:latin typeface="Arial" pitchFamily="34" charset="0"/>
                <a:ea typeface="Arial" pitchFamily="34" charset="-122"/>
                <a:cs typeface="Arial" pitchFamily="34" charset="-120"/>
              </a:rPr>
              <a:t>Bewohnerin seit 1994, Höngg</a:t>
            </a:r>
            <a:endParaRPr lang="en-US" sz="850" dirty="0"/>
          </a:p>
        </p:txBody>
      </p:sp>
      <p:sp>
        <p:nvSpPr>
          <p:cNvPr id="8" name="Text 6"/>
          <p:cNvSpPr txBox="1"/>
          <p:nvPr/>
        </p:nvSpPr>
        <p:spPr>
          <a:xfrm>
            <a:off x="640080" y="2148840"/>
            <a:ext cx="2286000" cy="1417320"/>
          </a:xfrm>
          <a:prstGeom prst="rect">
            <a:avLst/>
          </a:prstGeom>
          <a:noFill/>
          <a:ln/>
        </p:spPr>
        <p:txBody>
          <a:bodyPr wrap="square" lIns="0" tIns="0" rIns="0" bIns="0" rtlCol="0" anchor="t"/>
          <a:lstStyle/>
          <a:p>
            <a:pPr indent="0" marL="0">
              <a:buNone/>
            </a:pPr>
            <a:r>
              <a:rPr lang="en-US" sz="1000" dirty="0">
                <a:solidFill>
                  <a:srgbClr val="1C2326"/>
                </a:solidFill>
                <a:latin typeface="Arial" pitchFamily="34" charset="0"/>
                <a:ea typeface="Arial" pitchFamily="34" charset="-122"/>
                <a:cs typeface="Arial" pitchFamily="34" charset="-120"/>
              </a:rPr>
              <a:t>Der Brief: Sanierung, alle raus. Bei 0,11 % Leerstand findet sie nichts, im Neubau kostet es 30 % mehr. Jede dritte Gekündigte muss die Gemeinde verlassen.</a:t>
            </a:r>
            <a:endParaRPr lang="en-US" sz="1000" dirty="0"/>
          </a:p>
        </p:txBody>
      </p:sp>
      <p:sp>
        <p:nvSpPr>
          <p:cNvPr id="9" name="Text 7"/>
          <p:cNvSpPr txBox="1"/>
          <p:nvPr/>
        </p:nvSpPr>
        <p:spPr>
          <a:xfrm>
            <a:off x="640080" y="3657600"/>
            <a:ext cx="2286000" cy="548640"/>
          </a:xfrm>
          <a:prstGeom prst="rect">
            <a:avLst/>
          </a:prstGeom>
          <a:noFill/>
          <a:ln/>
        </p:spPr>
        <p:txBody>
          <a:bodyPr wrap="square" lIns="0" tIns="0" rIns="0" bIns="0" rtlCol="0" anchor="t"/>
          <a:lstStyle/>
          <a:p>
            <a:pPr indent="0" marL="0">
              <a:buNone/>
            </a:pPr>
            <a:r>
              <a:rPr lang="en-US" sz="1000" b="1" dirty="0">
                <a:solidFill>
                  <a:srgbClr val="24414A"/>
                </a:solidFill>
                <a:latin typeface="Arial" pitchFamily="34" charset="0"/>
                <a:ea typeface="Arial" pitchFamily="34" charset="-122"/>
                <a:cs typeface="Arial" pitchFamily="34" charset="-120"/>
              </a:rPr>
              <a:t>Will: bleiben. Und wissen, wann sie zurück kann.</a:t>
            </a:r>
            <a:endParaRPr lang="en-US" sz="1000" dirty="0"/>
          </a:p>
        </p:txBody>
      </p:sp>
      <p:sp>
        <p:nvSpPr>
          <p:cNvPr id="10" name="Shape 8"/>
          <p:cNvSpPr/>
          <p:nvPr/>
        </p:nvSpPr>
        <p:spPr>
          <a:xfrm>
            <a:off x="3246120" y="1280160"/>
            <a:ext cx="2651760" cy="3291840"/>
          </a:xfrm>
          <a:prstGeom prst="rect">
            <a:avLst/>
          </a:prstGeom>
          <a:solidFill>
            <a:srgbClr val="FFFFFF"/>
          </a:solidFill>
          <a:ln w="9525">
            <a:solidFill>
              <a:srgbClr val="E3DDD4"/>
            </a:solidFill>
            <a:prstDash val="solid"/>
          </a:ln>
        </p:spPr>
      </p:sp>
      <p:sp>
        <p:nvSpPr>
          <p:cNvPr id="11" name="Shape 9"/>
          <p:cNvSpPr/>
          <p:nvPr/>
        </p:nvSpPr>
        <p:spPr>
          <a:xfrm>
            <a:off x="3429000" y="1463040"/>
            <a:ext cx="457200" cy="457200"/>
          </a:xfrm>
          <a:prstGeom prst="rect">
            <a:avLst/>
          </a:prstGeom>
          <a:solidFill>
            <a:srgbClr val="24414A"/>
          </a:solidFill>
          <a:ln w="12700">
            <a:solidFill>
              <a:srgbClr val="24414A"/>
            </a:solidFill>
            <a:prstDash val="solid"/>
          </a:ln>
        </p:spPr>
      </p:sp>
      <p:sp>
        <p:nvSpPr>
          <p:cNvPr id="12" name="Text 10"/>
          <p:cNvSpPr txBox="1"/>
          <p:nvPr/>
        </p:nvSpPr>
        <p:spPr>
          <a:xfrm>
            <a:off x="3429000" y="14630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SK</a:t>
            </a:r>
            <a:endParaRPr lang="en-US" sz="1400" dirty="0"/>
          </a:p>
        </p:txBody>
      </p:sp>
      <p:sp>
        <p:nvSpPr>
          <p:cNvPr id="13" name="Text 11"/>
          <p:cNvSpPr txBox="1"/>
          <p:nvPr/>
        </p:nvSpPr>
        <p:spPr>
          <a:xfrm>
            <a:off x="4023360" y="1444752"/>
            <a:ext cx="1737360" cy="256032"/>
          </a:xfrm>
          <a:prstGeom prst="rect">
            <a:avLst/>
          </a:prstGeom>
          <a:noFill/>
          <a:ln/>
        </p:spPr>
        <p:txBody>
          <a:bodyPr wrap="square" lIns="0" tIns="0" rIns="0" bIns="0" rtlCol="0" anchor="ctr"/>
          <a:lstStyle/>
          <a:p>
            <a:pPr indent="0" marL="0">
              <a:buNone/>
            </a:pPr>
            <a:r>
              <a:rPr lang="en-US" sz="1300" b="1" dirty="0">
                <a:solidFill>
                  <a:srgbClr val="1C2326"/>
                </a:solidFill>
                <a:latin typeface="Arial" pitchFamily="34" charset="0"/>
                <a:ea typeface="Arial" pitchFamily="34" charset="-122"/>
                <a:cs typeface="Arial" pitchFamily="34" charset="-120"/>
              </a:rPr>
              <a:t>Sandra Keller, 44</a:t>
            </a:r>
            <a:endParaRPr lang="en-US" sz="1300" dirty="0"/>
          </a:p>
        </p:txBody>
      </p:sp>
      <p:sp>
        <p:nvSpPr>
          <p:cNvPr id="14" name="Text 12"/>
          <p:cNvSpPr txBox="1"/>
          <p:nvPr/>
        </p:nvSpPr>
        <p:spPr>
          <a:xfrm>
            <a:off x="4023360" y="1700784"/>
            <a:ext cx="1737360" cy="365760"/>
          </a:xfrm>
          <a:prstGeom prst="rect">
            <a:avLst/>
          </a:prstGeom>
          <a:noFill/>
          <a:ln/>
        </p:spPr>
        <p:txBody>
          <a:bodyPr wrap="square" lIns="0" tIns="0" rIns="0" bIns="0" rtlCol="0" anchor="t"/>
          <a:lstStyle/>
          <a:p>
            <a:pPr indent="0" marL="0">
              <a:buNone/>
            </a:pPr>
            <a:r>
              <a:rPr lang="en-US" sz="850" dirty="0">
                <a:solidFill>
                  <a:srgbClr val="5B6468"/>
                </a:solidFill>
                <a:latin typeface="Arial" pitchFamily="34" charset="0"/>
                <a:ea typeface="Arial" pitchFamily="34" charset="-122"/>
                <a:cs typeface="Arial" pitchFamily="34" charset="-120"/>
              </a:rPr>
              <a:t>Bewirtschafterin, Genossenschaft mit 1'200 Wohnungen</a:t>
            </a:r>
            <a:endParaRPr lang="en-US" sz="850" dirty="0"/>
          </a:p>
        </p:txBody>
      </p:sp>
      <p:sp>
        <p:nvSpPr>
          <p:cNvPr id="15" name="Text 13"/>
          <p:cNvSpPr txBox="1"/>
          <p:nvPr/>
        </p:nvSpPr>
        <p:spPr>
          <a:xfrm>
            <a:off x="3429000" y="2148840"/>
            <a:ext cx="2286000" cy="1417320"/>
          </a:xfrm>
          <a:prstGeom prst="rect">
            <a:avLst/>
          </a:prstGeom>
          <a:noFill/>
          <a:ln/>
        </p:spPr>
        <p:txBody>
          <a:bodyPr wrap="square" lIns="0" tIns="0" rIns="0" bIns="0" rtlCol="0" anchor="t"/>
          <a:lstStyle/>
          <a:p>
            <a:pPr indent="0" marL="0">
              <a:buNone/>
            </a:pPr>
            <a:r>
              <a:rPr lang="en-US" sz="1000" dirty="0">
                <a:solidFill>
                  <a:srgbClr val="1C2326"/>
                </a:solidFill>
                <a:latin typeface="Arial" pitchFamily="34" charset="0"/>
                <a:ea typeface="Arial" pitchFamily="34" charset="-122"/>
                <a:cs typeface="Arial" pitchFamily="34" charset="-120"/>
              </a:rPr>
              <a:t>49 Mietparteien, drei Etappen, elf freie Wohnungen. Alles in Excel und E-Mails, vierfacher Aufwand. Verschiebt sich der Bau, fängt sie von vorne an.</a:t>
            </a:r>
            <a:endParaRPr lang="en-US" sz="1000" dirty="0"/>
          </a:p>
        </p:txBody>
      </p:sp>
      <p:sp>
        <p:nvSpPr>
          <p:cNvPr id="16" name="Text 14"/>
          <p:cNvSpPr txBox="1"/>
          <p:nvPr/>
        </p:nvSpPr>
        <p:spPr>
          <a:xfrm>
            <a:off x="3429000" y="3657600"/>
            <a:ext cx="2286000" cy="548640"/>
          </a:xfrm>
          <a:prstGeom prst="rect">
            <a:avLst/>
          </a:prstGeom>
          <a:noFill/>
          <a:ln/>
        </p:spPr>
        <p:txBody>
          <a:bodyPr wrap="square" lIns="0" tIns="0" rIns="0" bIns="0" rtlCol="0" anchor="t"/>
          <a:lstStyle/>
          <a:p>
            <a:pPr indent="0" marL="0">
              <a:buNone/>
            </a:pPr>
            <a:r>
              <a:rPr lang="en-US" sz="1000" b="1" dirty="0">
                <a:solidFill>
                  <a:srgbClr val="24414A"/>
                </a:solidFill>
                <a:latin typeface="Arial" pitchFamily="34" charset="0"/>
                <a:ea typeface="Arial" pitchFamily="34" charset="-122"/>
                <a:cs typeface="Arial" pitchFamily="34" charset="-120"/>
              </a:rPr>
              <a:t>Will: einen Plan, der bei Änderungen hält.</a:t>
            </a:r>
            <a:endParaRPr lang="en-US" sz="1000" dirty="0"/>
          </a:p>
        </p:txBody>
      </p:sp>
      <p:sp>
        <p:nvSpPr>
          <p:cNvPr id="17" name="Shape 15"/>
          <p:cNvSpPr/>
          <p:nvPr/>
        </p:nvSpPr>
        <p:spPr>
          <a:xfrm>
            <a:off x="6035040" y="1280160"/>
            <a:ext cx="2651760" cy="3291840"/>
          </a:xfrm>
          <a:prstGeom prst="rect">
            <a:avLst/>
          </a:prstGeom>
          <a:solidFill>
            <a:srgbClr val="FDEBDD"/>
          </a:solidFill>
          <a:ln w="9525">
            <a:solidFill>
              <a:srgbClr val="FDEBDD"/>
            </a:solidFill>
            <a:prstDash val="solid"/>
          </a:ln>
        </p:spPr>
      </p:sp>
      <p:sp>
        <p:nvSpPr>
          <p:cNvPr id="18" name="Shape 16"/>
          <p:cNvSpPr/>
          <p:nvPr/>
        </p:nvSpPr>
        <p:spPr>
          <a:xfrm>
            <a:off x="6217920" y="1463040"/>
            <a:ext cx="457200" cy="457200"/>
          </a:xfrm>
          <a:prstGeom prst="rect">
            <a:avLst/>
          </a:prstGeom>
          <a:solidFill>
            <a:srgbClr val="B8460E"/>
          </a:solidFill>
          <a:ln w="12700">
            <a:solidFill>
              <a:srgbClr val="B8460E"/>
            </a:solidFill>
            <a:prstDash val="solid"/>
          </a:ln>
        </p:spPr>
      </p:sp>
      <p:sp>
        <p:nvSpPr>
          <p:cNvPr id="19" name="Text 17"/>
          <p:cNvSpPr txBox="1"/>
          <p:nvPr/>
        </p:nvSpPr>
        <p:spPr>
          <a:xfrm>
            <a:off x="6217920" y="14630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RH</a:t>
            </a:r>
            <a:endParaRPr lang="en-US" sz="1400" dirty="0"/>
          </a:p>
        </p:txBody>
      </p:sp>
      <p:sp>
        <p:nvSpPr>
          <p:cNvPr id="20" name="Text 18"/>
          <p:cNvSpPr txBox="1"/>
          <p:nvPr/>
        </p:nvSpPr>
        <p:spPr>
          <a:xfrm>
            <a:off x="6812280" y="1444752"/>
            <a:ext cx="1737360" cy="256032"/>
          </a:xfrm>
          <a:prstGeom prst="rect">
            <a:avLst/>
          </a:prstGeom>
          <a:noFill/>
          <a:ln/>
        </p:spPr>
        <p:txBody>
          <a:bodyPr wrap="square" lIns="0" tIns="0" rIns="0" bIns="0" rtlCol="0" anchor="ctr"/>
          <a:lstStyle/>
          <a:p>
            <a:pPr indent="0" marL="0">
              <a:buNone/>
            </a:pPr>
            <a:r>
              <a:rPr lang="en-US" sz="1300" b="1" dirty="0">
                <a:solidFill>
                  <a:srgbClr val="1C2326"/>
                </a:solidFill>
                <a:latin typeface="Arial" pitchFamily="34" charset="0"/>
                <a:ea typeface="Arial" pitchFamily="34" charset="-122"/>
                <a:cs typeface="Arial" pitchFamily="34" charset="-120"/>
              </a:rPr>
              <a:t>Reto Huber, 58</a:t>
            </a:r>
            <a:endParaRPr lang="en-US" sz="1300" dirty="0"/>
          </a:p>
        </p:txBody>
      </p:sp>
      <p:sp>
        <p:nvSpPr>
          <p:cNvPr id="21" name="Text 19"/>
          <p:cNvSpPr txBox="1"/>
          <p:nvPr/>
        </p:nvSpPr>
        <p:spPr>
          <a:xfrm>
            <a:off x="6812280" y="1700784"/>
            <a:ext cx="1737360" cy="365760"/>
          </a:xfrm>
          <a:prstGeom prst="rect">
            <a:avLst/>
          </a:prstGeom>
          <a:noFill/>
          <a:ln/>
        </p:spPr>
        <p:txBody>
          <a:bodyPr wrap="square" lIns="0" tIns="0" rIns="0" bIns="0" rtlCol="0" anchor="t"/>
          <a:lstStyle/>
          <a:p>
            <a:pPr indent="0" marL="0">
              <a:buNone/>
            </a:pPr>
            <a:r>
              <a:rPr lang="en-US" sz="850" dirty="0">
                <a:solidFill>
                  <a:srgbClr val="5B6468"/>
                </a:solidFill>
                <a:latin typeface="Arial" pitchFamily="34" charset="0"/>
                <a:ea typeface="Arial" pitchFamily="34" charset="-122"/>
                <a:cs typeface="Arial" pitchFamily="34" charset="-120"/>
              </a:rPr>
              <a:t>Vorstand, entscheidet und zahlt</a:t>
            </a:r>
            <a:endParaRPr lang="en-US" sz="850" dirty="0"/>
          </a:p>
        </p:txBody>
      </p:sp>
      <p:sp>
        <p:nvSpPr>
          <p:cNvPr id="22" name="Text 20"/>
          <p:cNvSpPr txBox="1"/>
          <p:nvPr/>
        </p:nvSpPr>
        <p:spPr>
          <a:xfrm>
            <a:off x="6217920" y="2148840"/>
            <a:ext cx="2286000" cy="1417320"/>
          </a:xfrm>
          <a:prstGeom prst="rect">
            <a:avLst/>
          </a:prstGeom>
          <a:noFill/>
          <a:ln/>
        </p:spPr>
        <p:txBody>
          <a:bodyPr wrap="square" lIns="0" tIns="0" rIns="0" bIns="0" rtlCol="0" anchor="t"/>
          <a:lstStyle/>
          <a:p>
            <a:pPr indent="0" marL="0">
              <a:buNone/>
            </a:pPr>
            <a:r>
              <a:rPr lang="en-US" sz="1000" dirty="0">
                <a:solidFill>
                  <a:srgbClr val="1C2326"/>
                </a:solidFill>
                <a:latin typeface="Arial" pitchFamily="34" charset="0"/>
                <a:ea typeface="Arial" pitchFamily="34" charset="-122"/>
                <a:cs typeface="Arial" pitchFamily="34" charset="-120"/>
              </a:rPr>
              <a:t>Leerkündigung heisst Schlichtungsbehörde, Schlagzeilen, ein Jahr Stillstand (Sugus-Häuser). Zürich verlangt neu den Nachweis, dass bewohnt oder etappiert geprüft wurde.</a:t>
            </a:r>
            <a:endParaRPr lang="en-US" sz="1000" dirty="0"/>
          </a:p>
        </p:txBody>
      </p:sp>
      <p:sp>
        <p:nvSpPr>
          <p:cNvPr id="23" name="Text 21"/>
          <p:cNvSpPr txBox="1"/>
          <p:nvPr/>
        </p:nvSpPr>
        <p:spPr>
          <a:xfrm>
            <a:off x="6217920" y="3657600"/>
            <a:ext cx="2286000" cy="548640"/>
          </a:xfrm>
          <a:prstGeom prst="rect">
            <a:avLst/>
          </a:prstGeom>
          <a:noFill/>
          <a:ln/>
        </p:spPr>
        <p:txBody>
          <a:bodyPr wrap="square" lIns="0" tIns="0" rIns="0" bIns="0" rtlCol="0" anchor="t"/>
          <a:lstStyle/>
          <a:p>
            <a:pPr indent="0" marL="0">
              <a:buNone/>
            </a:pPr>
            <a:r>
              <a:rPr lang="en-US" sz="1000" b="1" dirty="0">
                <a:solidFill>
                  <a:srgbClr val="B8460E"/>
                </a:solidFill>
                <a:latin typeface="Arial" pitchFamily="34" charset="0"/>
                <a:ea typeface="Arial" pitchFamily="34" charset="-122"/>
                <a:cs typeface="Arial" pitchFamily="34" charset="-120"/>
              </a:rPr>
              <a:t>Will: Sanierung im Termin, rechtssicher, ohne Rauswurf.</a:t>
            </a:r>
            <a:endParaRPr lang="en-US" sz="1000" dirty="0"/>
          </a:p>
        </p:txBody>
      </p:sp>
      <p:sp>
        <p:nvSpPr>
          <p:cNvPr id="24" name="Shape 22"/>
          <p:cNvSpPr/>
          <p:nvPr/>
        </p:nvSpPr>
        <p:spPr>
          <a:xfrm>
            <a:off x="6217920" y="4224528"/>
            <a:ext cx="914400" cy="237744"/>
          </a:xfrm>
          <a:prstGeom prst="rect">
            <a:avLst/>
          </a:prstGeom>
          <a:solidFill>
            <a:srgbClr val="B8460E"/>
          </a:solidFill>
          <a:ln w="12700">
            <a:solidFill>
              <a:srgbClr val="B8460E"/>
            </a:solidFill>
            <a:prstDash val="solid"/>
          </a:ln>
        </p:spPr>
      </p:sp>
      <p:sp>
        <p:nvSpPr>
          <p:cNvPr id="25" name="Text 23"/>
          <p:cNvSpPr txBox="1"/>
          <p:nvPr/>
        </p:nvSpPr>
        <p:spPr>
          <a:xfrm>
            <a:off x="6217920" y="4224528"/>
            <a:ext cx="91440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zahlt</a:t>
            </a:r>
            <a:endParaRPr lang="en-US" sz="900" dirty="0"/>
          </a:p>
        </p:txBody>
      </p:sp>
      <p:sp>
        <p:nvSpPr>
          <p:cNvPr id="26" name="Text 24"/>
          <p:cNvSpPr txBox="1"/>
          <p:nvPr/>
        </p:nvSpPr>
        <p:spPr>
          <a:xfrm>
            <a:off x="457200" y="4599432"/>
            <a:ext cx="8229600" cy="201168"/>
          </a:xfrm>
          <a:prstGeom prst="rect">
            <a:avLst/>
          </a:prstGeom>
          <a:noFill/>
          <a:ln/>
        </p:spPr>
        <p:txBody>
          <a:bodyPr wrap="square" lIns="0" tIns="0" rIns="0" bIns="0" rtlCol="0" anchor="ctr"/>
          <a:lstStyle/>
          <a:p>
            <a:pPr indent="0" marL="0">
              <a:buNone/>
            </a:pPr>
            <a:r>
              <a:rPr lang="en-US" sz="750" dirty="0">
                <a:solidFill>
                  <a:srgbClr val="5B6468"/>
                </a:solidFill>
                <a:latin typeface="Arial" pitchFamily="34" charset="0"/>
                <a:ea typeface="Arial" pitchFamily="34" charset="-122"/>
                <a:cs typeface="Arial" pitchFamily="34" charset="-120"/>
              </a:rPr>
              <a:t>Personas, Namen fiktiv. Zahlen: Stadt Zürich 2026, Statistik Stadt Zürich via 20 Minuten, ZKB 2024, bgnzwo 2026, SRF/NZZ zu den Sugus-Häusern.</a:t>
            </a:r>
            <a:endParaRPr lang="en-US" sz="750" dirty="0"/>
          </a:p>
        </p:txBody>
      </p:sp>
      <p:sp>
        <p:nvSpPr>
          <p:cNvPr id="25" name="Slide Number Placeholder 0"/>
          <p:cNvSpPr>
            <a:spLocks noGrp="1"/>
          </p:cNvSpPr>
          <p:nvPr>
            <p:ph type="sldNum" sz="quarter" idx="4294967295"/>
          </p:nvPr>
        </p:nvSpPr>
        <p:spPr>
          <a:xfrm>
            <a:off x="8321040" y="4791456"/>
            <a:ext cx="365760" cy="274320"/>
          </a:xfrm>
          <a:prstGeom prst="rect">
            <a:avLst/>
          </a:prstGeom>
          <a:extLst>
            <a:ext uri="{C572A759-6A51-4108-AA02-DFA0A04FC94B}">
              <ma14:wrappingTextBoxFlag xmlns:ma14="http://schemas.microsoft.com/office/mac/drawingml/2011/main" val="0"/>
            </a:ext>
          </a:extLst>
        </p:spPr>
        <p:txBody>
          <a:bodyPr/>
          <a:lstStyle>
            <a:lvl1pPr>
              <a:defRPr sz="8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822960"/>
          </a:xfrm>
          <a:prstGeom prst="rect">
            <a:avLst/>
          </a:prstGeom>
          <a:noFill/>
          <a:ln/>
        </p:spPr>
        <p:txBody>
          <a:bodyPr wrap="square" lIns="0" tIns="0" rIns="0" bIns="0" rtlCol="0" anchor="t"/>
          <a:lstStyle/>
          <a:p>
            <a:pPr indent="0" marL="0">
              <a:buNone/>
            </a:pPr>
            <a:r>
              <a:rPr lang="en-US" sz="3000" b="1" dirty="0">
                <a:solidFill>
                  <a:schemeClr val="tx1"/>
                </a:solidFill>
              </a:rPr>
              <a:t>Es geht anders: die Rochade. Heute ist sie Handarbeit.</a:t>
            </a:r>
            <a:endParaRPr lang="en-US" sz="3000" dirty="0"/>
          </a:p>
        </p:txBody>
      </p:sp>
      <p:sp>
        <p:nvSpPr>
          <p:cNvPr id="3" name="Shape 1"/>
          <p:cNvSpPr/>
          <p:nvPr/>
        </p:nvSpPr>
        <p:spPr>
          <a:xfrm>
            <a:off x="457200" y="1280160"/>
            <a:ext cx="4846320" cy="3291840"/>
          </a:xfrm>
          <a:prstGeom prst="rect">
            <a:avLst/>
          </a:prstGeom>
          <a:solidFill>
            <a:srgbClr val="FFFFFF"/>
          </a:solidFill>
          <a:ln w="9525">
            <a:solidFill>
              <a:srgbClr val="E3DDD4"/>
            </a:solidFill>
            <a:prstDash val="solid"/>
          </a:ln>
        </p:spPr>
      </p:sp>
      <p:sp>
        <p:nvSpPr>
          <p:cNvPr id="4" name="Shape 2"/>
          <p:cNvSpPr/>
          <p:nvPr/>
        </p:nvSpPr>
        <p:spPr>
          <a:xfrm>
            <a:off x="731520" y="1828800"/>
            <a:ext cx="1280160" cy="502920"/>
          </a:xfrm>
          <a:prstGeom prst="rect">
            <a:avLst/>
          </a:prstGeom>
          <a:solidFill>
            <a:srgbClr val="1C2326"/>
          </a:solidFill>
          <a:ln w="12700">
            <a:solidFill>
              <a:srgbClr val="1C2326"/>
            </a:solidFill>
            <a:prstDash val="solid"/>
          </a:ln>
        </p:spPr>
      </p:sp>
      <p:sp>
        <p:nvSpPr>
          <p:cNvPr id="5" name="Text 3"/>
          <p:cNvSpPr txBox="1"/>
          <p:nvPr/>
        </p:nvSpPr>
        <p:spPr>
          <a:xfrm>
            <a:off x="731520" y="1828800"/>
            <a:ext cx="128016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Frau Meier</a:t>
            </a:r>
            <a:endParaRPr lang="en-US" sz="1100" dirty="0"/>
          </a:p>
        </p:txBody>
      </p:sp>
      <p:sp>
        <p:nvSpPr>
          <p:cNvPr id="6" name="Text 4"/>
          <p:cNvSpPr txBox="1"/>
          <p:nvPr/>
        </p:nvSpPr>
        <p:spPr>
          <a:xfrm>
            <a:off x="640080" y="2423160"/>
            <a:ext cx="1463040" cy="274320"/>
          </a:xfrm>
          <a:prstGeom prst="rect">
            <a:avLst/>
          </a:prstGeom>
          <a:noFill/>
          <a:ln/>
        </p:spPr>
        <p:txBody>
          <a:bodyPr wrap="square" lIns="0" tIns="0" rIns="0" bIns="0" rtlCol="0" anchor="ctr"/>
          <a:lstStyle/>
          <a:p>
            <a:pPr algn="ctr" indent="0" marL="0">
              <a:buNone/>
            </a:pPr>
            <a:r>
              <a:rPr lang="en-US" sz="1100" b="1" dirty="0">
                <a:solidFill>
                  <a:srgbClr val="1C2326"/>
                </a:solidFill>
                <a:latin typeface="Arial" pitchFamily="34" charset="0"/>
                <a:ea typeface="Arial" pitchFamily="34" charset="-122"/>
                <a:cs typeface="Arial" pitchFamily="34" charset="-120"/>
              </a:rPr>
              <a:t>Zu Hause</a:t>
            </a:r>
            <a:endParaRPr lang="en-US" sz="1100" dirty="0"/>
          </a:p>
        </p:txBody>
      </p:sp>
      <p:sp>
        <p:nvSpPr>
          <p:cNvPr id="7" name="Text 5"/>
          <p:cNvSpPr txBox="1"/>
          <p:nvPr/>
        </p:nvSpPr>
        <p:spPr>
          <a:xfrm>
            <a:off x="2011680" y="1828800"/>
            <a:ext cx="228600" cy="502920"/>
          </a:xfrm>
          <a:prstGeom prst="rect">
            <a:avLst/>
          </a:prstGeom>
          <a:noFill/>
          <a:ln/>
        </p:spPr>
        <p:txBody>
          <a:bodyPr wrap="square" lIns="0" tIns="0" rIns="0" bIns="0" rtlCol="0" anchor="ctr"/>
          <a:lstStyle/>
          <a:p>
            <a:pPr algn="ctr" indent="0" marL="0">
              <a:buNone/>
            </a:pPr>
            <a:r>
              <a:rPr lang="en-US" sz="1800" b="1" dirty="0">
                <a:solidFill>
                  <a:srgbClr val="F26A1B"/>
                </a:solidFill>
                <a:latin typeface="Arial" pitchFamily="34" charset="0"/>
                <a:ea typeface="Arial" pitchFamily="34" charset="-122"/>
                <a:cs typeface="Arial" pitchFamily="34" charset="-120"/>
              </a:rPr>
              <a:t>→</a:t>
            </a:r>
            <a:endParaRPr lang="en-US" sz="1800" dirty="0"/>
          </a:p>
        </p:txBody>
      </p:sp>
      <p:sp>
        <p:nvSpPr>
          <p:cNvPr id="8" name="Shape 6"/>
          <p:cNvSpPr/>
          <p:nvPr/>
        </p:nvSpPr>
        <p:spPr>
          <a:xfrm>
            <a:off x="2240280" y="1828800"/>
            <a:ext cx="1280160" cy="502920"/>
          </a:xfrm>
          <a:prstGeom prst="rect">
            <a:avLst/>
          </a:prstGeom>
          <a:solidFill>
            <a:srgbClr val="24414A"/>
          </a:solidFill>
          <a:ln w="12700">
            <a:solidFill>
              <a:srgbClr val="24414A"/>
            </a:solidFill>
            <a:prstDash val="solid"/>
          </a:ln>
        </p:spPr>
      </p:sp>
      <p:sp>
        <p:nvSpPr>
          <p:cNvPr id="9" name="Text 7"/>
          <p:cNvSpPr txBox="1"/>
          <p:nvPr/>
        </p:nvSpPr>
        <p:spPr>
          <a:xfrm>
            <a:off x="2240280" y="1828800"/>
            <a:ext cx="128016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Frau Meier</a:t>
            </a:r>
            <a:endParaRPr lang="en-US" sz="1100" dirty="0"/>
          </a:p>
        </p:txBody>
      </p:sp>
      <p:sp>
        <p:nvSpPr>
          <p:cNvPr id="10" name="Text 8"/>
          <p:cNvSpPr txBox="1"/>
          <p:nvPr/>
        </p:nvSpPr>
        <p:spPr>
          <a:xfrm>
            <a:off x="2148840" y="2423160"/>
            <a:ext cx="1463040" cy="274320"/>
          </a:xfrm>
          <a:prstGeom prst="rect">
            <a:avLst/>
          </a:prstGeom>
          <a:noFill/>
          <a:ln/>
        </p:spPr>
        <p:txBody>
          <a:bodyPr wrap="square" lIns="0" tIns="0" rIns="0" bIns="0" rtlCol="0" anchor="ctr"/>
          <a:lstStyle/>
          <a:p>
            <a:pPr algn="ctr" indent="0" marL="0">
              <a:buNone/>
            </a:pPr>
            <a:r>
              <a:rPr lang="en-US" sz="1100" b="1" dirty="0">
                <a:solidFill>
                  <a:srgbClr val="1C2326"/>
                </a:solidFill>
                <a:latin typeface="Arial" pitchFamily="34" charset="0"/>
                <a:ea typeface="Arial" pitchFamily="34" charset="-122"/>
                <a:cs typeface="Arial" pitchFamily="34" charset="-120"/>
              </a:rPr>
              <a:t>Rochade-Wohnung</a:t>
            </a:r>
            <a:endParaRPr lang="en-US" sz="1100" dirty="0"/>
          </a:p>
        </p:txBody>
      </p:sp>
      <p:sp>
        <p:nvSpPr>
          <p:cNvPr id="11" name="Text 9"/>
          <p:cNvSpPr txBox="1"/>
          <p:nvPr/>
        </p:nvSpPr>
        <p:spPr>
          <a:xfrm>
            <a:off x="3520440" y="1828800"/>
            <a:ext cx="228600" cy="502920"/>
          </a:xfrm>
          <a:prstGeom prst="rect">
            <a:avLst/>
          </a:prstGeom>
          <a:noFill/>
          <a:ln/>
        </p:spPr>
        <p:txBody>
          <a:bodyPr wrap="square" lIns="0" tIns="0" rIns="0" bIns="0" rtlCol="0" anchor="ctr"/>
          <a:lstStyle/>
          <a:p>
            <a:pPr algn="ctr" indent="0" marL="0">
              <a:buNone/>
            </a:pPr>
            <a:r>
              <a:rPr lang="en-US" sz="1800" b="1" dirty="0">
                <a:solidFill>
                  <a:srgbClr val="F26A1B"/>
                </a:solidFill>
                <a:latin typeface="Arial" pitchFamily="34" charset="0"/>
                <a:ea typeface="Arial" pitchFamily="34" charset="-122"/>
                <a:cs typeface="Arial" pitchFamily="34" charset="-120"/>
              </a:rPr>
              <a:t>→</a:t>
            </a:r>
            <a:endParaRPr lang="en-US" sz="1800" dirty="0"/>
          </a:p>
        </p:txBody>
      </p:sp>
      <p:sp>
        <p:nvSpPr>
          <p:cNvPr id="12" name="Shape 10"/>
          <p:cNvSpPr/>
          <p:nvPr/>
        </p:nvSpPr>
        <p:spPr>
          <a:xfrm>
            <a:off x="3749040" y="1828800"/>
            <a:ext cx="1280160" cy="502920"/>
          </a:xfrm>
          <a:prstGeom prst="rect">
            <a:avLst/>
          </a:prstGeom>
          <a:solidFill>
            <a:srgbClr val="1C2326"/>
          </a:solidFill>
          <a:ln w="12700">
            <a:solidFill>
              <a:srgbClr val="1C2326"/>
            </a:solidFill>
            <a:prstDash val="solid"/>
          </a:ln>
        </p:spPr>
      </p:sp>
      <p:sp>
        <p:nvSpPr>
          <p:cNvPr id="13" name="Text 11"/>
          <p:cNvSpPr txBox="1"/>
          <p:nvPr/>
        </p:nvSpPr>
        <p:spPr>
          <a:xfrm>
            <a:off x="3749040" y="1828800"/>
            <a:ext cx="128016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Frau Meier</a:t>
            </a:r>
            <a:endParaRPr lang="en-US" sz="1100" dirty="0"/>
          </a:p>
        </p:txBody>
      </p:sp>
      <p:sp>
        <p:nvSpPr>
          <p:cNvPr id="14" name="Text 12"/>
          <p:cNvSpPr txBox="1"/>
          <p:nvPr/>
        </p:nvSpPr>
        <p:spPr>
          <a:xfrm>
            <a:off x="3657600" y="2423160"/>
            <a:ext cx="1463040" cy="274320"/>
          </a:xfrm>
          <a:prstGeom prst="rect">
            <a:avLst/>
          </a:prstGeom>
          <a:noFill/>
          <a:ln/>
        </p:spPr>
        <p:txBody>
          <a:bodyPr wrap="square" lIns="0" tIns="0" rIns="0" bIns="0" rtlCol="0" anchor="ctr"/>
          <a:lstStyle/>
          <a:p>
            <a:pPr algn="ctr" indent="0" marL="0">
              <a:buNone/>
            </a:pPr>
            <a:r>
              <a:rPr lang="en-US" sz="1100" b="1" dirty="0">
                <a:solidFill>
                  <a:srgbClr val="1C2326"/>
                </a:solidFill>
                <a:latin typeface="Arial" pitchFamily="34" charset="0"/>
                <a:ea typeface="Arial" pitchFamily="34" charset="-122"/>
                <a:cs typeface="Arial" pitchFamily="34" charset="-120"/>
              </a:rPr>
              <a:t>Zurück, saniert</a:t>
            </a:r>
            <a:endParaRPr lang="en-US" sz="1100" dirty="0"/>
          </a:p>
        </p:txBody>
      </p:sp>
      <p:sp>
        <p:nvSpPr>
          <p:cNvPr id="15" name="Shape 13"/>
          <p:cNvSpPr/>
          <p:nvPr/>
        </p:nvSpPr>
        <p:spPr>
          <a:xfrm>
            <a:off x="731520" y="2926080"/>
            <a:ext cx="1280160" cy="502920"/>
          </a:xfrm>
          <a:prstGeom prst="rect">
            <a:avLst/>
          </a:prstGeom>
          <a:solidFill>
            <a:srgbClr val="FDEBDD"/>
          </a:solidFill>
          <a:ln w="9525">
            <a:solidFill>
              <a:srgbClr val="F26A1B"/>
            </a:solidFill>
            <a:prstDash val="dash"/>
          </a:ln>
        </p:spPr>
      </p:sp>
      <p:sp>
        <p:nvSpPr>
          <p:cNvPr id="16" name="Text 14"/>
          <p:cNvSpPr txBox="1"/>
          <p:nvPr/>
        </p:nvSpPr>
        <p:spPr>
          <a:xfrm>
            <a:off x="731520" y="2926080"/>
            <a:ext cx="1280160" cy="502920"/>
          </a:xfrm>
          <a:prstGeom prst="rect">
            <a:avLst/>
          </a:prstGeom>
          <a:noFill/>
          <a:ln/>
        </p:spPr>
        <p:txBody>
          <a:bodyPr wrap="square" lIns="0" tIns="0" rIns="0" bIns="0" rtlCol="0" anchor="ctr"/>
          <a:lstStyle/>
          <a:p>
            <a:pPr algn="ctr" indent="0" marL="0">
              <a:buNone/>
            </a:pPr>
            <a:r>
              <a:rPr lang="en-US" sz="1000" b="1" dirty="0">
                <a:solidFill>
                  <a:srgbClr val="B8460E"/>
                </a:solidFill>
                <a:latin typeface="Arial" pitchFamily="34" charset="0"/>
                <a:ea typeface="Arial" pitchFamily="34" charset="-122"/>
                <a:cs typeface="Arial" pitchFamily="34" charset="-120"/>
              </a:rPr>
              <a:t>Whg. A-02</a:t>
            </a:r>
            <a:endParaRPr lang="en-US" sz="1000" dirty="0"/>
          </a:p>
        </p:txBody>
      </p:sp>
      <p:sp>
        <p:nvSpPr>
          <p:cNvPr id="17" name="Text 15"/>
          <p:cNvSpPr txBox="1"/>
          <p:nvPr/>
        </p:nvSpPr>
        <p:spPr>
          <a:xfrm>
            <a:off x="640080" y="3520440"/>
            <a:ext cx="1463040" cy="274320"/>
          </a:xfrm>
          <a:prstGeom prst="rect">
            <a:avLst/>
          </a:prstGeom>
          <a:noFill/>
          <a:ln/>
        </p:spPr>
        <p:txBody>
          <a:bodyPr wrap="square" lIns="0" tIns="0" rIns="0" bIns="0" rtlCol="0" anchor="ctr"/>
          <a:lstStyle/>
          <a:p>
            <a:pPr algn="ctr" indent="0" marL="0">
              <a:buNone/>
            </a:pPr>
            <a:r>
              <a:rPr lang="en-US" sz="1100" dirty="0">
                <a:solidFill>
                  <a:srgbClr val="5B6468"/>
                </a:solidFill>
                <a:latin typeface="Arial" pitchFamily="34" charset="0"/>
                <a:ea typeface="Arial" pitchFamily="34" charset="-122"/>
                <a:cs typeface="Arial" pitchFamily="34" charset="-120"/>
              </a:rPr>
              <a:t>in Sanierung</a:t>
            </a:r>
            <a:endParaRPr lang="en-US" sz="1100" dirty="0"/>
          </a:p>
        </p:txBody>
      </p:sp>
      <p:sp>
        <p:nvSpPr>
          <p:cNvPr id="18" name="Shape 16"/>
          <p:cNvSpPr/>
          <p:nvPr/>
        </p:nvSpPr>
        <p:spPr>
          <a:xfrm>
            <a:off x="2240280" y="2926080"/>
            <a:ext cx="1280160" cy="502920"/>
          </a:xfrm>
          <a:prstGeom prst="rect">
            <a:avLst/>
          </a:prstGeom>
          <a:solidFill>
            <a:srgbClr val="FAF8F5"/>
          </a:solidFill>
          <a:ln w="9525">
            <a:solidFill>
              <a:srgbClr val="8A8178"/>
            </a:solidFill>
            <a:prstDash val="dash"/>
          </a:ln>
        </p:spPr>
      </p:sp>
      <p:sp>
        <p:nvSpPr>
          <p:cNvPr id="19" name="Text 17"/>
          <p:cNvSpPr txBox="1"/>
          <p:nvPr/>
        </p:nvSpPr>
        <p:spPr>
          <a:xfrm>
            <a:off x="2240280" y="2926080"/>
            <a:ext cx="1280160" cy="502920"/>
          </a:xfrm>
          <a:prstGeom prst="rect">
            <a:avLst/>
          </a:prstGeom>
          <a:noFill/>
          <a:ln/>
        </p:spPr>
        <p:txBody>
          <a:bodyPr wrap="square" lIns="0" tIns="0" rIns="0" bIns="0" rtlCol="0" anchor="ctr"/>
          <a:lstStyle/>
          <a:p>
            <a:pPr algn="ctr" indent="0" marL="0">
              <a:buNone/>
            </a:pPr>
            <a:r>
              <a:rPr lang="en-US" sz="1000" b="1" dirty="0">
                <a:solidFill>
                  <a:srgbClr val="5B6468"/>
                </a:solidFill>
                <a:latin typeface="Arial" pitchFamily="34" charset="0"/>
                <a:ea typeface="Arial" pitchFamily="34" charset="-122"/>
                <a:cs typeface="Arial" pitchFamily="34" charset="-120"/>
              </a:rPr>
              <a:t>Whg. C-01</a:t>
            </a:r>
            <a:endParaRPr lang="en-US" sz="1000" dirty="0"/>
          </a:p>
        </p:txBody>
      </p:sp>
      <p:sp>
        <p:nvSpPr>
          <p:cNvPr id="20" name="Text 18"/>
          <p:cNvSpPr txBox="1"/>
          <p:nvPr/>
        </p:nvSpPr>
        <p:spPr>
          <a:xfrm>
            <a:off x="2148840" y="3520440"/>
            <a:ext cx="1463040" cy="274320"/>
          </a:xfrm>
          <a:prstGeom prst="rect">
            <a:avLst/>
          </a:prstGeom>
          <a:noFill/>
          <a:ln/>
        </p:spPr>
        <p:txBody>
          <a:bodyPr wrap="square" lIns="0" tIns="0" rIns="0" bIns="0" rtlCol="0" anchor="ctr"/>
          <a:lstStyle/>
          <a:p>
            <a:pPr algn="ctr" indent="0" marL="0">
              <a:buNone/>
            </a:pPr>
            <a:r>
              <a:rPr lang="en-US" sz="1100" dirty="0">
                <a:solidFill>
                  <a:srgbClr val="5B6468"/>
                </a:solidFill>
                <a:latin typeface="Arial" pitchFamily="34" charset="0"/>
                <a:ea typeface="Arial" pitchFamily="34" charset="-122"/>
                <a:cs typeface="Arial" pitchFamily="34" charset="-120"/>
              </a:rPr>
              <a:t>frei, 5 Monate</a:t>
            </a:r>
            <a:endParaRPr lang="en-US" sz="1100" dirty="0"/>
          </a:p>
        </p:txBody>
      </p:sp>
      <p:sp>
        <p:nvSpPr>
          <p:cNvPr id="21" name="Shape 19"/>
          <p:cNvSpPr/>
          <p:nvPr/>
        </p:nvSpPr>
        <p:spPr>
          <a:xfrm>
            <a:off x="3749040" y="2926080"/>
            <a:ext cx="1280160" cy="502920"/>
          </a:xfrm>
          <a:prstGeom prst="rect">
            <a:avLst/>
          </a:prstGeom>
          <a:solidFill>
            <a:srgbClr val="276B43"/>
          </a:solidFill>
          <a:ln w="12700">
            <a:solidFill>
              <a:srgbClr val="276B43"/>
            </a:solidFill>
            <a:prstDash val="solid"/>
          </a:ln>
        </p:spPr>
      </p:sp>
      <p:sp>
        <p:nvSpPr>
          <p:cNvPr id="22" name="Text 20"/>
          <p:cNvSpPr txBox="1"/>
          <p:nvPr/>
        </p:nvSpPr>
        <p:spPr>
          <a:xfrm>
            <a:off x="3749040" y="2926080"/>
            <a:ext cx="128016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Whg. A-02</a:t>
            </a:r>
            <a:endParaRPr lang="en-US" sz="1000" dirty="0"/>
          </a:p>
        </p:txBody>
      </p:sp>
      <p:sp>
        <p:nvSpPr>
          <p:cNvPr id="23" name="Text 21"/>
          <p:cNvSpPr txBox="1"/>
          <p:nvPr/>
        </p:nvSpPr>
        <p:spPr>
          <a:xfrm>
            <a:off x="3611880" y="3520440"/>
            <a:ext cx="1554480" cy="274320"/>
          </a:xfrm>
          <a:prstGeom prst="rect">
            <a:avLst/>
          </a:prstGeom>
          <a:noFill/>
          <a:ln/>
        </p:spPr>
        <p:txBody>
          <a:bodyPr wrap="square" lIns="0" tIns="0" rIns="0" bIns="0" rtlCol="0" anchor="ctr"/>
          <a:lstStyle/>
          <a:p>
            <a:pPr algn="ctr" indent="0" marL="0">
              <a:buNone/>
            </a:pPr>
            <a:r>
              <a:rPr lang="en-US" sz="1100" dirty="0">
                <a:solidFill>
                  <a:srgbClr val="5B6468"/>
                </a:solidFill>
                <a:latin typeface="Arial" pitchFamily="34" charset="0"/>
                <a:ea typeface="Arial" pitchFamily="34" charset="-122"/>
                <a:cs typeface="Arial" pitchFamily="34" charset="-120"/>
              </a:rPr>
              <a:t>saniert, zurück</a:t>
            </a:r>
            <a:endParaRPr lang="en-US" sz="1100" dirty="0"/>
          </a:p>
        </p:txBody>
      </p:sp>
      <p:sp>
        <p:nvSpPr>
          <p:cNvPr id="24" name="Text 22"/>
          <p:cNvSpPr txBox="1"/>
          <p:nvPr/>
        </p:nvSpPr>
        <p:spPr>
          <a:xfrm>
            <a:off x="731520" y="4023360"/>
            <a:ext cx="4297680" cy="365760"/>
          </a:xfrm>
          <a:prstGeom prst="rect">
            <a:avLst/>
          </a:prstGeom>
          <a:noFill/>
          <a:ln/>
        </p:spPr>
        <p:txBody>
          <a:bodyPr wrap="square" lIns="0" tIns="0" rIns="0" bIns="0" rtlCol="0" anchor="ctr"/>
          <a:lstStyle/>
          <a:p>
            <a:pPr indent="0" marL="0">
              <a:buNone/>
            </a:pPr>
            <a:r>
              <a:rPr lang="en-US" sz="1300" b="1" dirty="0">
                <a:solidFill>
                  <a:srgbClr val="1C2326"/>
                </a:solidFill>
                <a:latin typeface="Arial" pitchFamily="34" charset="0"/>
                <a:ea typeface="Arial" pitchFamily="34" charset="-122"/>
                <a:cs typeface="Arial" pitchFamily="34" charset="-120"/>
              </a:rPr>
              <a:t>Niemand wird gekündigt. Der Mietvertrag bleibt. Alle kommen zurück.</a:t>
            </a:r>
            <a:endParaRPr lang="en-US" sz="1300" dirty="0"/>
          </a:p>
        </p:txBody>
      </p:sp>
      <p:sp>
        <p:nvSpPr>
          <p:cNvPr id="25" name="Shape 23"/>
          <p:cNvSpPr/>
          <p:nvPr/>
        </p:nvSpPr>
        <p:spPr>
          <a:xfrm>
            <a:off x="5486400" y="1280160"/>
            <a:ext cx="3200400" cy="1554480"/>
          </a:xfrm>
          <a:prstGeom prst="rect">
            <a:avLst/>
          </a:prstGeom>
          <a:solidFill>
            <a:srgbClr val="24414A"/>
          </a:solidFill>
          <a:ln w="12700">
            <a:solidFill>
              <a:srgbClr val="24414A"/>
            </a:solidFill>
            <a:prstDash val="solid"/>
          </a:ln>
        </p:spPr>
      </p:sp>
      <p:sp>
        <p:nvSpPr>
          <p:cNvPr id="26" name="Text 24"/>
          <p:cNvSpPr txBox="1"/>
          <p:nvPr/>
        </p:nvSpPr>
        <p:spPr>
          <a:xfrm>
            <a:off x="5715000" y="1417320"/>
            <a:ext cx="2743200" cy="82296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«Die mit Abstand effektivste Massnahme»</a:t>
            </a:r>
            <a:endParaRPr lang="en-US" sz="1600" dirty="0"/>
          </a:p>
        </p:txBody>
      </p:sp>
      <p:sp>
        <p:nvSpPr>
          <p:cNvPr id="27" name="Text 25"/>
          <p:cNvSpPr txBox="1"/>
          <p:nvPr/>
        </p:nvSpPr>
        <p:spPr>
          <a:xfrm>
            <a:off x="5715000" y="2286000"/>
            <a:ext cx="2743200" cy="457200"/>
          </a:xfrm>
          <a:prstGeom prst="rect">
            <a:avLst/>
          </a:prstGeom>
          <a:noFill/>
          <a:ln/>
        </p:spPr>
        <p:txBody>
          <a:bodyPr wrap="square" lIns="0" tIns="0" rIns="0" bIns="0" rtlCol="0" anchor="t"/>
          <a:lstStyle/>
          <a:p>
            <a:pPr indent="0" marL="0">
              <a:buNone/>
            </a:pPr>
            <a:r>
              <a:rPr lang="en-US" sz="900" dirty="0">
                <a:solidFill>
                  <a:srgbClr val="B5C9CE"/>
                </a:solidFill>
                <a:latin typeface="Arial" pitchFamily="34" charset="0"/>
                <a:ea typeface="Arial" pitchFamily="34" charset="-122"/>
                <a:cs typeface="Arial" pitchFamily="34" charset="-120"/>
              </a:rPr>
              <a:t>Universität Zürich, 12 Interviews mit Eigentümern und Genossenschaften, 2025</a:t>
            </a:r>
            <a:endParaRPr lang="en-US" sz="900" dirty="0"/>
          </a:p>
        </p:txBody>
      </p:sp>
      <p:sp>
        <p:nvSpPr>
          <p:cNvPr id="28" name="Shape 26"/>
          <p:cNvSpPr/>
          <p:nvPr/>
        </p:nvSpPr>
        <p:spPr>
          <a:xfrm>
            <a:off x="5486400" y="3017520"/>
            <a:ext cx="3200400" cy="1554480"/>
          </a:xfrm>
          <a:prstGeom prst="rect">
            <a:avLst/>
          </a:prstGeom>
          <a:solidFill>
            <a:srgbClr val="FFFFFF"/>
          </a:solidFill>
          <a:ln w="9525">
            <a:solidFill>
              <a:srgbClr val="E3DDD4"/>
            </a:solidFill>
            <a:prstDash val="solid"/>
          </a:ln>
        </p:spPr>
      </p:sp>
      <p:sp>
        <p:nvSpPr>
          <p:cNvPr id="29" name="Text 27"/>
          <p:cNvSpPr txBox="1"/>
          <p:nvPr/>
        </p:nvSpPr>
        <p:spPr>
          <a:xfrm>
            <a:off x="5715000" y="3108960"/>
            <a:ext cx="2743200" cy="548640"/>
          </a:xfrm>
          <a:prstGeom prst="rect">
            <a:avLst/>
          </a:prstGeom>
          <a:noFill/>
          <a:ln/>
        </p:spPr>
        <p:txBody>
          <a:bodyPr wrap="square" lIns="0" tIns="0" rIns="0" bIns="0" rtlCol="0" anchor="ctr"/>
          <a:lstStyle/>
          <a:p>
            <a:pPr indent="0" marL="0">
              <a:buNone/>
            </a:pPr>
            <a:r>
              <a:rPr lang="en-US" sz="2400" b="1" dirty="0">
                <a:solidFill>
                  <a:srgbClr val="F26A1B"/>
                </a:solidFill>
                <a:latin typeface="Arial" pitchFamily="34" charset="0"/>
                <a:ea typeface="Arial" pitchFamily="34" charset="-122"/>
                <a:cs typeface="Arial" pitchFamily="34" charset="-120"/>
              </a:rPr>
              <a:t>«enorm aufwändig»</a:t>
            </a:r>
            <a:endParaRPr lang="en-US" sz="2400" dirty="0"/>
          </a:p>
        </p:txBody>
      </p:sp>
      <p:sp>
        <p:nvSpPr>
          <p:cNvPr id="30" name="Text 28"/>
          <p:cNvSpPr txBox="1"/>
          <p:nvPr/>
        </p:nvSpPr>
        <p:spPr>
          <a:xfrm>
            <a:off x="5715000" y="3703320"/>
            <a:ext cx="2743200" cy="594360"/>
          </a:xfrm>
          <a:prstGeom prst="rect">
            <a:avLst/>
          </a:prstGeom>
          <a:noFill/>
          <a:ln/>
        </p:spPr>
        <p:txBody>
          <a:bodyPr wrap="square" lIns="0" tIns="0" rIns="0" bIns="0" rtlCol="0" anchor="t"/>
          <a:lstStyle/>
          <a:p>
            <a:pPr indent="0" marL="0">
              <a:buNone/>
            </a:pPr>
            <a:r>
              <a:rPr lang="en-US" sz="1000" dirty="0">
                <a:solidFill>
                  <a:srgbClr val="1C2326"/>
                </a:solidFill>
                <a:latin typeface="Arial" pitchFamily="34" charset="0"/>
                <a:ea typeface="Arial" pitchFamily="34" charset="-122"/>
                <a:cs typeface="Arial" pitchFamily="34" charset="-120"/>
              </a:rPr>
              <a:t>sagen dieselben Befragten. Flächen finden, zuteilen, zwei Übergaben pro Haushalt, jede Verschiebung von Hand. Darum machen es viele nicht.</a:t>
            </a:r>
            <a:endParaRPr lang="en-US" sz="1000" dirty="0"/>
          </a:p>
        </p:txBody>
      </p:sp>
      <p:sp>
        <p:nvSpPr>
          <p:cNvPr id="31" name="Text 29"/>
          <p:cNvSpPr txBox="1"/>
          <p:nvPr/>
        </p:nvSpPr>
        <p:spPr>
          <a:xfrm>
            <a:off x="5715000" y="4315968"/>
            <a:ext cx="2743200" cy="201168"/>
          </a:xfrm>
          <a:prstGeom prst="rect">
            <a:avLst/>
          </a:prstGeom>
          <a:noFill/>
          <a:ln/>
        </p:spPr>
        <p:txBody>
          <a:bodyPr wrap="square" lIns="0" tIns="0" rIns="0" bIns="0" rtlCol="0" anchor="ctr"/>
          <a:lstStyle/>
          <a:p>
            <a:pPr indent="0" marL="0">
              <a:buNone/>
            </a:pPr>
            <a:r>
              <a:rPr lang="en-US" sz="800" dirty="0">
                <a:solidFill>
                  <a:srgbClr val="5B6468"/>
                </a:solidFill>
                <a:latin typeface="Arial" pitchFamily="34" charset="0"/>
                <a:ea typeface="Arial" pitchFamily="34" charset="-122"/>
                <a:cs typeface="Arial" pitchFamily="34" charset="-120"/>
              </a:rPr>
              <a:t>Keller, CUREM Universität Zürich, 2025</a:t>
            </a:r>
            <a:endParaRPr lang="en-US" sz="800" dirty="0"/>
          </a:p>
        </p:txBody>
      </p:sp>
      <p:sp>
        <p:nvSpPr>
          <p:cNvPr id="25" name="Slide Number Placeholder 0"/>
          <p:cNvSpPr>
            <a:spLocks noGrp="1"/>
          </p:cNvSpPr>
          <p:nvPr>
            <p:ph type="sldNum" sz="quarter" idx="4294967295"/>
          </p:nvPr>
        </p:nvSpPr>
        <p:spPr>
          <a:xfrm>
            <a:off x="8321040" y="4791456"/>
            <a:ext cx="365760" cy="274320"/>
          </a:xfrm>
          <a:prstGeom prst="rect">
            <a:avLst/>
          </a:prstGeom>
          <a:extLst>
            <a:ext uri="{C572A759-6A51-4108-AA02-DFA0A04FC94B}">
              <ma14:wrappingTextBoxFlag xmlns:ma14="http://schemas.microsoft.com/office/mac/drawingml/2011/main" val="0"/>
            </a:ext>
          </a:extLst>
        </p:spPr>
        <p:txBody>
          <a:bodyPr/>
          <a:lstStyle>
            <a:lvl1pPr>
              <a:defRPr sz="8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822960"/>
          </a:xfrm>
          <a:prstGeom prst="rect">
            <a:avLst/>
          </a:prstGeom>
          <a:noFill/>
          <a:ln/>
        </p:spPr>
        <p:txBody>
          <a:bodyPr wrap="square" lIns="0" tIns="0" rIns="0" bIns="0" rtlCol="0" anchor="t"/>
          <a:lstStyle/>
          <a:p>
            <a:pPr indent="0" marL="0">
              <a:buNone/>
            </a:pPr>
            <a:r>
              <a:rPr lang="en-US" sz="3000" b="1" dirty="0">
                <a:solidFill>
                  <a:schemeClr val="tx1"/>
                </a:solidFill>
              </a:rPr>
              <a:t>Leerkündigen ist erlaubt, wenn es nicht anders geht. Zürich prüft das jetzt.</a:t>
            </a:r>
            <a:endParaRPr lang="en-US" sz="3000" dirty="0"/>
          </a:p>
        </p:txBody>
      </p:sp>
      <p:sp>
        <p:nvSpPr>
          <p:cNvPr id="3" name="Shape 1"/>
          <p:cNvSpPr/>
          <p:nvPr/>
        </p:nvSpPr>
        <p:spPr>
          <a:xfrm>
            <a:off x="457200" y="1280160"/>
            <a:ext cx="2651760" cy="2286000"/>
          </a:xfrm>
          <a:prstGeom prst="rect">
            <a:avLst/>
          </a:prstGeom>
          <a:solidFill>
            <a:srgbClr val="FFFFFF"/>
          </a:solidFill>
          <a:ln w="9525">
            <a:solidFill>
              <a:srgbClr val="E3DDD4"/>
            </a:solidFill>
            <a:prstDash val="solid"/>
          </a:ln>
        </p:spPr>
      </p:sp>
      <p:sp>
        <p:nvSpPr>
          <p:cNvPr id="4" name="Text 2"/>
          <p:cNvSpPr txBox="1"/>
          <p:nvPr/>
        </p:nvSpPr>
        <p:spPr>
          <a:xfrm>
            <a:off x="640080" y="1371600"/>
            <a:ext cx="2286000" cy="274320"/>
          </a:xfrm>
          <a:prstGeom prst="rect">
            <a:avLst/>
          </a:prstGeom>
          <a:noFill/>
          <a:ln/>
        </p:spPr>
        <p:txBody>
          <a:bodyPr wrap="square" lIns="0" tIns="0" rIns="0" bIns="0" rtlCol="0" anchor="ctr"/>
          <a:lstStyle/>
          <a:p>
            <a:pPr indent="0" marL="0">
              <a:buNone/>
            </a:pPr>
            <a:r>
              <a:rPr lang="en-US" sz="900" b="1" dirty="0">
                <a:solidFill>
                  <a:srgbClr val="5B6468"/>
                </a:solidFill>
                <a:latin typeface="Arial" pitchFamily="34" charset="0"/>
                <a:ea typeface="Arial" pitchFamily="34" charset="-122"/>
                <a:cs typeface="Arial" pitchFamily="34" charset="-120"/>
              </a:rPr>
              <a:t>Bund · OR 271</a:t>
            </a:r>
            <a:endParaRPr lang="en-US" sz="900" dirty="0"/>
          </a:p>
        </p:txBody>
      </p:sp>
      <p:sp>
        <p:nvSpPr>
          <p:cNvPr id="5" name="Text 3"/>
          <p:cNvSpPr txBox="1"/>
          <p:nvPr/>
        </p:nvSpPr>
        <p:spPr>
          <a:xfrm>
            <a:off x="640080" y="1645920"/>
            <a:ext cx="2286000" cy="640080"/>
          </a:xfrm>
          <a:prstGeom prst="rect">
            <a:avLst/>
          </a:prstGeom>
          <a:noFill/>
          <a:ln/>
        </p:spPr>
        <p:txBody>
          <a:bodyPr wrap="square" lIns="0" tIns="0" rIns="0" bIns="0" rtlCol="0" anchor="t"/>
          <a:lstStyle/>
          <a:p>
            <a:pPr indent="0" marL="0">
              <a:buNone/>
            </a:pPr>
            <a:r>
              <a:rPr lang="en-US" sz="1600" b="1" dirty="0">
                <a:solidFill>
                  <a:srgbClr val="1C2326"/>
                </a:solidFill>
                <a:latin typeface="Arial" pitchFamily="34" charset="0"/>
                <a:ea typeface="Arial" pitchFamily="34" charset="-122"/>
                <a:cs typeface="Arial" pitchFamily="34" charset="-120"/>
              </a:rPr>
              <a:t>Erlaubt, wenn nötig</a:t>
            </a:r>
            <a:endParaRPr lang="en-US" sz="1600" dirty="0"/>
          </a:p>
        </p:txBody>
      </p:sp>
      <p:sp>
        <p:nvSpPr>
          <p:cNvPr id="6" name="Text 4"/>
          <p:cNvSpPr txBox="1"/>
          <p:nvPr/>
        </p:nvSpPr>
        <p:spPr>
          <a:xfrm>
            <a:off x="640080" y="2304288"/>
            <a:ext cx="2286000" cy="1188720"/>
          </a:xfrm>
          <a:prstGeom prst="rect">
            <a:avLst/>
          </a:prstGeom>
          <a:noFill/>
          <a:ln/>
        </p:spPr>
        <p:txBody>
          <a:bodyPr wrap="square" lIns="0" tIns="0" rIns="0" bIns="0" rtlCol="0" anchor="t"/>
          <a:lstStyle/>
          <a:p>
            <a:pPr indent="0" marL="0">
              <a:buNone/>
            </a:pPr>
            <a:r>
              <a:rPr lang="en-US" sz="1000" dirty="0">
                <a:solidFill>
                  <a:srgbClr val="1C2326"/>
                </a:solidFill>
                <a:latin typeface="Arial" pitchFamily="34" charset="0"/>
                <a:ea typeface="Arial" pitchFamily="34" charset="-122"/>
                <a:cs typeface="Arial" pitchFamily="34" charset="-120"/>
              </a:rPr>
              <a:t>Eine Sanierungskündigung hält, wenn der Verbleib der Mietenden die Arbeiten erheblich erschwert (BGE 135 III 112). Geht es bewohnt oder in Etappen, ist sie anfechtbar. Erstreckung bis 4 Jahre.</a:t>
            </a:r>
            <a:endParaRPr lang="en-US" sz="1000" dirty="0"/>
          </a:p>
        </p:txBody>
      </p:sp>
      <p:sp>
        <p:nvSpPr>
          <p:cNvPr id="7" name="Shape 5"/>
          <p:cNvSpPr/>
          <p:nvPr/>
        </p:nvSpPr>
        <p:spPr>
          <a:xfrm>
            <a:off x="3246120" y="1280160"/>
            <a:ext cx="2651760" cy="2286000"/>
          </a:xfrm>
          <a:prstGeom prst="rect">
            <a:avLst/>
          </a:prstGeom>
          <a:solidFill>
            <a:srgbClr val="FDEBDD"/>
          </a:solidFill>
          <a:ln w="9525">
            <a:solidFill>
              <a:srgbClr val="FDEBDD"/>
            </a:solidFill>
            <a:prstDash val="solid"/>
          </a:ln>
        </p:spPr>
      </p:sp>
      <p:sp>
        <p:nvSpPr>
          <p:cNvPr id="8" name="Text 6"/>
          <p:cNvSpPr txBox="1"/>
          <p:nvPr/>
        </p:nvSpPr>
        <p:spPr>
          <a:xfrm>
            <a:off x="3429000" y="1371600"/>
            <a:ext cx="2286000" cy="274320"/>
          </a:xfrm>
          <a:prstGeom prst="rect">
            <a:avLst/>
          </a:prstGeom>
          <a:noFill/>
          <a:ln/>
        </p:spPr>
        <p:txBody>
          <a:bodyPr wrap="square" lIns="0" tIns="0" rIns="0" bIns="0" rtlCol="0" anchor="ctr"/>
          <a:lstStyle/>
          <a:p>
            <a:pPr indent="0" marL="0">
              <a:buNone/>
            </a:pPr>
            <a:r>
              <a:rPr lang="en-US" sz="900" b="1" dirty="0">
                <a:solidFill>
                  <a:srgbClr val="5B6468"/>
                </a:solidFill>
                <a:latin typeface="Arial" pitchFamily="34" charset="0"/>
                <a:ea typeface="Arial" pitchFamily="34" charset="-122"/>
                <a:cs typeface="Arial" pitchFamily="34" charset="-120"/>
              </a:rPr>
              <a:t>Kanton Zürich · WBFG, Ja 54,3 % am 14.6.2026</a:t>
            </a:r>
            <a:endParaRPr lang="en-US" sz="900" dirty="0"/>
          </a:p>
        </p:txBody>
      </p:sp>
      <p:sp>
        <p:nvSpPr>
          <p:cNvPr id="9" name="Text 7"/>
          <p:cNvSpPr txBox="1"/>
          <p:nvPr/>
        </p:nvSpPr>
        <p:spPr>
          <a:xfrm>
            <a:off x="3429000" y="1645920"/>
            <a:ext cx="2286000" cy="640080"/>
          </a:xfrm>
          <a:prstGeom prst="rect">
            <a:avLst/>
          </a:prstGeom>
          <a:noFill/>
          <a:ln/>
        </p:spPr>
        <p:txBody>
          <a:bodyPr wrap="square" lIns="0" tIns="0" rIns="0" bIns="0" rtlCol="0" anchor="t"/>
          <a:lstStyle/>
          <a:p>
            <a:pPr indent="0" marL="0">
              <a:buNone/>
            </a:pPr>
            <a:r>
              <a:rPr lang="en-US" sz="1600" b="1" dirty="0">
                <a:solidFill>
                  <a:srgbClr val="B8460E"/>
                </a:solidFill>
                <a:latin typeface="Arial" pitchFamily="34" charset="0"/>
                <a:ea typeface="Arial" pitchFamily="34" charset="-122"/>
                <a:cs typeface="Arial" pitchFamily="34" charset="-120"/>
              </a:rPr>
              <a:t>Prüfpflicht ab 20 Mietverhältnissen</a:t>
            </a:r>
            <a:endParaRPr lang="en-US" sz="1600" dirty="0"/>
          </a:p>
        </p:txBody>
      </p:sp>
      <p:sp>
        <p:nvSpPr>
          <p:cNvPr id="10" name="Text 8"/>
          <p:cNvSpPr txBox="1"/>
          <p:nvPr/>
        </p:nvSpPr>
        <p:spPr>
          <a:xfrm>
            <a:off x="3429000" y="2304288"/>
            <a:ext cx="2286000" cy="1188720"/>
          </a:xfrm>
          <a:prstGeom prst="rect">
            <a:avLst/>
          </a:prstGeom>
          <a:noFill/>
          <a:ln/>
        </p:spPr>
        <p:txBody>
          <a:bodyPr wrap="square" lIns="0" tIns="0" rIns="0" bIns="0" rtlCol="0" anchor="t"/>
          <a:lstStyle/>
          <a:p>
            <a:pPr indent="0" marL="0">
              <a:buNone/>
            </a:pPr>
            <a:r>
              <a:rPr lang="en-US" sz="1000" dirty="0">
                <a:solidFill>
                  <a:srgbClr val="1C2326"/>
                </a:solidFill>
                <a:latin typeface="Arial" pitchFamily="34" charset="0"/>
                <a:ea typeface="Arial" pitchFamily="34" charset="-122"/>
                <a:cs typeface="Arial" pitchFamily="34" charset="-120"/>
              </a:rPr>
              <a:t>Bewohnt oder etappiert sanieren prüfen, 12 Monate Vorlauf, Ansprechperson, Hilfe bei der Wohnungssuche. Sonst keine Baubewilligung. In Kraft frühestens Ende 2026.</a:t>
            </a:r>
            <a:endParaRPr lang="en-US" sz="1000" dirty="0"/>
          </a:p>
        </p:txBody>
      </p:sp>
      <p:sp>
        <p:nvSpPr>
          <p:cNvPr id="11" name="Shape 9"/>
          <p:cNvSpPr/>
          <p:nvPr/>
        </p:nvSpPr>
        <p:spPr>
          <a:xfrm>
            <a:off x="6035040" y="1280160"/>
            <a:ext cx="2651760" cy="2286000"/>
          </a:xfrm>
          <a:prstGeom prst="rect">
            <a:avLst/>
          </a:prstGeom>
          <a:solidFill>
            <a:srgbClr val="E2ECEE"/>
          </a:solidFill>
          <a:ln w="9525">
            <a:solidFill>
              <a:srgbClr val="E2ECEE"/>
            </a:solidFill>
            <a:prstDash val="solid"/>
          </a:ln>
        </p:spPr>
      </p:sp>
      <p:sp>
        <p:nvSpPr>
          <p:cNvPr id="12" name="Text 10"/>
          <p:cNvSpPr txBox="1"/>
          <p:nvPr/>
        </p:nvSpPr>
        <p:spPr>
          <a:xfrm>
            <a:off x="6217920" y="1371600"/>
            <a:ext cx="2286000" cy="274320"/>
          </a:xfrm>
          <a:prstGeom prst="rect">
            <a:avLst/>
          </a:prstGeom>
          <a:noFill/>
          <a:ln/>
        </p:spPr>
        <p:txBody>
          <a:bodyPr wrap="square" lIns="0" tIns="0" rIns="0" bIns="0" rtlCol="0" anchor="ctr"/>
          <a:lstStyle/>
          <a:p>
            <a:pPr indent="0" marL="0">
              <a:buNone/>
            </a:pPr>
            <a:r>
              <a:rPr lang="en-US" sz="900" b="1" dirty="0">
                <a:solidFill>
                  <a:srgbClr val="5B6468"/>
                </a:solidFill>
                <a:latin typeface="Arial" pitchFamily="34" charset="0"/>
                <a:ea typeface="Arial" pitchFamily="34" charset="-122"/>
                <a:cs typeface="Arial" pitchFamily="34" charset="-120"/>
              </a:rPr>
              <a:t>Genossenschaften · OR 846</a:t>
            </a:r>
            <a:endParaRPr lang="en-US" sz="900" dirty="0"/>
          </a:p>
        </p:txBody>
      </p:sp>
      <p:sp>
        <p:nvSpPr>
          <p:cNvPr id="13" name="Text 11"/>
          <p:cNvSpPr txBox="1"/>
          <p:nvPr/>
        </p:nvSpPr>
        <p:spPr>
          <a:xfrm>
            <a:off x="6217920" y="1645920"/>
            <a:ext cx="2286000" cy="640080"/>
          </a:xfrm>
          <a:prstGeom prst="rect">
            <a:avLst/>
          </a:prstGeom>
          <a:noFill/>
          <a:ln/>
        </p:spPr>
        <p:txBody>
          <a:bodyPr wrap="square" lIns="0" tIns="0" rIns="0" bIns="0" rtlCol="0" anchor="t"/>
          <a:lstStyle/>
          <a:p>
            <a:pPr indent="0" marL="0">
              <a:buNone/>
            </a:pPr>
            <a:r>
              <a:rPr lang="en-US" sz="1600" b="1" dirty="0">
                <a:solidFill>
                  <a:srgbClr val="24414A"/>
                </a:solidFill>
                <a:latin typeface="Arial" pitchFamily="34" charset="0"/>
                <a:ea typeface="Arial" pitchFamily="34" charset="-122"/>
                <a:cs typeface="Arial" pitchFamily="34" charset="-120"/>
              </a:rPr>
              <a:t>Sanierung ist kein Kündigungsgrund</a:t>
            </a:r>
            <a:endParaRPr lang="en-US" sz="1600" dirty="0"/>
          </a:p>
        </p:txBody>
      </p:sp>
      <p:sp>
        <p:nvSpPr>
          <p:cNvPr id="14" name="Text 12"/>
          <p:cNvSpPr txBox="1"/>
          <p:nvPr/>
        </p:nvSpPr>
        <p:spPr>
          <a:xfrm>
            <a:off x="6217920" y="2304288"/>
            <a:ext cx="2286000" cy="1188720"/>
          </a:xfrm>
          <a:prstGeom prst="rect">
            <a:avLst/>
          </a:prstGeom>
          <a:noFill/>
          <a:ln/>
        </p:spPr>
        <p:txBody>
          <a:bodyPr wrap="square" lIns="0" tIns="0" rIns="0" bIns="0" rtlCol="0" anchor="t"/>
          <a:lstStyle/>
          <a:p>
            <a:pPr indent="0" marL="0">
              <a:buNone/>
            </a:pPr>
            <a:r>
              <a:rPr lang="en-US" sz="1000" dirty="0">
                <a:solidFill>
                  <a:srgbClr val="1C2326"/>
                </a:solidFill>
                <a:latin typeface="Arial" pitchFamily="34" charset="0"/>
                <a:ea typeface="Arial" pitchFamily="34" charset="-122"/>
                <a:cs typeface="Arial" pitchFamily="34" charset="-120"/>
              </a:rPr>
              <a:t>Mitglieder sind Mitbesitzer. Ohne Statutengrundlage kann die Genossenschaft wegen einer Sanierung nicht kündigen. Darum: Rochade oder befristete Zwischenvermietung.</a:t>
            </a:r>
            <a:endParaRPr lang="en-US" sz="1000" dirty="0"/>
          </a:p>
        </p:txBody>
      </p:sp>
      <p:sp>
        <p:nvSpPr>
          <p:cNvPr id="15" name="Shape 13"/>
          <p:cNvSpPr/>
          <p:nvPr/>
        </p:nvSpPr>
        <p:spPr>
          <a:xfrm>
            <a:off x="457200" y="3703320"/>
            <a:ext cx="1988820" cy="914400"/>
          </a:xfrm>
          <a:prstGeom prst="rect">
            <a:avLst/>
          </a:prstGeom>
          <a:solidFill>
            <a:srgbClr val="FFFFFF"/>
          </a:solidFill>
          <a:ln w="9525">
            <a:solidFill>
              <a:srgbClr val="E3DDD4"/>
            </a:solidFill>
            <a:prstDash val="solid"/>
          </a:ln>
        </p:spPr>
      </p:sp>
      <p:sp>
        <p:nvSpPr>
          <p:cNvPr id="16" name="Shape 14"/>
          <p:cNvSpPr/>
          <p:nvPr/>
        </p:nvSpPr>
        <p:spPr>
          <a:xfrm>
            <a:off x="594360" y="3831336"/>
            <a:ext cx="128016" cy="128016"/>
          </a:xfrm>
          <a:prstGeom prst="rect">
            <a:avLst/>
          </a:prstGeom>
          <a:solidFill>
            <a:srgbClr val="276B43"/>
          </a:solidFill>
          <a:ln w="12700">
            <a:solidFill>
              <a:srgbClr val="276B43"/>
            </a:solidFill>
            <a:prstDash val="solid"/>
          </a:ln>
        </p:spPr>
      </p:sp>
      <p:sp>
        <p:nvSpPr>
          <p:cNvPr id="17" name="Text 15"/>
          <p:cNvSpPr txBox="1"/>
          <p:nvPr/>
        </p:nvSpPr>
        <p:spPr>
          <a:xfrm>
            <a:off x="786384" y="3767328"/>
            <a:ext cx="1554480" cy="256032"/>
          </a:xfrm>
          <a:prstGeom prst="rect">
            <a:avLst/>
          </a:prstGeom>
          <a:noFill/>
          <a:ln/>
        </p:spPr>
        <p:txBody>
          <a:bodyPr wrap="square" lIns="0" tIns="0" rIns="0" bIns="0" rtlCol="0" anchor="ctr"/>
          <a:lstStyle/>
          <a:p>
            <a:pPr indent="0" marL="0">
              <a:buNone/>
            </a:pPr>
            <a:r>
              <a:rPr lang="en-US" sz="1100" b="1" dirty="0">
                <a:solidFill>
                  <a:srgbClr val="1C2326"/>
                </a:solidFill>
                <a:latin typeface="Arial" pitchFamily="34" charset="0"/>
                <a:ea typeface="Arial" pitchFamily="34" charset="-122"/>
                <a:cs typeface="Arial" pitchFamily="34" charset="-120"/>
              </a:rPr>
              <a:t>Zürich</a:t>
            </a:r>
            <a:endParaRPr lang="en-US" sz="1100" dirty="0"/>
          </a:p>
        </p:txBody>
      </p:sp>
      <p:sp>
        <p:nvSpPr>
          <p:cNvPr id="18" name="Text 16"/>
          <p:cNvSpPr txBox="1"/>
          <p:nvPr/>
        </p:nvSpPr>
        <p:spPr>
          <a:xfrm>
            <a:off x="594360" y="4041648"/>
            <a:ext cx="1737360" cy="530352"/>
          </a:xfrm>
          <a:prstGeom prst="rect">
            <a:avLst/>
          </a:prstGeom>
          <a:noFill/>
          <a:ln/>
        </p:spPr>
        <p:txBody>
          <a:bodyPr wrap="square" lIns="0" tIns="0" rIns="0" bIns="0" rtlCol="0" anchor="t"/>
          <a:lstStyle/>
          <a:p>
            <a:pPr indent="0" marL="0">
              <a:buNone/>
            </a:pPr>
            <a:r>
              <a:rPr lang="en-US" sz="850" dirty="0">
                <a:solidFill>
                  <a:srgbClr val="1C2326"/>
                </a:solidFill>
                <a:latin typeface="Arial" pitchFamily="34" charset="0"/>
                <a:ea typeface="Arial" pitchFamily="34" charset="-122"/>
                <a:cs typeface="Arial" pitchFamily="34" charset="-120"/>
              </a:rPr>
              <a:t>Prüfpflicht neu. Der Nachweis, den ROCHADE liefert.</a:t>
            </a:r>
            <a:endParaRPr lang="en-US" sz="850" dirty="0"/>
          </a:p>
        </p:txBody>
      </p:sp>
      <p:sp>
        <p:nvSpPr>
          <p:cNvPr id="19" name="Shape 17"/>
          <p:cNvSpPr/>
          <p:nvPr/>
        </p:nvSpPr>
        <p:spPr>
          <a:xfrm>
            <a:off x="2537460" y="3703320"/>
            <a:ext cx="1988820" cy="914400"/>
          </a:xfrm>
          <a:prstGeom prst="rect">
            <a:avLst/>
          </a:prstGeom>
          <a:solidFill>
            <a:srgbClr val="FFFFFF"/>
          </a:solidFill>
          <a:ln w="9525">
            <a:solidFill>
              <a:srgbClr val="E3DDD4"/>
            </a:solidFill>
            <a:prstDash val="solid"/>
          </a:ln>
        </p:spPr>
      </p:sp>
      <p:sp>
        <p:nvSpPr>
          <p:cNvPr id="20" name="Shape 18"/>
          <p:cNvSpPr/>
          <p:nvPr/>
        </p:nvSpPr>
        <p:spPr>
          <a:xfrm>
            <a:off x="2674620" y="3831336"/>
            <a:ext cx="128016" cy="128016"/>
          </a:xfrm>
          <a:prstGeom prst="rect">
            <a:avLst/>
          </a:prstGeom>
          <a:solidFill>
            <a:srgbClr val="F26A1B"/>
          </a:solidFill>
          <a:ln w="12700">
            <a:solidFill>
              <a:srgbClr val="F26A1B"/>
            </a:solidFill>
            <a:prstDash val="solid"/>
          </a:ln>
        </p:spPr>
      </p:sp>
      <p:sp>
        <p:nvSpPr>
          <p:cNvPr id="21" name="Text 19"/>
          <p:cNvSpPr txBox="1"/>
          <p:nvPr/>
        </p:nvSpPr>
        <p:spPr>
          <a:xfrm>
            <a:off x="2866644" y="3767328"/>
            <a:ext cx="1554480" cy="256032"/>
          </a:xfrm>
          <a:prstGeom prst="rect">
            <a:avLst/>
          </a:prstGeom>
          <a:noFill/>
          <a:ln/>
        </p:spPr>
        <p:txBody>
          <a:bodyPr wrap="square" lIns="0" tIns="0" rIns="0" bIns="0" rtlCol="0" anchor="ctr"/>
          <a:lstStyle/>
          <a:p>
            <a:pPr indent="0" marL="0">
              <a:buNone/>
            </a:pPr>
            <a:r>
              <a:rPr lang="en-US" sz="1100" b="1" dirty="0">
                <a:solidFill>
                  <a:srgbClr val="1C2326"/>
                </a:solidFill>
                <a:latin typeface="Arial" pitchFamily="34" charset="0"/>
                <a:ea typeface="Arial" pitchFamily="34" charset="-122"/>
                <a:cs typeface="Arial" pitchFamily="34" charset="-120"/>
              </a:rPr>
              <a:t>Luzern</a:t>
            </a:r>
            <a:endParaRPr lang="en-US" sz="1100" dirty="0"/>
          </a:p>
        </p:txBody>
      </p:sp>
      <p:sp>
        <p:nvSpPr>
          <p:cNvPr id="22" name="Text 20"/>
          <p:cNvSpPr txBox="1"/>
          <p:nvPr/>
        </p:nvSpPr>
        <p:spPr>
          <a:xfrm>
            <a:off x="2674620" y="4041648"/>
            <a:ext cx="1737360" cy="530352"/>
          </a:xfrm>
          <a:prstGeom prst="rect">
            <a:avLst/>
          </a:prstGeom>
          <a:noFill/>
          <a:ln/>
        </p:spPr>
        <p:txBody>
          <a:bodyPr wrap="square" lIns="0" tIns="0" rIns="0" bIns="0" rtlCol="0" anchor="t"/>
          <a:lstStyle/>
          <a:p>
            <a:pPr indent="0" marL="0">
              <a:buNone/>
            </a:pPr>
            <a:r>
              <a:rPr lang="en-US" sz="850" dirty="0">
                <a:solidFill>
                  <a:srgbClr val="1C2326"/>
                </a:solidFill>
                <a:latin typeface="Arial" pitchFamily="34" charset="0"/>
                <a:ea typeface="Arial" pitchFamily="34" charset="-122"/>
                <a:cs typeface="Arial" pitchFamily="34" charset="-120"/>
              </a:rPr>
              <a:t>Wohnraum-Gesetz umkämpft: Stadt Nein 24:23, Initiative läuft.</a:t>
            </a:r>
            <a:endParaRPr lang="en-US" sz="850" dirty="0"/>
          </a:p>
        </p:txBody>
      </p:sp>
      <p:sp>
        <p:nvSpPr>
          <p:cNvPr id="23" name="Shape 21"/>
          <p:cNvSpPr/>
          <p:nvPr/>
        </p:nvSpPr>
        <p:spPr>
          <a:xfrm>
            <a:off x="4617720" y="3703320"/>
            <a:ext cx="1988820" cy="914400"/>
          </a:xfrm>
          <a:prstGeom prst="rect">
            <a:avLst/>
          </a:prstGeom>
          <a:solidFill>
            <a:srgbClr val="FFFFFF"/>
          </a:solidFill>
          <a:ln w="9525">
            <a:solidFill>
              <a:srgbClr val="E3DDD4"/>
            </a:solidFill>
            <a:prstDash val="solid"/>
          </a:ln>
        </p:spPr>
      </p:sp>
      <p:sp>
        <p:nvSpPr>
          <p:cNvPr id="24" name="Shape 22"/>
          <p:cNvSpPr/>
          <p:nvPr/>
        </p:nvSpPr>
        <p:spPr>
          <a:xfrm>
            <a:off x="4754880" y="3831336"/>
            <a:ext cx="128016" cy="128016"/>
          </a:xfrm>
          <a:prstGeom prst="rect">
            <a:avLst/>
          </a:prstGeom>
          <a:solidFill>
            <a:srgbClr val="F26A1B"/>
          </a:solidFill>
          <a:ln w="12700">
            <a:solidFill>
              <a:srgbClr val="F26A1B"/>
            </a:solidFill>
            <a:prstDash val="solid"/>
          </a:ln>
        </p:spPr>
      </p:sp>
      <p:sp>
        <p:nvSpPr>
          <p:cNvPr id="25" name="Text 23"/>
          <p:cNvSpPr txBox="1"/>
          <p:nvPr/>
        </p:nvSpPr>
        <p:spPr>
          <a:xfrm>
            <a:off x="4946904" y="3767328"/>
            <a:ext cx="1554480" cy="256032"/>
          </a:xfrm>
          <a:prstGeom prst="rect">
            <a:avLst/>
          </a:prstGeom>
          <a:noFill/>
          <a:ln/>
        </p:spPr>
        <p:txBody>
          <a:bodyPr wrap="square" lIns="0" tIns="0" rIns="0" bIns="0" rtlCol="0" anchor="ctr"/>
          <a:lstStyle/>
          <a:p>
            <a:pPr indent="0" marL="0">
              <a:buNone/>
            </a:pPr>
            <a:r>
              <a:rPr lang="en-US" sz="1100" b="1" dirty="0">
                <a:solidFill>
                  <a:srgbClr val="1C2326"/>
                </a:solidFill>
                <a:latin typeface="Arial" pitchFamily="34" charset="0"/>
                <a:ea typeface="Arial" pitchFamily="34" charset="-122"/>
                <a:cs typeface="Arial" pitchFamily="34" charset="-120"/>
              </a:rPr>
              <a:t>Zug</a:t>
            </a:r>
            <a:endParaRPr lang="en-US" sz="1100" dirty="0"/>
          </a:p>
        </p:txBody>
      </p:sp>
      <p:sp>
        <p:nvSpPr>
          <p:cNvPr id="26" name="Text 24"/>
          <p:cNvSpPr txBox="1"/>
          <p:nvPr/>
        </p:nvSpPr>
        <p:spPr>
          <a:xfrm>
            <a:off x="4754880" y="4041648"/>
            <a:ext cx="1737360" cy="530352"/>
          </a:xfrm>
          <a:prstGeom prst="rect">
            <a:avLst/>
          </a:prstGeom>
          <a:noFill/>
          <a:ln/>
        </p:spPr>
        <p:txBody>
          <a:bodyPr wrap="square" lIns="0" tIns="0" rIns="0" bIns="0" rtlCol="0" anchor="t"/>
          <a:lstStyle/>
          <a:p>
            <a:pPr indent="0" marL="0">
              <a:buNone/>
            </a:pPr>
            <a:r>
              <a:rPr lang="en-US" sz="850" dirty="0">
                <a:solidFill>
                  <a:srgbClr val="1C2326"/>
                </a:solidFill>
                <a:latin typeface="Arial" pitchFamily="34" charset="0"/>
                <a:ea typeface="Arial" pitchFamily="34" charset="-122"/>
                <a:cs typeface="Arial" pitchFamily="34" charset="-120"/>
              </a:rPr>
              <a:t>Kein Gesetz. Herti: Veto, 68 Wohnungen werden bewohnt saniert.</a:t>
            </a:r>
            <a:endParaRPr lang="en-US" sz="850" dirty="0"/>
          </a:p>
        </p:txBody>
      </p:sp>
      <p:sp>
        <p:nvSpPr>
          <p:cNvPr id="27" name="Shape 25"/>
          <p:cNvSpPr/>
          <p:nvPr/>
        </p:nvSpPr>
        <p:spPr>
          <a:xfrm>
            <a:off x="6697980" y="3703320"/>
            <a:ext cx="1988820" cy="914400"/>
          </a:xfrm>
          <a:prstGeom prst="rect">
            <a:avLst/>
          </a:prstGeom>
          <a:solidFill>
            <a:srgbClr val="FFFFFF"/>
          </a:solidFill>
          <a:ln w="9525">
            <a:solidFill>
              <a:srgbClr val="E3DDD4"/>
            </a:solidFill>
            <a:prstDash val="solid"/>
          </a:ln>
        </p:spPr>
      </p:sp>
      <p:sp>
        <p:nvSpPr>
          <p:cNvPr id="28" name="Shape 26"/>
          <p:cNvSpPr/>
          <p:nvPr/>
        </p:nvSpPr>
        <p:spPr>
          <a:xfrm>
            <a:off x="6835140" y="3831336"/>
            <a:ext cx="128016" cy="128016"/>
          </a:xfrm>
          <a:prstGeom prst="rect">
            <a:avLst/>
          </a:prstGeom>
          <a:solidFill>
            <a:srgbClr val="8A8178"/>
          </a:solidFill>
          <a:ln w="12700">
            <a:solidFill>
              <a:srgbClr val="8A8178"/>
            </a:solidFill>
            <a:prstDash val="solid"/>
          </a:ln>
        </p:spPr>
      </p:sp>
      <p:sp>
        <p:nvSpPr>
          <p:cNvPr id="29" name="Text 27"/>
          <p:cNvSpPr txBox="1"/>
          <p:nvPr/>
        </p:nvSpPr>
        <p:spPr>
          <a:xfrm>
            <a:off x="7027164" y="3767328"/>
            <a:ext cx="1554480" cy="256032"/>
          </a:xfrm>
          <a:prstGeom prst="rect">
            <a:avLst/>
          </a:prstGeom>
          <a:noFill/>
          <a:ln/>
        </p:spPr>
        <p:txBody>
          <a:bodyPr wrap="square" lIns="0" tIns="0" rIns="0" bIns="0" rtlCol="0" anchor="ctr"/>
          <a:lstStyle/>
          <a:p>
            <a:pPr indent="0" marL="0">
              <a:buNone/>
            </a:pPr>
            <a:r>
              <a:rPr lang="en-US" sz="1100" b="1" dirty="0">
                <a:solidFill>
                  <a:srgbClr val="1C2326"/>
                </a:solidFill>
                <a:latin typeface="Arial" pitchFamily="34" charset="0"/>
                <a:ea typeface="Arial" pitchFamily="34" charset="-122"/>
                <a:cs typeface="Arial" pitchFamily="34" charset="-120"/>
              </a:rPr>
              <a:t>Schwyz</a:t>
            </a:r>
            <a:endParaRPr lang="en-US" sz="1100" dirty="0"/>
          </a:p>
        </p:txBody>
      </p:sp>
      <p:sp>
        <p:nvSpPr>
          <p:cNvPr id="30" name="Text 28"/>
          <p:cNvSpPr txBox="1"/>
          <p:nvPr/>
        </p:nvSpPr>
        <p:spPr>
          <a:xfrm>
            <a:off x="6835140" y="4041648"/>
            <a:ext cx="1737360" cy="530352"/>
          </a:xfrm>
          <a:prstGeom prst="rect">
            <a:avLst/>
          </a:prstGeom>
          <a:noFill/>
          <a:ln/>
        </p:spPr>
        <p:txBody>
          <a:bodyPr wrap="square" lIns="0" tIns="0" rIns="0" bIns="0" rtlCol="0" anchor="t"/>
          <a:lstStyle/>
          <a:p>
            <a:pPr indent="0" marL="0">
              <a:buNone/>
            </a:pPr>
            <a:r>
              <a:rPr lang="en-US" sz="850" dirty="0">
                <a:solidFill>
                  <a:srgbClr val="1C2326"/>
                </a:solidFill>
                <a:latin typeface="Arial" pitchFamily="34" charset="0"/>
                <a:ea typeface="Arial" pitchFamily="34" charset="-122"/>
                <a:cs typeface="Arial" pitchFamily="34" charset="-120"/>
              </a:rPr>
              <a:t>Nur Bundesrecht. Mieten +10,5 % in einem Jahr.</a:t>
            </a:r>
            <a:endParaRPr lang="en-US" sz="850" dirty="0"/>
          </a:p>
        </p:txBody>
      </p:sp>
      <p:sp>
        <p:nvSpPr>
          <p:cNvPr id="25" name="Slide Number Placeholder 0"/>
          <p:cNvSpPr>
            <a:spLocks noGrp="1"/>
          </p:cNvSpPr>
          <p:nvPr>
            <p:ph type="sldNum" sz="quarter" idx="4294967295"/>
          </p:nvPr>
        </p:nvSpPr>
        <p:spPr>
          <a:xfrm>
            <a:off x="8321040" y="4791456"/>
            <a:ext cx="365760" cy="274320"/>
          </a:xfrm>
          <a:prstGeom prst="rect">
            <a:avLst/>
          </a:prstGeom>
          <a:extLst>
            <a:ext uri="{C572A759-6A51-4108-AA02-DFA0A04FC94B}">
              <ma14:wrappingTextBoxFlag xmlns:ma14="http://schemas.microsoft.com/office/mac/drawingml/2011/main" val="0"/>
            </a:ext>
          </a:extLst>
        </p:spPr>
        <p:txBody>
          <a:bodyPr/>
          <a:lstStyle>
            <a:lvl1pPr>
              <a:defRPr sz="8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822960"/>
          </a:xfrm>
          <a:prstGeom prst="rect">
            <a:avLst/>
          </a:prstGeom>
          <a:noFill/>
          <a:ln/>
        </p:spPr>
        <p:txBody>
          <a:bodyPr wrap="square" lIns="0" tIns="0" rIns="0" bIns="0" rtlCol="0" anchor="t"/>
          <a:lstStyle/>
          <a:p>
            <a:pPr indent="0" marL="0">
              <a:buNone/>
            </a:pPr>
            <a:r>
              <a:rPr lang="en-US" sz="3000" b="1" dirty="0">
                <a:solidFill>
                  <a:schemeClr val="tx1"/>
                </a:solidFill>
              </a:rPr>
              <a:t>Fünf Parteien, ein Plan. So hält die Rochade rechtlich.</a:t>
            </a:r>
            <a:endParaRPr lang="en-US" sz="3000" dirty="0"/>
          </a:p>
        </p:txBody>
      </p:sp>
      <p:sp>
        <p:nvSpPr>
          <p:cNvPr id="3" name="Shape 1"/>
          <p:cNvSpPr/>
          <p:nvPr/>
        </p:nvSpPr>
        <p:spPr>
          <a:xfrm>
            <a:off x="457200" y="1280160"/>
            <a:ext cx="4023360" cy="530352"/>
          </a:xfrm>
          <a:prstGeom prst="rect">
            <a:avLst/>
          </a:prstGeom>
          <a:solidFill>
            <a:srgbClr val="FFFFFF"/>
          </a:solidFill>
          <a:ln w="9525">
            <a:solidFill>
              <a:srgbClr val="E3DDD4"/>
            </a:solidFill>
            <a:prstDash val="solid"/>
          </a:ln>
        </p:spPr>
      </p:sp>
      <p:sp>
        <p:nvSpPr>
          <p:cNvPr id="4" name="Shape 2"/>
          <p:cNvSpPr/>
          <p:nvPr/>
        </p:nvSpPr>
        <p:spPr>
          <a:xfrm>
            <a:off x="457200" y="1280160"/>
            <a:ext cx="64008" cy="530352"/>
          </a:xfrm>
          <a:prstGeom prst="rect">
            <a:avLst/>
          </a:prstGeom>
          <a:solidFill>
            <a:srgbClr val="24414A"/>
          </a:solidFill>
          <a:ln w="12700">
            <a:solidFill>
              <a:srgbClr val="24414A"/>
            </a:solidFill>
            <a:prstDash val="solid"/>
          </a:ln>
        </p:spPr>
      </p:sp>
      <p:sp>
        <p:nvSpPr>
          <p:cNvPr id="5" name="Text 3"/>
          <p:cNvSpPr txBox="1"/>
          <p:nvPr/>
        </p:nvSpPr>
        <p:spPr>
          <a:xfrm>
            <a:off x="658368" y="1280160"/>
            <a:ext cx="1234440" cy="530352"/>
          </a:xfrm>
          <a:prstGeom prst="rect">
            <a:avLst/>
          </a:prstGeom>
          <a:noFill/>
          <a:ln/>
        </p:spPr>
        <p:txBody>
          <a:bodyPr wrap="square" lIns="0" tIns="0" rIns="0" bIns="0" rtlCol="0" anchor="ctr"/>
          <a:lstStyle/>
          <a:p>
            <a:pPr indent="0" marL="0">
              <a:buNone/>
            </a:pPr>
            <a:r>
              <a:rPr lang="en-US" sz="1100" b="1" dirty="0">
                <a:solidFill>
                  <a:srgbClr val="1C2326"/>
                </a:solidFill>
                <a:latin typeface="Arial" pitchFamily="34" charset="0"/>
                <a:ea typeface="Arial" pitchFamily="34" charset="-122"/>
                <a:cs typeface="Arial" pitchFamily="34" charset="-120"/>
              </a:rPr>
              <a:t>Eigentümerschaft</a:t>
            </a:r>
            <a:endParaRPr lang="en-US" sz="1100" dirty="0"/>
          </a:p>
        </p:txBody>
      </p:sp>
      <p:sp>
        <p:nvSpPr>
          <p:cNvPr id="6" name="Text 4"/>
          <p:cNvSpPr txBox="1"/>
          <p:nvPr/>
        </p:nvSpPr>
        <p:spPr>
          <a:xfrm>
            <a:off x="1892808" y="1280160"/>
            <a:ext cx="2496312" cy="530352"/>
          </a:xfrm>
          <a:prstGeom prst="rect">
            <a:avLst/>
          </a:prstGeom>
          <a:noFill/>
          <a:ln/>
        </p:spPr>
        <p:txBody>
          <a:bodyPr wrap="square" lIns="0" tIns="0" rIns="0" bIns="0" rtlCol="0" anchor="ctr"/>
          <a:lstStyle/>
          <a:p>
            <a:pPr indent="0" marL="0">
              <a:buNone/>
            </a:pPr>
            <a:r>
              <a:rPr lang="en-US" sz="900" dirty="0">
                <a:solidFill>
                  <a:srgbClr val="1C2326"/>
                </a:solidFill>
                <a:latin typeface="Arial" pitchFamily="34" charset="0"/>
                <a:ea typeface="Arial" pitchFamily="34" charset="-122"/>
                <a:cs typeface="Arial" pitchFamily="34" charset="-120"/>
              </a:rPr>
              <a:t>Genossenschaft, Pensionskasse, Stadt. Entscheidet, zahlt, trägt das Reputationsrisiko.</a:t>
            </a:r>
            <a:endParaRPr lang="en-US" sz="900" dirty="0"/>
          </a:p>
        </p:txBody>
      </p:sp>
      <p:sp>
        <p:nvSpPr>
          <p:cNvPr id="7" name="Shape 5"/>
          <p:cNvSpPr/>
          <p:nvPr/>
        </p:nvSpPr>
        <p:spPr>
          <a:xfrm>
            <a:off x="457200" y="1883664"/>
            <a:ext cx="4023360" cy="530352"/>
          </a:xfrm>
          <a:prstGeom prst="rect">
            <a:avLst/>
          </a:prstGeom>
          <a:solidFill>
            <a:srgbClr val="FFFFFF"/>
          </a:solidFill>
          <a:ln w="9525">
            <a:solidFill>
              <a:srgbClr val="E3DDD4"/>
            </a:solidFill>
            <a:prstDash val="solid"/>
          </a:ln>
        </p:spPr>
      </p:sp>
      <p:sp>
        <p:nvSpPr>
          <p:cNvPr id="8" name="Shape 6"/>
          <p:cNvSpPr/>
          <p:nvPr/>
        </p:nvSpPr>
        <p:spPr>
          <a:xfrm>
            <a:off x="457200" y="1883664"/>
            <a:ext cx="64008" cy="530352"/>
          </a:xfrm>
          <a:prstGeom prst="rect">
            <a:avLst/>
          </a:prstGeom>
          <a:solidFill>
            <a:srgbClr val="24414A"/>
          </a:solidFill>
          <a:ln w="12700">
            <a:solidFill>
              <a:srgbClr val="24414A"/>
            </a:solidFill>
            <a:prstDash val="solid"/>
          </a:ln>
        </p:spPr>
      </p:sp>
      <p:sp>
        <p:nvSpPr>
          <p:cNvPr id="9" name="Text 7"/>
          <p:cNvSpPr txBox="1"/>
          <p:nvPr/>
        </p:nvSpPr>
        <p:spPr>
          <a:xfrm>
            <a:off x="658368" y="1883664"/>
            <a:ext cx="1234440" cy="530352"/>
          </a:xfrm>
          <a:prstGeom prst="rect">
            <a:avLst/>
          </a:prstGeom>
          <a:noFill/>
          <a:ln/>
        </p:spPr>
        <p:txBody>
          <a:bodyPr wrap="square" lIns="0" tIns="0" rIns="0" bIns="0" rtlCol="0" anchor="ctr"/>
          <a:lstStyle/>
          <a:p>
            <a:pPr indent="0" marL="0">
              <a:buNone/>
            </a:pPr>
            <a:r>
              <a:rPr lang="en-US" sz="1100" b="1" dirty="0">
                <a:solidFill>
                  <a:srgbClr val="1C2326"/>
                </a:solidFill>
                <a:latin typeface="Arial" pitchFamily="34" charset="0"/>
                <a:ea typeface="Arial" pitchFamily="34" charset="-122"/>
                <a:cs typeface="Arial" pitchFamily="34" charset="-120"/>
              </a:rPr>
              <a:t>Bewirtschaftung</a:t>
            </a:r>
            <a:endParaRPr lang="en-US" sz="1100" dirty="0"/>
          </a:p>
        </p:txBody>
      </p:sp>
      <p:sp>
        <p:nvSpPr>
          <p:cNvPr id="10" name="Text 8"/>
          <p:cNvSpPr txBox="1"/>
          <p:nvPr/>
        </p:nvSpPr>
        <p:spPr>
          <a:xfrm>
            <a:off x="1892808" y="1883664"/>
            <a:ext cx="2496312" cy="530352"/>
          </a:xfrm>
          <a:prstGeom prst="rect">
            <a:avLst/>
          </a:prstGeom>
          <a:noFill/>
          <a:ln/>
        </p:spPr>
        <p:txBody>
          <a:bodyPr wrap="square" lIns="0" tIns="0" rIns="0" bIns="0" rtlCol="0" anchor="ctr"/>
          <a:lstStyle/>
          <a:p>
            <a:pPr indent="0" marL="0">
              <a:buNone/>
            </a:pPr>
            <a:r>
              <a:rPr lang="en-US" sz="900" dirty="0">
                <a:solidFill>
                  <a:srgbClr val="1C2326"/>
                </a:solidFill>
                <a:latin typeface="Arial" pitchFamily="34" charset="0"/>
                <a:ea typeface="Arial" pitchFamily="34" charset="-122"/>
                <a:cs typeface="Arial" pitchFamily="34" charset="-120"/>
              </a:rPr>
              <a:t>Zuteilung, Übergaben, Information. Heute vierfacher Aufwand.</a:t>
            </a:r>
            <a:endParaRPr lang="en-US" sz="900" dirty="0"/>
          </a:p>
        </p:txBody>
      </p:sp>
      <p:sp>
        <p:nvSpPr>
          <p:cNvPr id="11" name="Shape 9"/>
          <p:cNvSpPr/>
          <p:nvPr/>
        </p:nvSpPr>
        <p:spPr>
          <a:xfrm>
            <a:off x="457200" y="2487168"/>
            <a:ext cx="4023360" cy="530352"/>
          </a:xfrm>
          <a:prstGeom prst="rect">
            <a:avLst/>
          </a:prstGeom>
          <a:solidFill>
            <a:srgbClr val="FFFFFF"/>
          </a:solidFill>
          <a:ln w="9525">
            <a:solidFill>
              <a:srgbClr val="E3DDD4"/>
            </a:solidFill>
            <a:prstDash val="solid"/>
          </a:ln>
        </p:spPr>
      </p:sp>
      <p:sp>
        <p:nvSpPr>
          <p:cNvPr id="12" name="Shape 10"/>
          <p:cNvSpPr/>
          <p:nvPr/>
        </p:nvSpPr>
        <p:spPr>
          <a:xfrm>
            <a:off x="457200" y="2487168"/>
            <a:ext cx="64008" cy="530352"/>
          </a:xfrm>
          <a:prstGeom prst="rect">
            <a:avLst/>
          </a:prstGeom>
          <a:solidFill>
            <a:srgbClr val="24414A"/>
          </a:solidFill>
          <a:ln w="12700">
            <a:solidFill>
              <a:srgbClr val="24414A"/>
            </a:solidFill>
            <a:prstDash val="solid"/>
          </a:ln>
        </p:spPr>
      </p:sp>
      <p:sp>
        <p:nvSpPr>
          <p:cNvPr id="13" name="Text 11"/>
          <p:cNvSpPr txBox="1"/>
          <p:nvPr/>
        </p:nvSpPr>
        <p:spPr>
          <a:xfrm>
            <a:off x="658368" y="2487168"/>
            <a:ext cx="1234440" cy="530352"/>
          </a:xfrm>
          <a:prstGeom prst="rect">
            <a:avLst/>
          </a:prstGeom>
          <a:noFill/>
          <a:ln/>
        </p:spPr>
        <p:txBody>
          <a:bodyPr wrap="square" lIns="0" tIns="0" rIns="0" bIns="0" rtlCol="0" anchor="ctr"/>
          <a:lstStyle/>
          <a:p>
            <a:pPr indent="0" marL="0">
              <a:buNone/>
            </a:pPr>
            <a:r>
              <a:rPr lang="en-US" sz="1100" b="1" dirty="0">
                <a:solidFill>
                  <a:srgbClr val="1C2326"/>
                </a:solidFill>
                <a:latin typeface="Arial" pitchFamily="34" charset="0"/>
                <a:ea typeface="Arial" pitchFamily="34" charset="-122"/>
                <a:cs typeface="Arial" pitchFamily="34" charset="-120"/>
              </a:rPr>
              <a:t>Bauleitung</a:t>
            </a:r>
            <a:endParaRPr lang="en-US" sz="1100" dirty="0"/>
          </a:p>
        </p:txBody>
      </p:sp>
      <p:sp>
        <p:nvSpPr>
          <p:cNvPr id="14" name="Text 12"/>
          <p:cNvSpPr txBox="1"/>
          <p:nvPr/>
        </p:nvSpPr>
        <p:spPr>
          <a:xfrm>
            <a:off x="1892808" y="2487168"/>
            <a:ext cx="2496312" cy="530352"/>
          </a:xfrm>
          <a:prstGeom prst="rect">
            <a:avLst/>
          </a:prstGeom>
          <a:noFill/>
          <a:ln/>
        </p:spPr>
        <p:txBody>
          <a:bodyPr wrap="square" lIns="0" tIns="0" rIns="0" bIns="0" rtlCol="0" anchor="ctr"/>
          <a:lstStyle/>
          <a:p>
            <a:pPr indent="0" marL="0">
              <a:buNone/>
            </a:pPr>
            <a:r>
              <a:rPr lang="en-US" sz="900" dirty="0">
                <a:solidFill>
                  <a:srgbClr val="1C2326"/>
                </a:solidFill>
                <a:latin typeface="Arial" pitchFamily="34" charset="0"/>
                <a:ea typeface="Arial" pitchFamily="34" charset="-122"/>
                <a:cs typeface="Arial" pitchFamily="34" charset="-120"/>
              </a:rPr>
              <a:t>Braucht leere Etappen zum Termin. Verzug kostet.</a:t>
            </a:r>
            <a:endParaRPr lang="en-US" sz="900" dirty="0"/>
          </a:p>
        </p:txBody>
      </p:sp>
      <p:sp>
        <p:nvSpPr>
          <p:cNvPr id="15" name="Shape 13"/>
          <p:cNvSpPr/>
          <p:nvPr/>
        </p:nvSpPr>
        <p:spPr>
          <a:xfrm>
            <a:off x="457200" y="3090672"/>
            <a:ext cx="4023360" cy="530352"/>
          </a:xfrm>
          <a:prstGeom prst="rect">
            <a:avLst/>
          </a:prstGeom>
          <a:solidFill>
            <a:srgbClr val="FFFFFF"/>
          </a:solidFill>
          <a:ln w="9525">
            <a:solidFill>
              <a:srgbClr val="E3DDD4"/>
            </a:solidFill>
            <a:prstDash val="solid"/>
          </a:ln>
        </p:spPr>
      </p:sp>
      <p:sp>
        <p:nvSpPr>
          <p:cNvPr id="16" name="Shape 14"/>
          <p:cNvSpPr/>
          <p:nvPr/>
        </p:nvSpPr>
        <p:spPr>
          <a:xfrm>
            <a:off x="457200" y="3090672"/>
            <a:ext cx="64008" cy="530352"/>
          </a:xfrm>
          <a:prstGeom prst="rect">
            <a:avLst/>
          </a:prstGeom>
          <a:solidFill>
            <a:srgbClr val="F26A1B"/>
          </a:solidFill>
          <a:ln w="12700">
            <a:solidFill>
              <a:srgbClr val="F26A1B"/>
            </a:solidFill>
            <a:prstDash val="solid"/>
          </a:ln>
        </p:spPr>
      </p:sp>
      <p:sp>
        <p:nvSpPr>
          <p:cNvPr id="17" name="Text 15"/>
          <p:cNvSpPr txBox="1"/>
          <p:nvPr/>
        </p:nvSpPr>
        <p:spPr>
          <a:xfrm>
            <a:off x="658368" y="3090672"/>
            <a:ext cx="1234440" cy="530352"/>
          </a:xfrm>
          <a:prstGeom prst="rect">
            <a:avLst/>
          </a:prstGeom>
          <a:noFill/>
          <a:ln/>
        </p:spPr>
        <p:txBody>
          <a:bodyPr wrap="square" lIns="0" tIns="0" rIns="0" bIns="0" rtlCol="0" anchor="ctr"/>
          <a:lstStyle/>
          <a:p>
            <a:pPr indent="0" marL="0">
              <a:buNone/>
            </a:pPr>
            <a:r>
              <a:rPr lang="en-US" sz="1100" b="1" dirty="0">
                <a:solidFill>
                  <a:srgbClr val="1C2326"/>
                </a:solidFill>
                <a:latin typeface="Arial" pitchFamily="34" charset="0"/>
                <a:ea typeface="Arial" pitchFamily="34" charset="-122"/>
                <a:cs typeface="Arial" pitchFamily="34" charset="-120"/>
              </a:rPr>
              <a:t>Mietende</a:t>
            </a:r>
            <a:endParaRPr lang="en-US" sz="1100" dirty="0"/>
          </a:p>
        </p:txBody>
      </p:sp>
      <p:sp>
        <p:nvSpPr>
          <p:cNvPr id="18" name="Text 16"/>
          <p:cNvSpPr txBox="1"/>
          <p:nvPr/>
        </p:nvSpPr>
        <p:spPr>
          <a:xfrm>
            <a:off x="1892808" y="3090672"/>
            <a:ext cx="2496312" cy="530352"/>
          </a:xfrm>
          <a:prstGeom prst="rect">
            <a:avLst/>
          </a:prstGeom>
          <a:noFill/>
          <a:ln/>
        </p:spPr>
        <p:txBody>
          <a:bodyPr wrap="square" lIns="0" tIns="0" rIns="0" bIns="0" rtlCol="0" anchor="ctr"/>
          <a:lstStyle/>
          <a:p>
            <a:pPr indent="0" marL="0">
              <a:buNone/>
            </a:pPr>
            <a:r>
              <a:rPr lang="en-US" sz="900" dirty="0">
                <a:solidFill>
                  <a:srgbClr val="1C2326"/>
                </a:solidFill>
                <a:latin typeface="Arial" pitchFamily="34" charset="0"/>
                <a:ea typeface="Arial" pitchFamily="34" charset="-122"/>
                <a:cs typeface="Arial" pitchFamily="34" charset="-120"/>
              </a:rPr>
              <a:t>Ziehen freiwillig um, brauchen Klarheit. Mieterverband berät.</a:t>
            </a:r>
            <a:endParaRPr lang="en-US" sz="900" dirty="0"/>
          </a:p>
        </p:txBody>
      </p:sp>
      <p:sp>
        <p:nvSpPr>
          <p:cNvPr id="19" name="Shape 17"/>
          <p:cNvSpPr/>
          <p:nvPr/>
        </p:nvSpPr>
        <p:spPr>
          <a:xfrm>
            <a:off x="457200" y="3694176"/>
            <a:ext cx="4023360" cy="530352"/>
          </a:xfrm>
          <a:prstGeom prst="rect">
            <a:avLst/>
          </a:prstGeom>
          <a:solidFill>
            <a:srgbClr val="FFFFFF"/>
          </a:solidFill>
          <a:ln w="9525">
            <a:solidFill>
              <a:srgbClr val="E3DDD4"/>
            </a:solidFill>
            <a:prstDash val="solid"/>
          </a:ln>
        </p:spPr>
      </p:sp>
      <p:sp>
        <p:nvSpPr>
          <p:cNvPr id="20" name="Shape 18"/>
          <p:cNvSpPr/>
          <p:nvPr/>
        </p:nvSpPr>
        <p:spPr>
          <a:xfrm>
            <a:off x="457200" y="3694176"/>
            <a:ext cx="64008" cy="530352"/>
          </a:xfrm>
          <a:prstGeom prst="rect">
            <a:avLst/>
          </a:prstGeom>
          <a:solidFill>
            <a:srgbClr val="24414A"/>
          </a:solidFill>
          <a:ln w="12700">
            <a:solidFill>
              <a:srgbClr val="24414A"/>
            </a:solidFill>
            <a:prstDash val="solid"/>
          </a:ln>
        </p:spPr>
      </p:sp>
      <p:sp>
        <p:nvSpPr>
          <p:cNvPr id="21" name="Text 19"/>
          <p:cNvSpPr txBox="1"/>
          <p:nvPr/>
        </p:nvSpPr>
        <p:spPr>
          <a:xfrm>
            <a:off x="658368" y="3694176"/>
            <a:ext cx="1234440" cy="530352"/>
          </a:xfrm>
          <a:prstGeom prst="rect">
            <a:avLst/>
          </a:prstGeom>
          <a:noFill/>
          <a:ln/>
        </p:spPr>
        <p:txBody>
          <a:bodyPr wrap="square" lIns="0" tIns="0" rIns="0" bIns="0" rtlCol="0" anchor="ctr"/>
          <a:lstStyle/>
          <a:p>
            <a:pPr indent="0" marL="0">
              <a:buNone/>
            </a:pPr>
            <a:r>
              <a:rPr lang="en-US" sz="1100" b="1" dirty="0">
                <a:solidFill>
                  <a:srgbClr val="1C2326"/>
                </a:solidFill>
                <a:latin typeface="Arial" pitchFamily="34" charset="0"/>
                <a:ea typeface="Arial" pitchFamily="34" charset="-122"/>
                <a:cs typeface="Arial" pitchFamily="34" charset="-120"/>
              </a:rPr>
              <a:t>Gemeinde</a:t>
            </a:r>
            <a:endParaRPr lang="en-US" sz="1100" dirty="0"/>
          </a:p>
        </p:txBody>
      </p:sp>
      <p:sp>
        <p:nvSpPr>
          <p:cNvPr id="22" name="Text 20"/>
          <p:cNvSpPr txBox="1"/>
          <p:nvPr/>
        </p:nvSpPr>
        <p:spPr>
          <a:xfrm>
            <a:off x="1892808" y="3694176"/>
            <a:ext cx="2496312" cy="530352"/>
          </a:xfrm>
          <a:prstGeom prst="rect">
            <a:avLst/>
          </a:prstGeom>
          <a:noFill/>
          <a:ln/>
        </p:spPr>
        <p:txBody>
          <a:bodyPr wrap="square" lIns="0" tIns="0" rIns="0" bIns="0" rtlCol="0" anchor="ctr"/>
          <a:lstStyle/>
          <a:p>
            <a:pPr indent="0" marL="0">
              <a:buNone/>
            </a:pPr>
            <a:r>
              <a:rPr lang="en-US" sz="900" dirty="0">
                <a:solidFill>
                  <a:srgbClr val="1C2326"/>
                </a:solidFill>
                <a:latin typeface="Arial" pitchFamily="34" charset="0"/>
                <a:ea typeface="Arial" pitchFamily="34" charset="-122"/>
                <a:cs typeface="Arial" pitchFamily="34" charset="-120"/>
              </a:rPr>
              <a:t>Erteilt die Baubewilligung. Zürich prüft neu den Nachweis.</a:t>
            </a:r>
            <a:endParaRPr lang="en-US" sz="900" dirty="0"/>
          </a:p>
        </p:txBody>
      </p:sp>
      <p:sp>
        <p:nvSpPr>
          <p:cNvPr id="23" name="Shape 21"/>
          <p:cNvSpPr/>
          <p:nvPr/>
        </p:nvSpPr>
        <p:spPr>
          <a:xfrm>
            <a:off x="4663440" y="1280160"/>
            <a:ext cx="4023360" cy="3291840"/>
          </a:xfrm>
          <a:prstGeom prst="rect">
            <a:avLst/>
          </a:prstGeom>
          <a:solidFill>
            <a:srgbClr val="24414A"/>
          </a:solidFill>
          <a:ln w="12700">
            <a:solidFill>
              <a:srgbClr val="24414A"/>
            </a:solidFill>
            <a:prstDash val="solid"/>
          </a:ln>
        </p:spPr>
      </p:sp>
      <p:sp>
        <p:nvSpPr>
          <p:cNvPr id="24" name="Text 22"/>
          <p:cNvSpPr txBox="1"/>
          <p:nvPr/>
        </p:nvSpPr>
        <p:spPr>
          <a:xfrm>
            <a:off x="4892040" y="1371600"/>
            <a:ext cx="3566160" cy="274320"/>
          </a:xfrm>
          <a:prstGeom prst="rect">
            <a:avLst/>
          </a:prstGeom>
          <a:noFill/>
          <a:ln/>
        </p:spPr>
        <p:txBody>
          <a:bodyPr wrap="square" lIns="0" tIns="0" rIns="0" bIns="0" rtlCol="0" anchor="ctr"/>
          <a:lstStyle/>
          <a:p>
            <a:pPr indent="0" marL="0">
              <a:buNone/>
            </a:pPr>
            <a:r>
              <a:rPr lang="en-US" sz="1100" b="1" dirty="0">
                <a:solidFill>
                  <a:srgbClr val="B5C9CE"/>
                </a:solidFill>
                <a:latin typeface="Arial" pitchFamily="34" charset="0"/>
                <a:ea typeface="Arial" pitchFamily="34" charset="-122"/>
                <a:cs typeface="Arial" pitchFamily="34" charset="-120"/>
              </a:rPr>
              <a:t>So hält die Rochade</a:t>
            </a:r>
            <a:endParaRPr lang="en-US" sz="1100" dirty="0"/>
          </a:p>
        </p:txBody>
      </p:sp>
      <p:sp>
        <p:nvSpPr>
          <p:cNvPr id="25" name="Shape 23"/>
          <p:cNvSpPr/>
          <p:nvPr/>
        </p:nvSpPr>
        <p:spPr>
          <a:xfrm>
            <a:off x="4892040" y="1755648"/>
            <a:ext cx="310896" cy="310896"/>
          </a:xfrm>
          <a:prstGeom prst="rect">
            <a:avLst/>
          </a:prstGeom>
          <a:solidFill>
            <a:srgbClr val="F26A1B"/>
          </a:solidFill>
          <a:ln w="12700">
            <a:solidFill>
              <a:srgbClr val="F26A1B"/>
            </a:solidFill>
            <a:prstDash val="solid"/>
          </a:ln>
        </p:spPr>
      </p:sp>
      <p:sp>
        <p:nvSpPr>
          <p:cNvPr id="26" name="Text 24"/>
          <p:cNvSpPr txBox="1"/>
          <p:nvPr/>
        </p:nvSpPr>
        <p:spPr>
          <a:xfrm>
            <a:off x="4892040" y="17556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27" name="Text 25"/>
          <p:cNvSpPr txBox="1"/>
          <p:nvPr/>
        </p:nvSpPr>
        <p:spPr>
          <a:xfrm>
            <a:off x="5321808" y="1719072"/>
            <a:ext cx="320040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Der Mietvertrag bleibt.</a:t>
            </a:r>
            <a:endParaRPr lang="en-US" sz="1200" dirty="0"/>
          </a:p>
        </p:txBody>
      </p:sp>
      <p:sp>
        <p:nvSpPr>
          <p:cNvPr id="28" name="Text 26"/>
          <p:cNvSpPr txBox="1"/>
          <p:nvPr/>
        </p:nvSpPr>
        <p:spPr>
          <a:xfrm>
            <a:off x="5321808" y="1993392"/>
            <a:ext cx="3200400" cy="384048"/>
          </a:xfrm>
          <a:prstGeom prst="rect">
            <a:avLst/>
          </a:prstGeom>
          <a:noFill/>
          <a:ln/>
        </p:spPr>
        <p:txBody>
          <a:bodyPr wrap="square" lIns="0" tIns="0" rIns="0" bIns="0" rtlCol="0" anchor="t"/>
          <a:lstStyle/>
          <a:p>
            <a:pPr indent="0" marL="0">
              <a:buNone/>
            </a:pPr>
            <a:r>
              <a:rPr lang="en-US" sz="900" dirty="0">
                <a:solidFill>
                  <a:srgbClr val="D4E1E5"/>
                </a:solidFill>
                <a:latin typeface="Arial" pitchFamily="34" charset="0"/>
                <a:ea typeface="Arial" pitchFamily="34" charset="-122"/>
                <a:cs typeface="Arial" pitchFamily="34" charset="-120"/>
              </a:rPr>
              <a:t>Keine Kündigung, keine Anfechtung, keine Erstreckung.</a:t>
            </a:r>
            <a:endParaRPr lang="en-US" sz="900" dirty="0"/>
          </a:p>
        </p:txBody>
      </p:sp>
      <p:sp>
        <p:nvSpPr>
          <p:cNvPr id="29" name="Shape 27"/>
          <p:cNvSpPr/>
          <p:nvPr/>
        </p:nvSpPr>
        <p:spPr>
          <a:xfrm>
            <a:off x="4892040" y="2450592"/>
            <a:ext cx="310896" cy="310896"/>
          </a:xfrm>
          <a:prstGeom prst="rect">
            <a:avLst/>
          </a:prstGeom>
          <a:solidFill>
            <a:srgbClr val="F26A1B"/>
          </a:solidFill>
          <a:ln w="12700">
            <a:solidFill>
              <a:srgbClr val="F26A1B"/>
            </a:solidFill>
            <a:prstDash val="solid"/>
          </a:ln>
        </p:spPr>
      </p:sp>
      <p:sp>
        <p:nvSpPr>
          <p:cNvPr id="30" name="Text 28"/>
          <p:cNvSpPr txBox="1"/>
          <p:nvPr/>
        </p:nvSpPr>
        <p:spPr>
          <a:xfrm>
            <a:off x="4892040" y="24505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31" name="Text 29"/>
          <p:cNvSpPr txBox="1"/>
          <p:nvPr/>
        </p:nvSpPr>
        <p:spPr>
          <a:xfrm>
            <a:off x="5321808" y="2414016"/>
            <a:ext cx="320040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Rochade-Vereinbarung.</a:t>
            </a:r>
            <a:endParaRPr lang="en-US" sz="1200" dirty="0"/>
          </a:p>
        </p:txBody>
      </p:sp>
      <p:sp>
        <p:nvSpPr>
          <p:cNvPr id="32" name="Text 30"/>
          <p:cNvSpPr txBox="1"/>
          <p:nvPr/>
        </p:nvSpPr>
        <p:spPr>
          <a:xfrm>
            <a:off x="5321808" y="2688336"/>
            <a:ext cx="3200400" cy="384048"/>
          </a:xfrm>
          <a:prstGeom prst="rect">
            <a:avLst/>
          </a:prstGeom>
          <a:noFill/>
          <a:ln/>
        </p:spPr>
        <p:txBody>
          <a:bodyPr wrap="square" lIns="0" tIns="0" rIns="0" bIns="0" rtlCol="0" anchor="t"/>
          <a:lstStyle/>
          <a:p>
            <a:pPr indent="0" marL="0">
              <a:buNone/>
            </a:pPr>
            <a:r>
              <a:rPr lang="en-US" sz="900" dirty="0">
                <a:solidFill>
                  <a:srgbClr val="D4E1E5"/>
                </a:solidFill>
                <a:latin typeface="Arial" pitchFamily="34" charset="0"/>
                <a:ea typeface="Arial" pitchFamily="34" charset="-122"/>
                <a:cs typeface="Arial" pitchFamily="34" charset="-120"/>
              </a:rPr>
              <a:t>Ausweichwohnung befristet (OR 255), Termine, Umzugskosten, Rückkehr schriftlich.</a:t>
            </a:r>
            <a:endParaRPr lang="en-US" sz="900" dirty="0"/>
          </a:p>
        </p:txBody>
      </p:sp>
      <p:sp>
        <p:nvSpPr>
          <p:cNvPr id="33" name="Shape 31"/>
          <p:cNvSpPr/>
          <p:nvPr/>
        </p:nvSpPr>
        <p:spPr>
          <a:xfrm>
            <a:off x="4892040" y="3145536"/>
            <a:ext cx="310896" cy="310896"/>
          </a:xfrm>
          <a:prstGeom prst="rect">
            <a:avLst/>
          </a:prstGeom>
          <a:solidFill>
            <a:srgbClr val="F26A1B"/>
          </a:solidFill>
          <a:ln w="12700">
            <a:solidFill>
              <a:srgbClr val="F26A1B"/>
            </a:solidFill>
            <a:prstDash val="solid"/>
          </a:ln>
        </p:spPr>
      </p:sp>
      <p:sp>
        <p:nvSpPr>
          <p:cNvPr id="34" name="Text 32"/>
          <p:cNvSpPr txBox="1"/>
          <p:nvPr/>
        </p:nvSpPr>
        <p:spPr>
          <a:xfrm>
            <a:off x="4892040" y="3145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35" name="Text 33"/>
          <p:cNvSpPr txBox="1"/>
          <p:nvPr/>
        </p:nvSpPr>
        <p:spPr>
          <a:xfrm>
            <a:off x="5321808" y="3108960"/>
            <a:ext cx="320040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Gleichwertiges Ersatzangebot.</a:t>
            </a:r>
            <a:endParaRPr lang="en-US" sz="1200" dirty="0"/>
          </a:p>
        </p:txBody>
      </p:sp>
      <p:sp>
        <p:nvSpPr>
          <p:cNvPr id="36" name="Text 34"/>
          <p:cNvSpPr txBox="1"/>
          <p:nvPr/>
        </p:nvSpPr>
        <p:spPr>
          <a:xfrm>
            <a:off x="5321808" y="3383280"/>
            <a:ext cx="3200400" cy="384048"/>
          </a:xfrm>
          <a:prstGeom prst="rect">
            <a:avLst/>
          </a:prstGeom>
          <a:noFill/>
          <a:ln/>
        </p:spPr>
        <p:txBody>
          <a:bodyPr wrap="square" lIns="0" tIns="0" rIns="0" bIns="0" rtlCol="0" anchor="t"/>
          <a:lstStyle/>
          <a:p>
            <a:pPr indent="0" marL="0">
              <a:buNone/>
            </a:pPr>
            <a:r>
              <a:rPr lang="en-US" sz="900" dirty="0">
                <a:solidFill>
                  <a:srgbClr val="D4E1E5"/>
                </a:solidFill>
                <a:latin typeface="Arial" pitchFamily="34" charset="0"/>
                <a:ea typeface="Arial" pitchFamily="34" charset="-122"/>
                <a:cs typeface="Arial" pitchFamily="34" charset="-120"/>
              </a:rPr>
              <a:t>Mängelrechte entfallen weitgehend (OR 259c, Obergericht Zürich 2025).</a:t>
            </a:r>
            <a:endParaRPr lang="en-US" sz="900" dirty="0"/>
          </a:p>
        </p:txBody>
      </p:sp>
      <p:sp>
        <p:nvSpPr>
          <p:cNvPr id="37" name="Shape 35"/>
          <p:cNvSpPr/>
          <p:nvPr/>
        </p:nvSpPr>
        <p:spPr>
          <a:xfrm>
            <a:off x="4892040" y="3840480"/>
            <a:ext cx="310896" cy="310896"/>
          </a:xfrm>
          <a:prstGeom prst="rect">
            <a:avLst/>
          </a:prstGeom>
          <a:solidFill>
            <a:srgbClr val="F26A1B"/>
          </a:solidFill>
          <a:ln w="12700">
            <a:solidFill>
              <a:srgbClr val="F26A1B"/>
            </a:solidFill>
            <a:prstDash val="solid"/>
          </a:ln>
        </p:spPr>
      </p:sp>
      <p:sp>
        <p:nvSpPr>
          <p:cNvPr id="38" name="Text 36"/>
          <p:cNvSpPr txBox="1"/>
          <p:nvPr/>
        </p:nvSpPr>
        <p:spPr>
          <a:xfrm>
            <a:off x="4892040" y="38404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39" name="Text 37"/>
          <p:cNvSpPr txBox="1"/>
          <p:nvPr/>
        </p:nvSpPr>
        <p:spPr>
          <a:xfrm>
            <a:off x="5321808" y="3803904"/>
            <a:ext cx="320040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Miete danach.</a:t>
            </a:r>
            <a:endParaRPr lang="en-US" sz="1200" dirty="0"/>
          </a:p>
        </p:txBody>
      </p:sp>
      <p:sp>
        <p:nvSpPr>
          <p:cNvPr id="40" name="Text 38"/>
          <p:cNvSpPr txBox="1"/>
          <p:nvPr/>
        </p:nvSpPr>
        <p:spPr>
          <a:xfrm>
            <a:off x="5321808" y="4078224"/>
            <a:ext cx="3200400" cy="384048"/>
          </a:xfrm>
          <a:prstGeom prst="rect">
            <a:avLst/>
          </a:prstGeom>
          <a:noFill/>
          <a:ln/>
        </p:spPr>
        <p:txBody>
          <a:bodyPr wrap="square" lIns="0" tIns="0" rIns="0" bIns="0" rtlCol="0" anchor="t"/>
          <a:lstStyle/>
          <a:p>
            <a:pPr indent="0" marL="0">
              <a:buNone/>
            </a:pPr>
            <a:r>
              <a:rPr lang="en-US" sz="900" dirty="0">
                <a:solidFill>
                  <a:srgbClr val="D4E1E5"/>
                </a:solidFill>
                <a:latin typeface="Arial" pitchFamily="34" charset="0"/>
                <a:ea typeface="Arial" pitchFamily="34" charset="-122"/>
                <a:cs typeface="Arial" pitchFamily="34" charset="-120"/>
              </a:rPr>
              <a:t>Nur der wertvermehrende Anteil wird überwälzt, 50 bis 70 % bei umfassender Überholung (VMWG 14).</a:t>
            </a:r>
            <a:endParaRPr lang="en-US" sz="900" dirty="0"/>
          </a:p>
        </p:txBody>
      </p:sp>
      <p:sp>
        <p:nvSpPr>
          <p:cNvPr id="25" name="Slide Number Placeholder 0"/>
          <p:cNvSpPr>
            <a:spLocks noGrp="1"/>
          </p:cNvSpPr>
          <p:nvPr>
            <p:ph type="sldNum" sz="quarter" idx="4294967295"/>
          </p:nvPr>
        </p:nvSpPr>
        <p:spPr>
          <a:xfrm>
            <a:off x="8321040" y="4791456"/>
            <a:ext cx="365760" cy="274320"/>
          </a:xfrm>
          <a:prstGeom prst="rect">
            <a:avLst/>
          </a:prstGeom>
          <a:extLst>
            <a:ext uri="{C572A759-6A51-4108-AA02-DFA0A04FC94B}">
              <ma14:wrappingTextBoxFlag xmlns:ma14="http://schemas.microsoft.com/office/mac/drawingml/2011/main" val="0"/>
            </a:ext>
          </a:extLst>
        </p:spPr>
        <p:txBody>
          <a:bodyPr/>
          <a:lstStyle>
            <a:lvl1pPr>
              <a:defRPr sz="8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822960"/>
          </a:xfrm>
          <a:prstGeom prst="rect">
            <a:avLst/>
          </a:prstGeom>
          <a:noFill/>
          <a:ln/>
        </p:spPr>
        <p:txBody>
          <a:bodyPr wrap="square" lIns="0" tIns="0" rIns="0" bIns="0" rtlCol="0" anchor="t"/>
          <a:lstStyle/>
          <a:p>
            <a:pPr indent="0" marL="0">
              <a:buNone/>
            </a:pPr>
            <a:r>
              <a:rPr lang="en-US" sz="3000" b="1" dirty="0">
                <a:solidFill>
                  <a:schemeClr val="tx1"/>
                </a:solidFill>
              </a:rPr>
              <a:t>ROCHADE plant die Rochade. Vier Regeln, jeder Konflikt mit Vorschlag.</a:t>
            </a:r>
            <a:endParaRPr lang="en-US" sz="3000" dirty="0"/>
          </a:p>
        </p:txBody>
      </p:sp>
      <p:sp>
        <p:nvSpPr>
          <p:cNvPr id="3" name="Shape 1"/>
          <p:cNvSpPr/>
          <p:nvPr/>
        </p:nvSpPr>
        <p:spPr>
          <a:xfrm>
            <a:off x="457200" y="1280160"/>
            <a:ext cx="5760720" cy="2788920"/>
          </a:xfrm>
          <a:prstGeom prst="rect">
            <a:avLst/>
          </a:prstGeom>
          <a:solidFill>
            <a:srgbClr val="FFFFFF"/>
          </a:solidFill>
          <a:ln w="9525">
            <a:solidFill>
              <a:srgbClr val="E3DDD4"/>
            </a:solidFill>
            <a:prstDash val="solid"/>
          </a:ln>
        </p:spPr>
      </p:sp>
      <p:pic>
        <p:nvPicPr>
          <p:cNvPr id="4" name="Image 0" descr="/private/tmp/claude-501/-Users-francescorocca--claude-spares-spare-pTP7p5/c9c54887-e9ac-44ae-bd9c-ebf5f8016333/scratchpad/deck/img/stage-square-crop.png">    </p:cNvPr>
          <p:cNvPicPr>
            <a:picLocks noChangeAspect="1"/>
          </p:cNvPicPr>
          <p:nvPr/>
        </p:nvPicPr>
        <p:blipFill>
          <a:blip r:embed="rId1"/>
          <a:srcRect l="0" r="0" t="0" b="0"/>
          <a:stretch/>
        </p:blipFill>
        <p:spPr>
          <a:xfrm>
            <a:off x="566928" y="1371600"/>
            <a:ext cx="5541264" cy="2606040"/>
          </a:xfrm>
          <a:prstGeom prst="rect">
            <a:avLst/>
          </a:prstGeom>
        </p:spPr>
      </p:pic>
      <p:sp>
        <p:nvSpPr>
          <p:cNvPr id="5" name="Shape 2"/>
          <p:cNvSpPr/>
          <p:nvPr/>
        </p:nvSpPr>
        <p:spPr>
          <a:xfrm>
            <a:off x="457200" y="4160520"/>
            <a:ext cx="274320" cy="274320"/>
          </a:xfrm>
          <a:prstGeom prst="rect">
            <a:avLst/>
          </a:prstGeom>
          <a:solidFill>
            <a:srgbClr val="1C2326"/>
          </a:solidFill>
          <a:ln w="12700">
            <a:solidFill>
              <a:srgbClr val="1C2326"/>
            </a:solidFill>
            <a:prstDash val="solid"/>
          </a:ln>
        </p:spPr>
      </p:sp>
      <p:sp>
        <p:nvSpPr>
          <p:cNvPr id="6" name="Text 3"/>
          <p:cNvSpPr txBox="1"/>
          <p:nvPr/>
        </p:nvSpPr>
        <p:spPr>
          <a:xfrm>
            <a:off x="457200" y="416052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7" name="Text 4"/>
          <p:cNvSpPr txBox="1"/>
          <p:nvPr/>
        </p:nvSpPr>
        <p:spPr>
          <a:xfrm>
            <a:off x="786384" y="4160520"/>
            <a:ext cx="1115568" cy="274320"/>
          </a:xfrm>
          <a:prstGeom prst="rect">
            <a:avLst/>
          </a:prstGeom>
          <a:noFill/>
          <a:ln/>
        </p:spPr>
        <p:txBody>
          <a:bodyPr wrap="square" lIns="0" tIns="0" rIns="0" bIns="0" rtlCol="0" anchor="ctr"/>
          <a:lstStyle/>
          <a:p>
            <a:pPr indent="0" marL="0">
              <a:buNone/>
            </a:pPr>
            <a:r>
              <a:rPr lang="en-US" sz="950" b="1" dirty="0">
                <a:solidFill>
                  <a:srgbClr val="1C2326"/>
                </a:solidFill>
                <a:latin typeface="Arial" pitchFamily="34" charset="0"/>
                <a:ea typeface="Arial" pitchFamily="34" charset="-122"/>
                <a:cs typeface="Arial" pitchFamily="34" charset="-120"/>
              </a:rPr>
              <a:t>Zimmerzahl</a:t>
            </a:r>
            <a:endParaRPr lang="en-US" sz="950" dirty="0"/>
          </a:p>
        </p:txBody>
      </p:sp>
      <p:sp>
        <p:nvSpPr>
          <p:cNvPr id="8" name="Shape 5"/>
          <p:cNvSpPr/>
          <p:nvPr/>
        </p:nvSpPr>
        <p:spPr>
          <a:xfrm>
            <a:off x="1920240" y="4160520"/>
            <a:ext cx="274320" cy="274320"/>
          </a:xfrm>
          <a:prstGeom prst="rect">
            <a:avLst/>
          </a:prstGeom>
          <a:solidFill>
            <a:srgbClr val="1C2326"/>
          </a:solidFill>
          <a:ln w="12700">
            <a:solidFill>
              <a:srgbClr val="1C2326"/>
            </a:solidFill>
            <a:prstDash val="solid"/>
          </a:ln>
        </p:spPr>
      </p:sp>
      <p:sp>
        <p:nvSpPr>
          <p:cNvPr id="9" name="Text 6"/>
          <p:cNvSpPr txBox="1"/>
          <p:nvPr/>
        </p:nvSpPr>
        <p:spPr>
          <a:xfrm>
            <a:off x="1920240" y="416052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0" name="Text 7"/>
          <p:cNvSpPr txBox="1"/>
          <p:nvPr/>
        </p:nvSpPr>
        <p:spPr>
          <a:xfrm>
            <a:off x="2249424" y="4160520"/>
            <a:ext cx="1115568" cy="274320"/>
          </a:xfrm>
          <a:prstGeom prst="rect">
            <a:avLst/>
          </a:prstGeom>
          <a:noFill/>
          <a:ln/>
        </p:spPr>
        <p:txBody>
          <a:bodyPr wrap="square" lIns="0" tIns="0" rIns="0" bIns="0" rtlCol="0" anchor="ctr"/>
          <a:lstStyle/>
          <a:p>
            <a:pPr indent="0" marL="0">
              <a:buNone/>
            </a:pPr>
            <a:r>
              <a:rPr lang="en-US" sz="950" b="1" dirty="0">
                <a:solidFill>
                  <a:srgbClr val="1C2326"/>
                </a:solidFill>
                <a:latin typeface="Arial" pitchFamily="34" charset="0"/>
                <a:ea typeface="Arial" pitchFamily="34" charset="-122"/>
                <a:cs typeface="Arial" pitchFamily="34" charset="-120"/>
              </a:rPr>
              <a:t>Hindernisfrei</a:t>
            </a:r>
            <a:endParaRPr lang="en-US" sz="950" dirty="0"/>
          </a:p>
        </p:txBody>
      </p:sp>
      <p:sp>
        <p:nvSpPr>
          <p:cNvPr id="11" name="Shape 8"/>
          <p:cNvSpPr/>
          <p:nvPr/>
        </p:nvSpPr>
        <p:spPr>
          <a:xfrm>
            <a:off x="3383280" y="4160520"/>
            <a:ext cx="274320" cy="274320"/>
          </a:xfrm>
          <a:prstGeom prst="rect">
            <a:avLst/>
          </a:prstGeom>
          <a:solidFill>
            <a:srgbClr val="1C2326"/>
          </a:solidFill>
          <a:ln w="12700">
            <a:solidFill>
              <a:srgbClr val="1C2326"/>
            </a:solidFill>
            <a:prstDash val="solid"/>
          </a:ln>
        </p:spPr>
      </p:sp>
      <p:sp>
        <p:nvSpPr>
          <p:cNvPr id="12" name="Text 9"/>
          <p:cNvSpPr txBox="1"/>
          <p:nvPr/>
        </p:nvSpPr>
        <p:spPr>
          <a:xfrm>
            <a:off x="3383280" y="416052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3" name="Text 10"/>
          <p:cNvSpPr txBox="1"/>
          <p:nvPr/>
        </p:nvSpPr>
        <p:spPr>
          <a:xfrm>
            <a:off x="3712464" y="4160520"/>
            <a:ext cx="1115568" cy="274320"/>
          </a:xfrm>
          <a:prstGeom prst="rect">
            <a:avLst/>
          </a:prstGeom>
          <a:noFill/>
          <a:ln/>
        </p:spPr>
        <p:txBody>
          <a:bodyPr wrap="square" lIns="0" tIns="0" rIns="0" bIns="0" rtlCol="0" anchor="ctr"/>
          <a:lstStyle/>
          <a:p>
            <a:pPr indent="0" marL="0">
              <a:buNone/>
            </a:pPr>
            <a:r>
              <a:rPr lang="en-US" sz="950" b="1" dirty="0">
                <a:solidFill>
                  <a:srgbClr val="1C2326"/>
                </a:solidFill>
                <a:latin typeface="Arial" pitchFamily="34" charset="0"/>
                <a:ea typeface="Arial" pitchFamily="34" charset="-122"/>
                <a:cs typeface="Arial" pitchFamily="34" charset="-120"/>
              </a:rPr>
              <a:t>Zeitfenster</a:t>
            </a:r>
            <a:endParaRPr lang="en-US" sz="950" dirty="0"/>
          </a:p>
        </p:txBody>
      </p:sp>
      <p:sp>
        <p:nvSpPr>
          <p:cNvPr id="14" name="Shape 11"/>
          <p:cNvSpPr/>
          <p:nvPr/>
        </p:nvSpPr>
        <p:spPr>
          <a:xfrm>
            <a:off x="4846320" y="4160520"/>
            <a:ext cx="274320" cy="274320"/>
          </a:xfrm>
          <a:prstGeom prst="rect">
            <a:avLst/>
          </a:prstGeom>
          <a:solidFill>
            <a:srgbClr val="1C2326"/>
          </a:solidFill>
          <a:ln w="12700">
            <a:solidFill>
              <a:srgbClr val="1C2326"/>
            </a:solidFill>
            <a:prstDash val="solid"/>
          </a:ln>
        </p:spPr>
      </p:sp>
      <p:sp>
        <p:nvSpPr>
          <p:cNvPr id="15" name="Text 12"/>
          <p:cNvSpPr txBox="1"/>
          <p:nvPr/>
        </p:nvSpPr>
        <p:spPr>
          <a:xfrm>
            <a:off x="4846320" y="416052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6" name="Text 13"/>
          <p:cNvSpPr txBox="1"/>
          <p:nvPr/>
        </p:nvSpPr>
        <p:spPr>
          <a:xfrm>
            <a:off x="5175504" y="4160520"/>
            <a:ext cx="1115568" cy="274320"/>
          </a:xfrm>
          <a:prstGeom prst="rect">
            <a:avLst/>
          </a:prstGeom>
          <a:noFill/>
          <a:ln/>
        </p:spPr>
        <p:txBody>
          <a:bodyPr wrap="square" lIns="0" tIns="0" rIns="0" bIns="0" rtlCol="0" anchor="ctr"/>
          <a:lstStyle/>
          <a:p>
            <a:pPr indent="0" marL="0">
              <a:buNone/>
            </a:pPr>
            <a:r>
              <a:rPr lang="en-US" sz="950" b="1" dirty="0">
                <a:solidFill>
                  <a:srgbClr val="1C2326"/>
                </a:solidFill>
                <a:latin typeface="Arial" pitchFamily="34" charset="0"/>
                <a:ea typeface="Arial" pitchFamily="34" charset="-122"/>
                <a:cs typeface="Arial" pitchFamily="34" charset="-120"/>
              </a:rPr>
              <a:t>Keine Doppelbelegung</a:t>
            </a:r>
            <a:endParaRPr lang="en-US" sz="950" dirty="0"/>
          </a:p>
        </p:txBody>
      </p:sp>
      <p:sp>
        <p:nvSpPr>
          <p:cNvPr id="17" name="Text 14"/>
          <p:cNvSpPr txBox="1"/>
          <p:nvPr/>
        </p:nvSpPr>
        <p:spPr>
          <a:xfrm>
            <a:off x="457200" y="4480560"/>
            <a:ext cx="5760720" cy="292608"/>
          </a:xfrm>
          <a:prstGeom prst="rect">
            <a:avLst/>
          </a:prstGeom>
          <a:noFill/>
          <a:ln/>
        </p:spPr>
        <p:txBody>
          <a:bodyPr wrap="square" lIns="0" tIns="0" rIns="0" bIns="0" rtlCol="0" anchor="t"/>
          <a:lstStyle/>
          <a:p>
            <a:pPr indent="0" marL="0">
              <a:buNone/>
            </a:pPr>
            <a:r>
              <a:rPr lang="en-US" sz="900" dirty="0">
                <a:solidFill>
                  <a:srgbClr val="5B6468"/>
                </a:solidFill>
                <a:latin typeface="Arial" pitchFamily="34" charset="0"/>
                <a:ea typeface="Arial" pitchFamily="34" charset="-122"/>
                <a:cs typeface="Arial" pitchFamily="34" charset="-120"/>
              </a:rPr>
              <a:t>Nie gebrochen. Verzögert sich Etappe 1 um zwei Monate: 11 Konflikte mit Namen und Grund, Vorschlag Etappe 2 ab November 2027. Ein Klick.</a:t>
            </a:r>
            <a:endParaRPr lang="en-US" sz="900" dirty="0"/>
          </a:p>
        </p:txBody>
      </p:sp>
      <p:sp>
        <p:nvSpPr>
          <p:cNvPr id="18" name="Shape 15"/>
          <p:cNvSpPr/>
          <p:nvPr/>
        </p:nvSpPr>
        <p:spPr>
          <a:xfrm rot="-360000">
            <a:off x="6446520" y="1417320"/>
            <a:ext cx="1370228" cy="2819485"/>
          </a:xfrm>
          <a:prstGeom prst="roundRect">
            <a:avLst>
              <a:gd name="adj" fmla="val 14414"/>
            </a:avLst>
          </a:prstGeom>
          <a:solidFill>
            <a:srgbClr val="F4F1EC"/>
          </a:solidFill>
          <a:ln w="9525">
            <a:solidFill>
              <a:srgbClr val="E3DDD4"/>
            </a:solidFill>
            <a:prstDash val="solid"/>
          </a:ln>
          <a:effectLst>
            <a:outerShdw sx="100000" sy="100000" kx="0" ky="0" algn="bl" rotWithShape="0" blurRad="177800" dist="50800" dir="5400000">
              <a:srgbClr val="1C2326">
                <a:alpha val="10000"/>
              </a:srgbClr>
            </a:outerShdw>
          </a:effectLst>
        </p:spPr>
      </p:sp>
      <p:pic>
        <p:nvPicPr>
          <p:cNvPr id="19" name="Image 1" descr="/private/tmp/claude-501/-Users-francescorocca--claude-spares-spare-pTP7p5/c9c54887-e9ac-44ae-bd9c-ebf5f8016333/scratchpad/deck/img/app-siedlung-round.png">    </p:cNvPr>
          <p:cNvPicPr>
            <a:picLocks noChangeAspect="1"/>
          </p:cNvPicPr>
          <p:nvPr/>
        </p:nvPicPr>
        <p:blipFill>
          <a:blip r:embed="rId2">
            <a:alphaModFix amt="85000"/>
          </a:blip>
          <a:stretch>
            <a:fillRect/>
          </a:stretch>
        </p:blipFill>
        <p:spPr>
          <a:xfrm rot="-360000">
            <a:off x="6514414" y="1485214"/>
            <a:ext cx="1234440" cy="2683697"/>
          </a:xfrm>
          <a:prstGeom prst="rect">
            <a:avLst/>
          </a:prstGeom>
        </p:spPr>
      </p:pic>
      <p:sp>
        <p:nvSpPr>
          <p:cNvPr id="20" name="Shape 16"/>
          <p:cNvSpPr/>
          <p:nvPr/>
        </p:nvSpPr>
        <p:spPr>
          <a:xfrm>
            <a:off x="7086600" y="1188720"/>
            <a:ext cx="1522476" cy="3132761"/>
          </a:xfrm>
          <a:prstGeom prst="roundRect">
            <a:avLst>
              <a:gd name="adj" fmla="val 14414"/>
            </a:avLst>
          </a:prstGeom>
          <a:solidFill>
            <a:srgbClr val="F4F1EC"/>
          </a:solidFill>
          <a:ln w="9525">
            <a:solidFill>
              <a:srgbClr val="E3DDD4"/>
            </a:solidFill>
            <a:prstDash val="solid"/>
          </a:ln>
          <a:effectLst>
            <a:outerShdw sx="100000" sy="100000" kx="0" ky="0" algn="bl" rotWithShape="0" blurRad="177800" dist="50800" dir="5400000">
              <a:srgbClr val="1C2326">
                <a:alpha val="22000"/>
              </a:srgbClr>
            </a:outerShdw>
          </a:effectLst>
        </p:spPr>
      </p:sp>
      <p:pic>
        <p:nvPicPr>
          <p:cNvPr id="21" name="Image 2" descr="/private/tmp/claude-501/-Users-francescorocca--claude-spares-spare-pTP7p5/c9c54887-e9ac-44ae-bd9c-ebf5f8016333/scratchpad/deck/img/app-mein-umzug-round.png">    </p:cNvPr>
          <p:cNvPicPr>
            <a:picLocks noChangeAspect="1"/>
          </p:cNvPicPr>
          <p:nvPr/>
        </p:nvPicPr>
        <p:blipFill>
          <a:blip r:embed="rId3"/>
          <a:stretch>
            <a:fillRect/>
          </a:stretch>
        </p:blipFill>
        <p:spPr>
          <a:xfrm>
            <a:off x="7162038" y="1264158"/>
            <a:ext cx="1371600" cy="2981885"/>
          </a:xfrm>
          <a:prstGeom prst="rect">
            <a:avLst/>
          </a:prstGeom>
        </p:spPr>
      </p:pic>
      <p:sp>
        <p:nvSpPr>
          <p:cNvPr id="22" name="Text 17"/>
          <p:cNvSpPr txBox="1"/>
          <p:nvPr/>
        </p:nvSpPr>
        <p:spPr>
          <a:xfrm>
            <a:off x="6400800" y="4498848"/>
            <a:ext cx="2286000" cy="320040"/>
          </a:xfrm>
          <a:prstGeom prst="rect">
            <a:avLst/>
          </a:prstGeom>
          <a:noFill/>
          <a:ln/>
        </p:spPr>
        <p:txBody>
          <a:bodyPr wrap="square" lIns="0" tIns="0" rIns="0" bIns="0" rtlCol="0" anchor="ctr"/>
          <a:lstStyle/>
          <a:p>
            <a:pPr algn="ctr" indent="0" marL="0">
              <a:buNone/>
            </a:pPr>
            <a:r>
              <a:rPr lang="en-US" sz="1000" dirty="0">
                <a:solidFill>
                  <a:srgbClr val="5B6468"/>
                </a:solidFill>
                <a:latin typeface="Arial" pitchFamily="34" charset="0"/>
                <a:ea typeface="Arial" pitchFamily="34" charset="-122"/>
                <a:cs typeface="Arial" pitchFamily="34" charset="-120"/>
              </a:rPr>
              <a:t>Bewohnende: Auszug, Wohnung, Rückkehr. Live auf dem Handy.</a:t>
            </a:r>
            <a:endParaRPr lang="en-US" sz="1000" dirty="0"/>
          </a:p>
        </p:txBody>
      </p:sp>
      <p:sp>
        <p:nvSpPr>
          <p:cNvPr id="25" name="Slide Number Placeholder 0"/>
          <p:cNvSpPr>
            <a:spLocks noGrp="1"/>
          </p:cNvSpPr>
          <p:nvPr>
            <p:ph type="sldNum" sz="quarter" idx="4294967295"/>
          </p:nvPr>
        </p:nvSpPr>
        <p:spPr>
          <a:xfrm>
            <a:off x="8321040" y="4791456"/>
            <a:ext cx="365760" cy="274320"/>
          </a:xfrm>
          <a:prstGeom prst="rect">
            <a:avLst/>
          </a:prstGeom>
          <a:extLst>
            <a:ext uri="{C572A759-6A51-4108-AA02-DFA0A04FC94B}">
              <ma14:wrappingTextBoxFlag xmlns:ma14="http://schemas.microsoft.com/office/mac/drawingml/2011/main" val="0"/>
            </a:ext>
          </a:extLst>
        </p:spPr>
        <p:txBody>
          <a:bodyPr/>
          <a:lstStyle>
            <a:lvl1pPr>
              <a:defRPr sz="8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822960"/>
          </a:xfrm>
          <a:prstGeom prst="rect">
            <a:avLst/>
          </a:prstGeom>
          <a:noFill/>
          <a:ln/>
        </p:spPr>
        <p:txBody>
          <a:bodyPr wrap="square" lIns="0" tIns="0" rIns="0" bIns="0" rtlCol="0" anchor="t"/>
          <a:lstStyle/>
          <a:p>
            <a:pPr indent="0" marL="0">
              <a:buNone/>
            </a:pPr>
            <a:r>
              <a:rPr lang="en-US" sz="3000" b="1" dirty="0">
                <a:solidFill>
                  <a:schemeClr val="tx1"/>
                </a:solidFill>
              </a:rPr>
              <a:t>Wie wir Geld verdienen: pro Sanierungsprojekt, von der Eigentümerschaft.</a:t>
            </a:r>
            <a:endParaRPr lang="en-US" sz="3000" dirty="0"/>
          </a:p>
        </p:txBody>
      </p:sp>
      <p:sp>
        <p:nvSpPr>
          <p:cNvPr id="3" name="Shape 1"/>
          <p:cNvSpPr/>
          <p:nvPr/>
        </p:nvSpPr>
        <p:spPr>
          <a:xfrm>
            <a:off x="457200" y="1280160"/>
            <a:ext cx="1783080" cy="2240280"/>
          </a:xfrm>
          <a:prstGeom prst="rect">
            <a:avLst/>
          </a:prstGeom>
          <a:solidFill>
            <a:srgbClr val="FDEBDD"/>
          </a:solidFill>
          <a:ln w="12700">
            <a:solidFill>
              <a:srgbClr val="FDEBDD"/>
            </a:solidFill>
            <a:prstDash val="solid"/>
          </a:ln>
        </p:spPr>
      </p:sp>
      <p:sp>
        <p:nvSpPr>
          <p:cNvPr id="4" name="Shape 2"/>
          <p:cNvSpPr/>
          <p:nvPr/>
        </p:nvSpPr>
        <p:spPr>
          <a:xfrm>
            <a:off x="594360" y="1389888"/>
            <a:ext cx="274320" cy="274320"/>
          </a:xfrm>
          <a:prstGeom prst="rect">
            <a:avLst/>
          </a:prstGeom>
          <a:solidFill>
            <a:srgbClr val="B8460E"/>
          </a:solidFill>
          <a:ln w="12700">
            <a:solidFill>
              <a:srgbClr val="B8460E"/>
            </a:solidFill>
            <a:prstDash val="solid"/>
          </a:ln>
        </p:spPr>
      </p:sp>
      <p:sp>
        <p:nvSpPr>
          <p:cNvPr id="5" name="Text 3"/>
          <p:cNvSpPr txBox="1"/>
          <p:nvPr/>
        </p:nvSpPr>
        <p:spPr>
          <a:xfrm>
            <a:off x="594360" y="138988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6" name="Text 4"/>
          <p:cNvSpPr txBox="1"/>
          <p:nvPr/>
        </p:nvSpPr>
        <p:spPr>
          <a:xfrm>
            <a:off x="960120" y="1389888"/>
            <a:ext cx="1188720" cy="274320"/>
          </a:xfrm>
          <a:prstGeom prst="rect">
            <a:avLst/>
          </a:prstGeom>
          <a:noFill/>
          <a:ln/>
        </p:spPr>
        <p:txBody>
          <a:bodyPr wrap="square" lIns="0" tIns="0" rIns="0" bIns="0" rtlCol="0" anchor="ctr"/>
          <a:lstStyle/>
          <a:p>
            <a:pPr indent="0" marL="0">
              <a:buNone/>
            </a:pPr>
            <a:r>
              <a:rPr lang="en-US" sz="1100" b="1" dirty="0">
                <a:solidFill>
                  <a:srgbClr val="1C2326"/>
                </a:solidFill>
                <a:latin typeface="Arial" pitchFamily="34" charset="0"/>
                <a:ea typeface="Arial" pitchFamily="34" charset="-122"/>
                <a:cs typeface="Arial" pitchFamily="34" charset="-120"/>
              </a:rPr>
              <a:t>Projektlizenz</a:t>
            </a:r>
            <a:endParaRPr lang="en-US" sz="1100" dirty="0"/>
          </a:p>
        </p:txBody>
      </p:sp>
      <p:sp>
        <p:nvSpPr>
          <p:cNvPr id="7" name="Text 5"/>
          <p:cNvSpPr txBox="1"/>
          <p:nvPr/>
        </p:nvSpPr>
        <p:spPr>
          <a:xfrm>
            <a:off x="594360" y="1783080"/>
            <a:ext cx="1554480" cy="502920"/>
          </a:xfrm>
          <a:prstGeom prst="rect">
            <a:avLst/>
          </a:prstGeom>
          <a:noFill/>
          <a:ln/>
        </p:spPr>
        <p:txBody>
          <a:bodyPr wrap="square" lIns="0" tIns="0" rIns="0" bIns="0" rtlCol="0" anchor="t"/>
          <a:lstStyle/>
          <a:p>
            <a:pPr indent="0" marL="0">
              <a:buNone/>
            </a:pPr>
            <a:r>
              <a:rPr lang="en-US" sz="1300" b="1" dirty="0">
                <a:solidFill>
                  <a:srgbClr val="B8460E"/>
                </a:solidFill>
                <a:latin typeface="Arial" pitchFamily="34" charset="0"/>
                <a:ea typeface="Arial" pitchFamily="34" charset="-122"/>
                <a:cs typeface="Arial" pitchFamily="34" charset="-120"/>
              </a:rPr>
              <a:t>1 ‰ der Sanierungssumme</a:t>
            </a:r>
            <a:endParaRPr lang="en-US" sz="1300" dirty="0"/>
          </a:p>
        </p:txBody>
      </p:sp>
      <p:sp>
        <p:nvSpPr>
          <p:cNvPr id="8" name="Text 6"/>
          <p:cNvSpPr txBox="1"/>
          <p:nvPr/>
        </p:nvSpPr>
        <p:spPr>
          <a:xfrm>
            <a:off x="594360" y="2304288"/>
            <a:ext cx="1554480" cy="960120"/>
          </a:xfrm>
          <a:prstGeom prst="rect">
            <a:avLst/>
          </a:prstGeom>
          <a:noFill/>
          <a:ln/>
        </p:spPr>
        <p:txBody>
          <a:bodyPr wrap="square" lIns="0" tIns="0" rIns="0" bIns="0" rtlCol="0" anchor="t"/>
          <a:lstStyle/>
          <a:p>
            <a:pPr indent="0" marL="0">
              <a:buNone/>
            </a:pPr>
            <a:r>
              <a:rPr lang="en-US" sz="850" dirty="0">
                <a:solidFill>
                  <a:srgbClr val="1C2326"/>
                </a:solidFill>
                <a:latin typeface="Arial" pitchFamily="34" charset="0"/>
                <a:ea typeface="Arial" pitchFamily="34" charset="-122"/>
                <a:cs typeface="Arial" pitchFamily="34" charset="-120"/>
              </a:rPr>
              <a:t>mindestens CHF 5'000. Enthält Planung, Bewohner-App und Live-Updates. 10 Mio. → CHF 10'000.</a:t>
            </a:r>
            <a:endParaRPr lang="en-US" sz="850" dirty="0"/>
          </a:p>
        </p:txBody>
      </p:sp>
      <p:sp>
        <p:nvSpPr>
          <p:cNvPr id="9" name="Text 7"/>
          <p:cNvSpPr txBox="1"/>
          <p:nvPr/>
        </p:nvSpPr>
        <p:spPr>
          <a:xfrm>
            <a:off x="594360" y="3273552"/>
            <a:ext cx="1554480" cy="182880"/>
          </a:xfrm>
          <a:prstGeom prst="rect">
            <a:avLst/>
          </a:prstGeom>
          <a:noFill/>
          <a:ln/>
        </p:spPr>
        <p:txBody>
          <a:bodyPr wrap="square" lIns="0" tIns="0" rIns="0" bIns="0" rtlCol="0" anchor="ctr"/>
          <a:lstStyle/>
          <a:p>
            <a:pPr indent="0" marL="0">
              <a:buNone/>
            </a:pPr>
            <a:r>
              <a:rPr lang="en-US" sz="750" dirty="0">
                <a:solidFill>
                  <a:srgbClr val="5B6468"/>
                </a:solidFill>
                <a:latin typeface="Arial" pitchFamily="34" charset="0"/>
                <a:ea typeface="Arial" pitchFamily="34" charset="-122"/>
                <a:cs typeface="Arial" pitchFamily="34" charset="-120"/>
              </a:rPr>
              <a:t>heute</a:t>
            </a:r>
            <a:endParaRPr lang="en-US" sz="750" dirty="0"/>
          </a:p>
        </p:txBody>
      </p:sp>
      <p:sp>
        <p:nvSpPr>
          <p:cNvPr id="10" name="Shape 8"/>
          <p:cNvSpPr/>
          <p:nvPr/>
        </p:nvSpPr>
        <p:spPr>
          <a:xfrm>
            <a:off x="2331720" y="1280160"/>
            <a:ext cx="1783080" cy="2240280"/>
          </a:xfrm>
          <a:prstGeom prst="rect">
            <a:avLst/>
          </a:prstGeom>
          <a:solidFill>
            <a:srgbClr val="E2ECEE"/>
          </a:solidFill>
          <a:ln w="12700">
            <a:solidFill>
              <a:srgbClr val="E2ECEE"/>
            </a:solidFill>
            <a:prstDash val="solid"/>
          </a:ln>
        </p:spPr>
      </p:sp>
      <p:sp>
        <p:nvSpPr>
          <p:cNvPr id="11" name="Shape 9"/>
          <p:cNvSpPr/>
          <p:nvPr/>
        </p:nvSpPr>
        <p:spPr>
          <a:xfrm>
            <a:off x="2468880" y="1389888"/>
            <a:ext cx="274320" cy="274320"/>
          </a:xfrm>
          <a:prstGeom prst="rect">
            <a:avLst/>
          </a:prstGeom>
          <a:solidFill>
            <a:srgbClr val="24414A"/>
          </a:solidFill>
          <a:ln w="12700">
            <a:solidFill>
              <a:srgbClr val="24414A"/>
            </a:solidFill>
            <a:prstDash val="solid"/>
          </a:ln>
        </p:spPr>
      </p:sp>
      <p:sp>
        <p:nvSpPr>
          <p:cNvPr id="12" name="Text 10"/>
          <p:cNvSpPr txBox="1"/>
          <p:nvPr/>
        </p:nvSpPr>
        <p:spPr>
          <a:xfrm>
            <a:off x="2468880" y="138988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Text 11"/>
          <p:cNvSpPr txBox="1"/>
          <p:nvPr/>
        </p:nvSpPr>
        <p:spPr>
          <a:xfrm>
            <a:off x="2834640" y="1389888"/>
            <a:ext cx="1188720" cy="274320"/>
          </a:xfrm>
          <a:prstGeom prst="rect">
            <a:avLst/>
          </a:prstGeom>
          <a:noFill/>
          <a:ln/>
        </p:spPr>
        <p:txBody>
          <a:bodyPr wrap="square" lIns="0" tIns="0" rIns="0" bIns="0" rtlCol="0" anchor="ctr"/>
          <a:lstStyle/>
          <a:p>
            <a:pPr indent="0" marL="0">
              <a:buNone/>
            </a:pPr>
            <a:r>
              <a:rPr lang="en-US" sz="1100" b="1" dirty="0">
                <a:solidFill>
                  <a:srgbClr val="1C2326"/>
                </a:solidFill>
                <a:latin typeface="Arial" pitchFamily="34" charset="0"/>
                <a:ea typeface="Arial" pitchFamily="34" charset="-122"/>
                <a:cs typeface="Arial" pitchFamily="34" charset="-120"/>
              </a:rPr>
              <a:t>Nachweis-Dossier</a:t>
            </a:r>
            <a:endParaRPr lang="en-US" sz="1100" dirty="0"/>
          </a:p>
        </p:txBody>
      </p:sp>
      <p:sp>
        <p:nvSpPr>
          <p:cNvPr id="14" name="Text 12"/>
          <p:cNvSpPr txBox="1"/>
          <p:nvPr/>
        </p:nvSpPr>
        <p:spPr>
          <a:xfrm>
            <a:off x="2468880" y="1783080"/>
            <a:ext cx="1554480" cy="502920"/>
          </a:xfrm>
          <a:prstGeom prst="rect">
            <a:avLst/>
          </a:prstGeom>
          <a:noFill/>
          <a:ln/>
        </p:spPr>
        <p:txBody>
          <a:bodyPr wrap="square" lIns="0" tIns="0" rIns="0" bIns="0" rtlCol="0" anchor="t"/>
          <a:lstStyle/>
          <a:p>
            <a:pPr indent="0" marL="0">
              <a:buNone/>
            </a:pPr>
            <a:r>
              <a:rPr lang="en-US" sz="1300" b="1" dirty="0">
                <a:solidFill>
                  <a:srgbClr val="24414A"/>
                </a:solidFill>
                <a:latin typeface="Arial" pitchFamily="34" charset="0"/>
                <a:ea typeface="Arial" pitchFamily="34" charset="-122"/>
                <a:cs typeface="Arial" pitchFamily="34" charset="-120"/>
              </a:rPr>
              <a:t>im Preis enthalten</a:t>
            </a:r>
            <a:endParaRPr lang="en-US" sz="1300" dirty="0"/>
          </a:p>
        </p:txBody>
      </p:sp>
      <p:sp>
        <p:nvSpPr>
          <p:cNvPr id="15" name="Text 13"/>
          <p:cNvSpPr txBox="1"/>
          <p:nvPr/>
        </p:nvSpPr>
        <p:spPr>
          <a:xfrm>
            <a:off x="2468880" y="2304288"/>
            <a:ext cx="1554480" cy="960120"/>
          </a:xfrm>
          <a:prstGeom prst="rect">
            <a:avLst/>
          </a:prstGeom>
          <a:noFill/>
          <a:ln/>
        </p:spPr>
        <p:txBody>
          <a:bodyPr wrap="square" lIns="0" tIns="0" rIns="0" bIns="0" rtlCol="0" anchor="t"/>
          <a:lstStyle/>
          <a:p>
            <a:pPr indent="0" marL="0">
              <a:buNone/>
            </a:pPr>
            <a:r>
              <a:rPr lang="en-US" sz="850" dirty="0">
                <a:solidFill>
                  <a:srgbClr val="1C2326"/>
                </a:solidFill>
                <a:latin typeface="Arial" pitchFamily="34" charset="0"/>
                <a:ea typeface="Arial" pitchFamily="34" charset="-122"/>
                <a:cs typeface="Arial" pitchFamily="34" charset="-120"/>
              </a:rPr>
              <a:t>Export für das Baugesuch: bewohnt oder etappiert geprüft. In Zürich ab 20 Mietverhältnissen Pflicht, unser Türöffner.</a:t>
            </a:r>
            <a:endParaRPr lang="en-US" sz="850" dirty="0"/>
          </a:p>
        </p:txBody>
      </p:sp>
      <p:sp>
        <p:nvSpPr>
          <p:cNvPr id="16" name="Text 14"/>
          <p:cNvSpPr txBox="1"/>
          <p:nvPr/>
        </p:nvSpPr>
        <p:spPr>
          <a:xfrm>
            <a:off x="2468880" y="3273552"/>
            <a:ext cx="1554480" cy="182880"/>
          </a:xfrm>
          <a:prstGeom prst="rect">
            <a:avLst/>
          </a:prstGeom>
          <a:noFill/>
          <a:ln/>
        </p:spPr>
        <p:txBody>
          <a:bodyPr wrap="square" lIns="0" tIns="0" rIns="0" bIns="0" rtlCol="0" anchor="ctr"/>
          <a:lstStyle/>
          <a:p>
            <a:pPr indent="0" marL="0">
              <a:buNone/>
            </a:pPr>
            <a:r>
              <a:rPr lang="en-US" sz="750" dirty="0">
                <a:solidFill>
                  <a:srgbClr val="5B6468"/>
                </a:solidFill>
                <a:latin typeface="Arial" pitchFamily="34" charset="0"/>
                <a:ea typeface="Arial" pitchFamily="34" charset="-122"/>
                <a:cs typeface="Arial" pitchFamily="34" charset="-120"/>
              </a:rPr>
              <a:t>heute</a:t>
            </a:r>
            <a:endParaRPr lang="en-US" sz="750" dirty="0"/>
          </a:p>
        </p:txBody>
      </p:sp>
      <p:sp>
        <p:nvSpPr>
          <p:cNvPr id="17" name="Shape 15"/>
          <p:cNvSpPr/>
          <p:nvPr/>
        </p:nvSpPr>
        <p:spPr>
          <a:xfrm>
            <a:off x="4206240" y="1280160"/>
            <a:ext cx="1783080" cy="2240280"/>
          </a:xfrm>
          <a:prstGeom prst="rect">
            <a:avLst/>
          </a:prstGeom>
          <a:solidFill>
            <a:srgbClr val="F1EDE6"/>
          </a:solidFill>
          <a:ln w="12700">
            <a:solidFill>
              <a:srgbClr val="F1EDE6"/>
            </a:solidFill>
            <a:prstDash val="solid"/>
          </a:ln>
        </p:spPr>
      </p:sp>
      <p:sp>
        <p:nvSpPr>
          <p:cNvPr id="18" name="Shape 16"/>
          <p:cNvSpPr/>
          <p:nvPr/>
        </p:nvSpPr>
        <p:spPr>
          <a:xfrm>
            <a:off x="4343400" y="1389888"/>
            <a:ext cx="274320" cy="274320"/>
          </a:xfrm>
          <a:prstGeom prst="rect">
            <a:avLst/>
          </a:prstGeom>
          <a:solidFill>
            <a:srgbClr val="1C2326"/>
          </a:solidFill>
          <a:ln w="12700">
            <a:solidFill>
              <a:srgbClr val="1C2326"/>
            </a:solidFill>
            <a:prstDash val="solid"/>
          </a:ln>
        </p:spPr>
      </p:sp>
      <p:sp>
        <p:nvSpPr>
          <p:cNvPr id="19" name="Text 17"/>
          <p:cNvSpPr txBox="1"/>
          <p:nvPr/>
        </p:nvSpPr>
        <p:spPr>
          <a:xfrm>
            <a:off x="4343400" y="138988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20" name="Text 18"/>
          <p:cNvSpPr txBox="1"/>
          <p:nvPr/>
        </p:nvSpPr>
        <p:spPr>
          <a:xfrm>
            <a:off x="4709160" y="1389888"/>
            <a:ext cx="1188720" cy="274320"/>
          </a:xfrm>
          <a:prstGeom prst="rect">
            <a:avLst/>
          </a:prstGeom>
          <a:noFill/>
          <a:ln/>
        </p:spPr>
        <p:txBody>
          <a:bodyPr wrap="square" lIns="0" tIns="0" rIns="0" bIns="0" rtlCol="0" anchor="ctr"/>
          <a:lstStyle/>
          <a:p>
            <a:pPr indent="0" marL="0">
              <a:buNone/>
            </a:pPr>
            <a:r>
              <a:rPr lang="en-US" sz="1100" b="1" dirty="0">
                <a:solidFill>
                  <a:srgbClr val="1C2326"/>
                </a:solidFill>
                <a:latin typeface="Arial" pitchFamily="34" charset="0"/>
                <a:ea typeface="Arial" pitchFamily="34" charset="-122"/>
                <a:cs typeface="Arial" pitchFamily="34" charset="-120"/>
              </a:rPr>
              <a:t>Portfolio-Abo</a:t>
            </a:r>
            <a:endParaRPr lang="en-US" sz="1100" dirty="0"/>
          </a:p>
        </p:txBody>
      </p:sp>
      <p:sp>
        <p:nvSpPr>
          <p:cNvPr id="21" name="Text 19"/>
          <p:cNvSpPr txBox="1"/>
          <p:nvPr/>
        </p:nvSpPr>
        <p:spPr>
          <a:xfrm>
            <a:off x="4343400" y="1783080"/>
            <a:ext cx="1554480" cy="502920"/>
          </a:xfrm>
          <a:prstGeom prst="rect">
            <a:avLst/>
          </a:prstGeom>
          <a:noFill/>
          <a:ln/>
        </p:spPr>
        <p:txBody>
          <a:bodyPr wrap="square" lIns="0" tIns="0" rIns="0" bIns="0" rtlCol="0" anchor="t"/>
          <a:lstStyle/>
          <a:p>
            <a:pPr indent="0" marL="0">
              <a:buNone/>
            </a:pPr>
            <a:r>
              <a:rPr lang="en-US" sz="1300" b="1" dirty="0">
                <a:solidFill>
                  <a:srgbClr val="1C2326"/>
                </a:solidFill>
                <a:latin typeface="Arial" pitchFamily="34" charset="0"/>
                <a:ea typeface="Arial" pitchFamily="34" charset="-122"/>
                <a:cs typeface="Arial" pitchFamily="34" charset="-120"/>
              </a:rPr>
              <a:t>CHF 2'000 pro Monat</a:t>
            </a:r>
            <a:endParaRPr lang="en-US" sz="1300" dirty="0"/>
          </a:p>
        </p:txBody>
      </p:sp>
      <p:sp>
        <p:nvSpPr>
          <p:cNvPr id="22" name="Text 20"/>
          <p:cNvSpPr txBox="1"/>
          <p:nvPr/>
        </p:nvSpPr>
        <p:spPr>
          <a:xfrm>
            <a:off x="4343400" y="2304288"/>
            <a:ext cx="1554480" cy="960120"/>
          </a:xfrm>
          <a:prstGeom prst="rect">
            <a:avLst/>
          </a:prstGeom>
          <a:noFill/>
          <a:ln/>
        </p:spPr>
        <p:txBody>
          <a:bodyPr wrap="square" lIns="0" tIns="0" rIns="0" bIns="0" rtlCol="0" anchor="t"/>
          <a:lstStyle/>
          <a:p>
            <a:pPr indent="0" marL="0">
              <a:buNone/>
            </a:pPr>
            <a:r>
              <a:rPr lang="en-US" sz="850" dirty="0">
                <a:solidFill>
                  <a:srgbClr val="1C2326"/>
                </a:solidFill>
                <a:latin typeface="Arial" pitchFamily="34" charset="0"/>
                <a:ea typeface="Arial" pitchFamily="34" charset="-122"/>
                <a:cs typeface="Arial" pitchFamily="34" charset="-120"/>
              </a:rPr>
              <a:t>für Pensionskassen und grosse Genossenschaften mit mehreren Sanierungen pro Jahr. Annahme, ab 2028.</a:t>
            </a:r>
            <a:endParaRPr lang="en-US" sz="850" dirty="0"/>
          </a:p>
        </p:txBody>
      </p:sp>
      <p:sp>
        <p:nvSpPr>
          <p:cNvPr id="23" name="Text 21"/>
          <p:cNvSpPr txBox="1"/>
          <p:nvPr/>
        </p:nvSpPr>
        <p:spPr>
          <a:xfrm>
            <a:off x="4343400" y="3273552"/>
            <a:ext cx="1554480" cy="182880"/>
          </a:xfrm>
          <a:prstGeom prst="rect">
            <a:avLst/>
          </a:prstGeom>
          <a:noFill/>
          <a:ln/>
        </p:spPr>
        <p:txBody>
          <a:bodyPr wrap="square" lIns="0" tIns="0" rIns="0" bIns="0" rtlCol="0" anchor="ctr"/>
          <a:lstStyle/>
          <a:p>
            <a:pPr indent="0" marL="0">
              <a:buNone/>
            </a:pPr>
            <a:r>
              <a:rPr lang="en-US" sz="750" dirty="0">
                <a:solidFill>
                  <a:srgbClr val="5B6468"/>
                </a:solidFill>
                <a:latin typeface="Arial" pitchFamily="34" charset="0"/>
                <a:ea typeface="Arial" pitchFamily="34" charset="-122"/>
                <a:cs typeface="Arial" pitchFamily="34" charset="-120"/>
              </a:rPr>
              <a:t>später</a:t>
            </a:r>
            <a:endParaRPr lang="en-US" sz="750" dirty="0"/>
          </a:p>
        </p:txBody>
      </p:sp>
      <p:sp>
        <p:nvSpPr>
          <p:cNvPr id="24" name="Shape 22"/>
          <p:cNvSpPr/>
          <p:nvPr/>
        </p:nvSpPr>
        <p:spPr>
          <a:xfrm>
            <a:off x="6172200" y="1280160"/>
            <a:ext cx="2514600" cy="2240280"/>
          </a:xfrm>
          <a:prstGeom prst="rect">
            <a:avLst/>
          </a:prstGeom>
          <a:solidFill>
            <a:srgbClr val="24414A"/>
          </a:solidFill>
          <a:ln w="12700">
            <a:solidFill>
              <a:srgbClr val="24414A"/>
            </a:solidFill>
            <a:prstDash val="solid"/>
          </a:ln>
        </p:spPr>
      </p:sp>
      <p:sp>
        <p:nvSpPr>
          <p:cNvPr id="25" name="Text 23"/>
          <p:cNvSpPr txBox="1"/>
          <p:nvPr/>
        </p:nvSpPr>
        <p:spPr>
          <a:xfrm>
            <a:off x="6355080" y="1371600"/>
            <a:ext cx="2194560" cy="274320"/>
          </a:xfrm>
          <a:prstGeom prst="rect">
            <a:avLst/>
          </a:prstGeom>
          <a:noFill/>
          <a:ln/>
        </p:spPr>
        <p:txBody>
          <a:bodyPr wrap="square" lIns="0" tIns="0" rIns="0" bIns="0" rtlCol="0" anchor="ctr"/>
          <a:lstStyle/>
          <a:p>
            <a:pPr indent="0" marL="0">
              <a:buNone/>
            </a:pPr>
            <a:r>
              <a:rPr lang="en-US" sz="900" b="1" dirty="0">
                <a:solidFill>
                  <a:srgbClr val="B5C9CE"/>
                </a:solidFill>
                <a:latin typeface="Arial" pitchFamily="34" charset="0"/>
                <a:ea typeface="Arial" pitchFamily="34" charset="-122"/>
                <a:cs typeface="Arial" pitchFamily="34" charset="-120"/>
              </a:rPr>
              <a:t>Rechenbeispiel für den Kunden</a:t>
            </a:r>
            <a:endParaRPr lang="en-US" sz="900" dirty="0"/>
          </a:p>
        </p:txBody>
      </p:sp>
      <p:sp>
        <p:nvSpPr>
          <p:cNvPr id="26" name="Text 24"/>
          <p:cNvSpPr txBox="1"/>
          <p:nvPr/>
        </p:nvSpPr>
        <p:spPr>
          <a:xfrm>
            <a:off x="6355080" y="1645920"/>
            <a:ext cx="2194560" cy="457200"/>
          </a:xfrm>
          <a:prstGeom prst="rect">
            <a:avLst/>
          </a:prstGeom>
          <a:noFill/>
          <a:ln/>
        </p:spPr>
        <p:txBody>
          <a:bodyPr wrap="square" lIns="0" tIns="0" rIns="0" bIns="0" rtlCol="0" anchor="ctr"/>
          <a:lstStyle/>
          <a:p>
            <a:pPr indent="0" marL="0">
              <a:buNone/>
            </a:pPr>
            <a:r>
              <a:rPr lang="en-US" sz="2400" b="1" dirty="0">
                <a:solidFill>
                  <a:srgbClr val="F26A1B"/>
                </a:solidFill>
                <a:latin typeface="Arial" pitchFamily="34" charset="0"/>
                <a:ea typeface="Arial" pitchFamily="34" charset="-122"/>
                <a:cs typeface="Arial" pitchFamily="34" charset="-120"/>
              </a:rPr>
              <a:t>CHF 216'000</a:t>
            </a:r>
            <a:endParaRPr lang="en-US" sz="2400" dirty="0"/>
          </a:p>
        </p:txBody>
      </p:sp>
      <p:sp>
        <p:nvSpPr>
          <p:cNvPr id="27" name="Text 25"/>
          <p:cNvSpPr txBox="1"/>
          <p:nvPr/>
        </p:nvSpPr>
        <p:spPr>
          <a:xfrm>
            <a:off x="6355080" y="2148840"/>
            <a:ext cx="2194560" cy="777240"/>
          </a:xfrm>
          <a:prstGeom prst="rect">
            <a:avLst/>
          </a:prstGeom>
          <a:noFill/>
          <a:ln/>
        </p:spPr>
        <p:txBody>
          <a:bodyPr wrap="square" lIns="0" tIns="0" rIns="0" bIns="0" rtlCol="0" anchor="t"/>
          <a:lstStyle/>
          <a:p>
            <a:pPr indent="0" marL="0">
              <a:buNone/>
            </a:pPr>
            <a:r>
              <a:rPr lang="en-US" sz="900" dirty="0">
                <a:solidFill>
                  <a:srgbClr val="FFFFFF"/>
                </a:solidFill>
                <a:latin typeface="Arial" pitchFamily="34" charset="0"/>
                <a:ea typeface="Arial" pitchFamily="34" charset="-122"/>
                <a:cs typeface="Arial" pitchFamily="34" charset="-120"/>
              </a:rPr>
              <a:t>Mietzinsausfall bei Leerkündigung: 24 Wohnungen × CHF 1'500 × 6 Monate Bauzeit. Die Rochade hält die Mieten am Laufen.</a:t>
            </a:r>
            <a:endParaRPr lang="en-US" sz="900" dirty="0"/>
          </a:p>
        </p:txBody>
      </p:sp>
      <p:sp>
        <p:nvSpPr>
          <p:cNvPr id="28" name="Text 26"/>
          <p:cNvSpPr txBox="1"/>
          <p:nvPr/>
        </p:nvSpPr>
        <p:spPr>
          <a:xfrm>
            <a:off x="6355080" y="2971800"/>
            <a:ext cx="2194560" cy="457200"/>
          </a:xfrm>
          <a:prstGeom prst="rect">
            <a:avLst/>
          </a:prstGeom>
          <a:noFill/>
          <a:ln/>
        </p:spPr>
        <p:txBody>
          <a:bodyPr wrap="square" lIns="0" tIns="0" rIns="0" bIns="0" rtlCol="0" anchor="t"/>
          <a:lstStyle/>
          <a:p>
            <a:pPr indent="0" marL="0">
              <a:buNone/>
            </a:pPr>
            <a:r>
              <a:rPr lang="en-US" sz="900" b="1" dirty="0">
                <a:solidFill>
                  <a:srgbClr val="D4E1E5"/>
                </a:solidFill>
                <a:latin typeface="Arial" pitchFamily="34" charset="0"/>
                <a:ea typeface="Arial" pitchFamily="34" charset="-122"/>
                <a:cs typeface="Arial" pitchFamily="34" charset="-120"/>
              </a:rPr>
              <a:t>Lizenz dafür: CHF 10'000. Eine Woche Bauverzug kostet mehr.</a:t>
            </a:r>
            <a:endParaRPr lang="en-US" sz="900" dirty="0"/>
          </a:p>
        </p:txBody>
      </p:sp>
      <p:sp>
        <p:nvSpPr>
          <p:cNvPr id="29" name="Shape 27"/>
          <p:cNvSpPr/>
          <p:nvPr/>
        </p:nvSpPr>
        <p:spPr>
          <a:xfrm>
            <a:off x="457200" y="3657600"/>
            <a:ext cx="2651760" cy="960120"/>
          </a:xfrm>
          <a:prstGeom prst="rect">
            <a:avLst/>
          </a:prstGeom>
          <a:solidFill>
            <a:srgbClr val="FFFFFF"/>
          </a:solidFill>
          <a:ln w="9525">
            <a:solidFill>
              <a:srgbClr val="E3DDD4"/>
            </a:solidFill>
            <a:prstDash val="solid"/>
          </a:ln>
        </p:spPr>
      </p:sp>
      <p:sp>
        <p:nvSpPr>
          <p:cNvPr id="30" name="Text 28"/>
          <p:cNvSpPr txBox="1"/>
          <p:nvPr/>
        </p:nvSpPr>
        <p:spPr>
          <a:xfrm>
            <a:off x="640080" y="3730752"/>
            <a:ext cx="2286000" cy="228600"/>
          </a:xfrm>
          <a:prstGeom prst="rect">
            <a:avLst/>
          </a:prstGeom>
          <a:noFill/>
          <a:ln/>
        </p:spPr>
        <p:txBody>
          <a:bodyPr wrap="square" lIns="0" tIns="0" rIns="0" bIns="0" rtlCol="0" anchor="ctr"/>
          <a:lstStyle/>
          <a:p>
            <a:pPr indent="0" marL="0">
              <a:buNone/>
            </a:pPr>
            <a:r>
              <a:rPr lang="en-US" sz="850" b="1" dirty="0">
                <a:solidFill>
                  <a:srgbClr val="5B6468"/>
                </a:solidFill>
                <a:latin typeface="Arial" pitchFamily="34" charset="0"/>
                <a:ea typeface="Arial" pitchFamily="34" charset="-122"/>
                <a:cs typeface="Arial" pitchFamily="34" charset="-120"/>
              </a:rPr>
              <a:t>Kosten pro Projekt</a:t>
            </a:r>
            <a:endParaRPr lang="en-US" sz="850" dirty="0"/>
          </a:p>
        </p:txBody>
      </p:sp>
      <p:sp>
        <p:nvSpPr>
          <p:cNvPr id="31" name="Text 29"/>
          <p:cNvSpPr txBox="1"/>
          <p:nvPr/>
        </p:nvSpPr>
        <p:spPr>
          <a:xfrm>
            <a:off x="640080" y="3950208"/>
            <a:ext cx="2286000" cy="320040"/>
          </a:xfrm>
          <a:prstGeom prst="rect">
            <a:avLst/>
          </a:prstGeom>
          <a:noFill/>
          <a:ln/>
        </p:spPr>
        <p:txBody>
          <a:bodyPr wrap="square" lIns="0" tIns="0" rIns="0" bIns="0" rtlCol="0" anchor="ctr"/>
          <a:lstStyle/>
          <a:p>
            <a:pPr indent="0" marL="0">
              <a:buNone/>
            </a:pPr>
            <a:r>
              <a:rPr lang="en-US" sz="1500" b="1" dirty="0">
                <a:solidFill>
                  <a:srgbClr val="1C2326"/>
                </a:solidFill>
                <a:latin typeface="Arial" pitchFamily="34" charset="0"/>
                <a:ea typeface="Arial" pitchFamily="34" charset="-122"/>
                <a:cs typeface="Arial" pitchFamily="34" charset="-120"/>
              </a:rPr>
              <a:t>rund CHF 2'000</a:t>
            </a:r>
            <a:endParaRPr lang="en-US" sz="1500" dirty="0"/>
          </a:p>
        </p:txBody>
      </p:sp>
      <p:sp>
        <p:nvSpPr>
          <p:cNvPr id="32" name="Text 30"/>
          <p:cNvSpPr txBox="1"/>
          <p:nvPr/>
        </p:nvSpPr>
        <p:spPr>
          <a:xfrm>
            <a:off x="640080" y="4279392"/>
            <a:ext cx="2286000" cy="274320"/>
          </a:xfrm>
          <a:prstGeom prst="rect">
            <a:avLst/>
          </a:prstGeom>
          <a:noFill/>
          <a:ln/>
        </p:spPr>
        <p:txBody>
          <a:bodyPr wrap="square" lIns="0" tIns="0" rIns="0" bIns="0" rtlCol="0" anchor="ctr"/>
          <a:lstStyle/>
          <a:p>
            <a:pPr indent="0" marL="0">
              <a:buNone/>
            </a:pPr>
            <a:r>
              <a:rPr lang="en-US" sz="850" dirty="0">
                <a:solidFill>
                  <a:srgbClr val="1C2326"/>
                </a:solidFill>
                <a:latin typeface="Arial" pitchFamily="34" charset="0"/>
                <a:ea typeface="Arial" pitchFamily="34" charset="-122"/>
                <a:cs typeface="Arial" pitchFamily="34" charset="-120"/>
              </a:rPr>
              <a:t>zwei Tage Onboarding und Support</a:t>
            </a:r>
            <a:endParaRPr lang="en-US" sz="850" dirty="0"/>
          </a:p>
        </p:txBody>
      </p:sp>
      <p:sp>
        <p:nvSpPr>
          <p:cNvPr id="33" name="Shape 31"/>
          <p:cNvSpPr/>
          <p:nvPr/>
        </p:nvSpPr>
        <p:spPr>
          <a:xfrm>
            <a:off x="3246120" y="3657600"/>
            <a:ext cx="2651760" cy="960120"/>
          </a:xfrm>
          <a:prstGeom prst="rect">
            <a:avLst/>
          </a:prstGeom>
          <a:solidFill>
            <a:srgbClr val="FFFFFF"/>
          </a:solidFill>
          <a:ln w="9525">
            <a:solidFill>
              <a:srgbClr val="E3DDD4"/>
            </a:solidFill>
            <a:prstDash val="solid"/>
          </a:ln>
        </p:spPr>
      </p:sp>
      <p:sp>
        <p:nvSpPr>
          <p:cNvPr id="34" name="Text 32"/>
          <p:cNvSpPr txBox="1"/>
          <p:nvPr/>
        </p:nvSpPr>
        <p:spPr>
          <a:xfrm>
            <a:off x="3429000" y="3730752"/>
            <a:ext cx="2286000" cy="228600"/>
          </a:xfrm>
          <a:prstGeom prst="rect">
            <a:avLst/>
          </a:prstGeom>
          <a:noFill/>
          <a:ln/>
        </p:spPr>
        <p:txBody>
          <a:bodyPr wrap="square" lIns="0" tIns="0" rIns="0" bIns="0" rtlCol="0" anchor="ctr"/>
          <a:lstStyle/>
          <a:p>
            <a:pPr indent="0" marL="0">
              <a:buNone/>
            </a:pPr>
            <a:r>
              <a:rPr lang="en-US" sz="850" b="1" dirty="0">
                <a:solidFill>
                  <a:srgbClr val="5B6468"/>
                </a:solidFill>
                <a:latin typeface="Arial" pitchFamily="34" charset="0"/>
                <a:ea typeface="Arial" pitchFamily="34" charset="-122"/>
                <a:cs typeface="Arial" pitchFamily="34" charset="-120"/>
              </a:rPr>
              <a:t>Fixkosten Jahr 1</a:t>
            </a:r>
            <a:endParaRPr lang="en-US" sz="850" dirty="0"/>
          </a:p>
        </p:txBody>
      </p:sp>
      <p:sp>
        <p:nvSpPr>
          <p:cNvPr id="35" name="Text 33"/>
          <p:cNvSpPr txBox="1"/>
          <p:nvPr/>
        </p:nvSpPr>
        <p:spPr>
          <a:xfrm>
            <a:off x="3429000" y="3950208"/>
            <a:ext cx="2286000" cy="320040"/>
          </a:xfrm>
          <a:prstGeom prst="rect">
            <a:avLst/>
          </a:prstGeom>
          <a:noFill/>
          <a:ln/>
        </p:spPr>
        <p:txBody>
          <a:bodyPr wrap="square" lIns="0" tIns="0" rIns="0" bIns="0" rtlCol="0" anchor="ctr"/>
          <a:lstStyle/>
          <a:p>
            <a:pPr indent="0" marL="0">
              <a:buNone/>
            </a:pPr>
            <a:r>
              <a:rPr lang="en-US" sz="1500" b="1" dirty="0">
                <a:solidFill>
                  <a:srgbClr val="1C2326"/>
                </a:solidFill>
                <a:latin typeface="Arial" pitchFamily="34" charset="0"/>
                <a:ea typeface="Arial" pitchFamily="34" charset="-122"/>
                <a:cs typeface="Arial" pitchFamily="34" charset="-120"/>
              </a:rPr>
              <a:t>CHF 120'000</a:t>
            </a:r>
            <a:endParaRPr lang="en-US" sz="1500" dirty="0"/>
          </a:p>
        </p:txBody>
      </p:sp>
      <p:sp>
        <p:nvSpPr>
          <p:cNvPr id="36" name="Text 34"/>
          <p:cNvSpPr txBox="1"/>
          <p:nvPr/>
        </p:nvSpPr>
        <p:spPr>
          <a:xfrm>
            <a:off x="3429000" y="4279392"/>
            <a:ext cx="2286000" cy="274320"/>
          </a:xfrm>
          <a:prstGeom prst="rect">
            <a:avLst/>
          </a:prstGeom>
          <a:noFill/>
          <a:ln/>
        </p:spPr>
        <p:txBody>
          <a:bodyPr wrap="square" lIns="0" tIns="0" rIns="0" bIns="0" rtlCol="0" anchor="ctr"/>
          <a:lstStyle/>
          <a:p>
            <a:pPr indent="0" marL="0">
              <a:buNone/>
            </a:pPr>
            <a:r>
              <a:rPr lang="en-US" sz="850" dirty="0">
                <a:solidFill>
                  <a:srgbClr val="1C2326"/>
                </a:solidFill>
                <a:latin typeface="Arial" pitchFamily="34" charset="0"/>
                <a:ea typeface="Arial" pitchFamily="34" charset="-122"/>
                <a:cs typeface="Arial" pitchFamily="34" charset="-120"/>
              </a:rPr>
              <a:t>1,5 Stellen, Hosting, Vertrieb</a:t>
            </a:r>
            <a:endParaRPr lang="en-US" sz="850" dirty="0"/>
          </a:p>
        </p:txBody>
      </p:sp>
      <p:sp>
        <p:nvSpPr>
          <p:cNvPr id="37" name="Shape 35"/>
          <p:cNvSpPr/>
          <p:nvPr/>
        </p:nvSpPr>
        <p:spPr>
          <a:xfrm>
            <a:off x="6035040" y="3657600"/>
            <a:ext cx="2651760" cy="960120"/>
          </a:xfrm>
          <a:prstGeom prst="rect">
            <a:avLst/>
          </a:prstGeom>
          <a:solidFill>
            <a:srgbClr val="FFFFFF"/>
          </a:solidFill>
          <a:ln w="9525">
            <a:solidFill>
              <a:srgbClr val="E3DDD4"/>
            </a:solidFill>
            <a:prstDash val="solid"/>
          </a:ln>
        </p:spPr>
      </p:sp>
      <p:sp>
        <p:nvSpPr>
          <p:cNvPr id="38" name="Text 36"/>
          <p:cNvSpPr txBox="1"/>
          <p:nvPr/>
        </p:nvSpPr>
        <p:spPr>
          <a:xfrm>
            <a:off x="6217920" y="3730752"/>
            <a:ext cx="2286000" cy="228600"/>
          </a:xfrm>
          <a:prstGeom prst="rect">
            <a:avLst/>
          </a:prstGeom>
          <a:noFill/>
          <a:ln/>
        </p:spPr>
        <p:txBody>
          <a:bodyPr wrap="square" lIns="0" tIns="0" rIns="0" bIns="0" rtlCol="0" anchor="ctr"/>
          <a:lstStyle/>
          <a:p>
            <a:pPr indent="0" marL="0">
              <a:buNone/>
            </a:pPr>
            <a:r>
              <a:rPr lang="en-US" sz="850" b="1" dirty="0">
                <a:solidFill>
                  <a:srgbClr val="5B6468"/>
                </a:solidFill>
                <a:latin typeface="Arial" pitchFamily="34" charset="0"/>
                <a:ea typeface="Arial" pitchFamily="34" charset="-122"/>
                <a:cs typeface="Arial" pitchFamily="34" charset="-120"/>
              </a:rPr>
              <a:t>Break-even</a:t>
            </a:r>
            <a:endParaRPr lang="en-US" sz="850" dirty="0"/>
          </a:p>
        </p:txBody>
      </p:sp>
      <p:sp>
        <p:nvSpPr>
          <p:cNvPr id="39" name="Text 37"/>
          <p:cNvSpPr txBox="1"/>
          <p:nvPr/>
        </p:nvSpPr>
        <p:spPr>
          <a:xfrm>
            <a:off x="6217920" y="3950208"/>
            <a:ext cx="2286000" cy="320040"/>
          </a:xfrm>
          <a:prstGeom prst="rect">
            <a:avLst/>
          </a:prstGeom>
          <a:noFill/>
          <a:ln/>
        </p:spPr>
        <p:txBody>
          <a:bodyPr wrap="square" lIns="0" tIns="0" rIns="0" bIns="0" rtlCol="0" anchor="ctr"/>
          <a:lstStyle/>
          <a:p>
            <a:pPr indent="0" marL="0">
              <a:buNone/>
            </a:pPr>
            <a:r>
              <a:rPr lang="en-US" sz="1500" b="1" dirty="0">
                <a:solidFill>
                  <a:srgbClr val="1C2326"/>
                </a:solidFill>
                <a:latin typeface="Arial" pitchFamily="34" charset="0"/>
                <a:ea typeface="Arial" pitchFamily="34" charset="-122"/>
                <a:cs typeface="Arial" pitchFamily="34" charset="-120"/>
              </a:rPr>
              <a:t>12 Projekte pro Jahr</a:t>
            </a:r>
            <a:endParaRPr lang="en-US" sz="1500" dirty="0"/>
          </a:p>
        </p:txBody>
      </p:sp>
      <p:sp>
        <p:nvSpPr>
          <p:cNvPr id="40" name="Text 38"/>
          <p:cNvSpPr txBox="1"/>
          <p:nvPr/>
        </p:nvSpPr>
        <p:spPr>
          <a:xfrm>
            <a:off x="6217920" y="4279392"/>
            <a:ext cx="2286000" cy="274320"/>
          </a:xfrm>
          <a:prstGeom prst="rect">
            <a:avLst/>
          </a:prstGeom>
          <a:noFill/>
          <a:ln/>
        </p:spPr>
        <p:txBody>
          <a:bodyPr wrap="square" lIns="0" tIns="0" rIns="0" bIns="0" rtlCol="0" anchor="ctr"/>
          <a:lstStyle/>
          <a:p>
            <a:pPr indent="0" marL="0">
              <a:buNone/>
            </a:pPr>
            <a:r>
              <a:rPr lang="en-US" sz="850" dirty="0">
                <a:solidFill>
                  <a:srgbClr val="1C2326"/>
                </a:solidFill>
                <a:latin typeface="Arial" pitchFamily="34" charset="0"/>
                <a:ea typeface="Arial" pitchFamily="34" charset="-122"/>
                <a:cs typeface="Arial" pitchFamily="34" charset="-120"/>
              </a:rPr>
              <a:t>danach rund 80 % Marge pro Projekt</a:t>
            </a:r>
            <a:endParaRPr lang="en-US" sz="850" dirty="0"/>
          </a:p>
        </p:txBody>
      </p:sp>
      <p:sp>
        <p:nvSpPr>
          <p:cNvPr id="41" name="Text 39"/>
          <p:cNvSpPr txBox="1"/>
          <p:nvPr/>
        </p:nvSpPr>
        <p:spPr>
          <a:xfrm>
            <a:off x="457200" y="4626864"/>
            <a:ext cx="8229600" cy="182880"/>
          </a:xfrm>
          <a:prstGeom prst="rect">
            <a:avLst/>
          </a:prstGeom>
          <a:noFill/>
          <a:ln/>
        </p:spPr>
        <p:txBody>
          <a:bodyPr wrap="square" lIns="0" tIns="0" rIns="0" bIns="0" rtlCol="0" anchor="ctr"/>
          <a:lstStyle/>
          <a:p>
            <a:pPr indent="0" marL="0">
              <a:buNone/>
            </a:pPr>
            <a:r>
              <a:rPr lang="en-US" sz="750" dirty="0">
                <a:solidFill>
                  <a:srgbClr val="5B6468"/>
                </a:solidFill>
                <a:latin typeface="Arial" pitchFamily="34" charset="0"/>
                <a:ea typeface="Arial" pitchFamily="34" charset="-122"/>
                <a:cs typeface="Arial" pitchFamily="34" charset="-120"/>
              </a:rPr>
              <a:t>Preise, Kosten und Rechenbeispiel sind Annahmen, die wir in den Pilotgesprächen prüfen.</a:t>
            </a:r>
            <a:endParaRPr lang="en-US" sz="750" dirty="0"/>
          </a:p>
        </p:txBody>
      </p:sp>
      <p:sp>
        <p:nvSpPr>
          <p:cNvPr id="25" name="Slide Number Placeholder 0"/>
          <p:cNvSpPr>
            <a:spLocks noGrp="1"/>
          </p:cNvSpPr>
          <p:nvPr>
            <p:ph type="sldNum" sz="quarter" idx="4294967295"/>
          </p:nvPr>
        </p:nvSpPr>
        <p:spPr>
          <a:xfrm>
            <a:off x="8321040" y="4791456"/>
            <a:ext cx="365760" cy="274320"/>
          </a:xfrm>
          <a:prstGeom prst="rect">
            <a:avLst/>
          </a:prstGeom>
          <a:extLst>
            <a:ext uri="{C572A759-6A51-4108-AA02-DFA0A04FC94B}">
              <ma14:wrappingTextBoxFlag xmlns:ma14="http://schemas.microsoft.com/office/mac/drawingml/2011/main" val="0"/>
            </a:ext>
          </a:extLst>
        </p:spPr>
        <p:txBody>
          <a:bodyPr/>
          <a:lstStyle>
            <a:lvl1pPr>
              <a:defRPr sz="8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8229600" cy="822960"/>
          </a:xfrm>
          <a:prstGeom prst="rect">
            <a:avLst/>
          </a:prstGeom>
          <a:noFill/>
          <a:ln/>
        </p:spPr>
        <p:txBody>
          <a:bodyPr wrap="square" lIns="0" tIns="0" rIns="0" bIns="0" rtlCol="0" anchor="t"/>
          <a:lstStyle/>
          <a:p>
            <a:pPr indent="0" marL="0">
              <a:buNone/>
            </a:pPr>
            <a:r>
              <a:rPr lang="en-US" sz="3000" b="1" dirty="0">
                <a:solidFill>
                  <a:schemeClr val="tx1"/>
                </a:solidFill>
              </a:rPr>
              <a:t>Der Markt: jede Sanierung ab 20 Wohnungen. Ein Rochade-Werkzeug fehlt.</a:t>
            </a:r>
            <a:endParaRPr lang="en-US" sz="3000" dirty="0"/>
          </a:p>
        </p:txBody>
      </p:sp>
      <p:sp>
        <p:nvSpPr>
          <p:cNvPr id="3" name="Shape 1"/>
          <p:cNvSpPr/>
          <p:nvPr/>
        </p:nvSpPr>
        <p:spPr>
          <a:xfrm>
            <a:off x="457200" y="1280160"/>
            <a:ext cx="3474720" cy="1005840"/>
          </a:xfrm>
          <a:prstGeom prst="rect">
            <a:avLst/>
          </a:prstGeom>
          <a:solidFill>
            <a:srgbClr val="E2ECEE"/>
          </a:solidFill>
          <a:ln w="12700">
            <a:solidFill>
              <a:srgbClr val="E2ECEE"/>
            </a:solidFill>
            <a:prstDash val="solid"/>
          </a:ln>
        </p:spPr>
      </p:sp>
      <p:sp>
        <p:nvSpPr>
          <p:cNvPr id="4" name="Text 2"/>
          <p:cNvSpPr txBox="1"/>
          <p:nvPr/>
        </p:nvSpPr>
        <p:spPr>
          <a:xfrm>
            <a:off x="640080" y="1353312"/>
            <a:ext cx="3108960" cy="228600"/>
          </a:xfrm>
          <a:prstGeom prst="rect">
            <a:avLst/>
          </a:prstGeom>
          <a:noFill/>
          <a:ln/>
        </p:spPr>
        <p:txBody>
          <a:bodyPr wrap="square" lIns="0" tIns="0" rIns="0" bIns="0" rtlCol="0" anchor="ctr"/>
          <a:lstStyle/>
          <a:p>
            <a:pPr indent="0" marL="0">
              <a:buNone/>
            </a:pPr>
            <a:r>
              <a:rPr lang="en-US" sz="900" b="1" dirty="0">
                <a:solidFill>
                  <a:srgbClr val="5B6468"/>
                </a:solidFill>
                <a:latin typeface="Arial" pitchFamily="34" charset="0"/>
                <a:ea typeface="Arial" pitchFamily="34" charset="-122"/>
                <a:cs typeface="Arial" pitchFamily="34" charset="-120"/>
              </a:rPr>
              <a:t>Markt Schweiz</a:t>
            </a:r>
            <a:endParaRPr lang="en-US" sz="900" dirty="0"/>
          </a:p>
        </p:txBody>
      </p:sp>
      <p:sp>
        <p:nvSpPr>
          <p:cNvPr id="5" name="Text 3"/>
          <p:cNvSpPr txBox="1"/>
          <p:nvPr/>
        </p:nvSpPr>
        <p:spPr>
          <a:xfrm>
            <a:off x="640080" y="1572768"/>
            <a:ext cx="3108960" cy="292608"/>
          </a:xfrm>
          <a:prstGeom prst="rect">
            <a:avLst/>
          </a:prstGeom>
          <a:noFill/>
          <a:ln/>
        </p:spPr>
        <p:txBody>
          <a:bodyPr wrap="square" lIns="0" tIns="0" rIns="0" bIns="0" rtlCol="0" anchor="ctr"/>
          <a:lstStyle/>
          <a:p>
            <a:pPr indent="0" marL="0">
              <a:buNone/>
            </a:pPr>
            <a:r>
              <a:rPr lang="en-US" sz="1300" b="1" dirty="0">
                <a:solidFill>
                  <a:srgbClr val="1C2326"/>
                </a:solidFill>
                <a:latin typeface="Arial" pitchFamily="34" charset="0"/>
                <a:ea typeface="Arial" pitchFamily="34" charset="-122"/>
                <a:cs typeface="Arial" pitchFamily="34" charset="-120"/>
              </a:rPr>
              <a:t>&gt; 2'000 Häuser pro Jahr</a:t>
            </a:r>
            <a:endParaRPr lang="en-US" sz="1300" dirty="0"/>
          </a:p>
        </p:txBody>
      </p:sp>
      <p:sp>
        <p:nvSpPr>
          <p:cNvPr id="6" name="Text 4"/>
          <p:cNvSpPr txBox="1"/>
          <p:nvPr/>
        </p:nvSpPr>
        <p:spPr>
          <a:xfrm>
            <a:off x="640080" y="1883664"/>
            <a:ext cx="3108960" cy="384048"/>
          </a:xfrm>
          <a:prstGeom prst="rect">
            <a:avLst/>
          </a:prstGeom>
          <a:noFill/>
          <a:ln/>
        </p:spPr>
        <p:txBody>
          <a:bodyPr wrap="square" lIns="0" tIns="0" rIns="0" bIns="0" rtlCol="0" anchor="t"/>
          <a:lstStyle/>
          <a:p>
            <a:pPr indent="0" marL="0">
              <a:buNone/>
            </a:pPr>
            <a:r>
              <a:rPr lang="en-US" sz="850" dirty="0">
                <a:solidFill>
                  <a:srgbClr val="1C2326"/>
                </a:solidFill>
                <a:latin typeface="Arial" pitchFamily="34" charset="0"/>
                <a:ea typeface="Arial" pitchFamily="34" charset="-122"/>
                <a:cs typeface="Arial" pitchFamily="34" charset="-120"/>
              </a:rPr>
              <a:t>werden komplett leergekündigt; über 1 Mio. Wohngebäude sind sanierungsbedürftig, saniert wird 1 % pro Jahr.</a:t>
            </a:r>
            <a:endParaRPr lang="en-US" sz="850" dirty="0"/>
          </a:p>
        </p:txBody>
      </p:sp>
      <p:sp>
        <p:nvSpPr>
          <p:cNvPr id="7" name="Shape 5"/>
          <p:cNvSpPr/>
          <p:nvPr/>
        </p:nvSpPr>
        <p:spPr>
          <a:xfrm>
            <a:off x="457200" y="2395728"/>
            <a:ext cx="3474720" cy="1005840"/>
          </a:xfrm>
          <a:prstGeom prst="rect">
            <a:avLst/>
          </a:prstGeom>
          <a:solidFill>
            <a:srgbClr val="FDEBDD"/>
          </a:solidFill>
          <a:ln w="12700">
            <a:solidFill>
              <a:srgbClr val="FDEBDD"/>
            </a:solidFill>
            <a:prstDash val="solid"/>
          </a:ln>
        </p:spPr>
      </p:sp>
      <p:sp>
        <p:nvSpPr>
          <p:cNvPr id="8" name="Text 6"/>
          <p:cNvSpPr txBox="1"/>
          <p:nvPr/>
        </p:nvSpPr>
        <p:spPr>
          <a:xfrm>
            <a:off x="640080" y="2468880"/>
            <a:ext cx="3108960" cy="228600"/>
          </a:xfrm>
          <a:prstGeom prst="rect">
            <a:avLst/>
          </a:prstGeom>
          <a:noFill/>
          <a:ln/>
        </p:spPr>
        <p:txBody>
          <a:bodyPr wrap="square" lIns="0" tIns="0" rIns="0" bIns="0" rtlCol="0" anchor="ctr"/>
          <a:lstStyle/>
          <a:p>
            <a:pPr indent="0" marL="0">
              <a:buNone/>
            </a:pPr>
            <a:r>
              <a:rPr lang="en-US" sz="900" b="1" dirty="0">
                <a:solidFill>
                  <a:srgbClr val="5B6468"/>
                </a:solidFill>
                <a:latin typeface="Arial" pitchFamily="34" charset="0"/>
                <a:ea typeface="Arial" pitchFamily="34" charset="-122"/>
                <a:cs typeface="Arial" pitchFamily="34" charset="-120"/>
              </a:rPr>
              <a:t>Erster Markt Zürich</a:t>
            </a:r>
            <a:endParaRPr lang="en-US" sz="900" dirty="0"/>
          </a:p>
        </p:txBody>
      </p:sp>
      <p:sp>
        <p:nvSpPr>
          <p:cNvPr id="9" name="Text 7"/>
          <p:cNvSpPr txBox="1"/>
          <p:nvPr/>
        </p:nvSpPr>
        <p:spPr>
          <a:xfrm>
            <a:off x="640080" y="2688336"/>
            <a:ext cx="3108960" cy="292608"/>
          </a:xfrm>
          <a:prstGeom prst="rect">
            <a:avLst/>
          </a:prstGeom>
          <a:noFill/>
          <a:ln/>
        </p:spPr>
        <p:txBody>
          <a:bodyPr wrap="square" lIns="0" tIns="0" rIns="0" bIns="0" rtlCol="0" anchor="ctr"/>
          <a:lstStyle/>
          <a:p>
            <a:pPr indent="0" marL="0">
              <a:buNone/>
            </a:pPr>
            <a:r>
              <a:rPr lang="en-US" sz="1300" b="1" dirty="0">
                <a:solidFill>
                  <a:srgbClr val="1C2326"/>
                </a:solidFill>
                <a:latin typeface="Arial" pitchFamily="34" charset="0"/>
                <a:ea typeface="Arial" pitchFamily="34" charset="-122"/>
                <a:cs typeface="Arial" pitchFamily="34" charset="-120"/>
              </a:rPr>
              <a:t>58'100 gemeinnützige Wohnungen</a:t>
            </a:r>
            <a:endParaRPr lang="en-US" sz="1300" dirty="0"/>
          </a:p>
        </p:txBody>
      </p:sp>
      <p:sp>
        <p:nvSpPr>
          <p:cNvPr id="10" name="Text 8"/>
          <p:cNvSpPr txBox="1"/>
          <p:nvPr/>
        </p:nvSpPr>
        <p:spPr>
          <a:xfrm>
            <a:off x="640080" y="2999232"/>
            <a:ext cx="3108960" cy="384048"/>
          </a:xfrm>
          <a:prstGeom prst="rect">
            <a:avLst/>
          </a:prstGeom>
          <a:noFill/>
          <a:ln/>
        </p:spPr>
        <p:txBody>
          <a:bodyPr wrap="square" lIns="0" tIns="0" rIns="0" bIns="0" rtlCol="0" anchor="t"/>
          <a:lstStyle/>
          <a:p>
            <a:pPr indent="0" marL="0">
              <a:buNone/>
            </a:pPr>
            <a:r>
              <a:rPr lang="en-US" sz="850" dirty="0">
                <a:solidFill>
                  <a:srgbClr val="1C2326"/>
                </a:solidFill>
                <a:latin typeface="Arial" pitchFamily="34" charset="0"/>
                <a:ea typeface="Arial" pitchFamily="34" charset="-122"/>
                <a:cs typeface="Arial" pitchFamily="34" charset="-120"/>
              </a:rPr>
              <a:t>27 % der Mietwohnungen, Ziel 2050 ein Drittel. Genossenschaften dürfen nicht kündigen und sanieren in Etappen.</a:t>
            </a:r>
            <a:endParaRPr lang="en-US" sz="850" dirty="0"/>
          </a:p>
        </p:txBody>
      </p:sp>
      <p:sp>
        <p:nvSpPr>
          <p:cNvPr id="11" name="Shape 9"/>
          <p:cNvSpPr/>
          <p:nvPr/>
        </p:nvSpPr>
        <p:spPr>
          <a:xfrm>
            <a:off x="457200" y="3511296"/>
            <a:ext cx="3474720" cy="1005840"/>
          </a:xfrm>
          <a:prstGeom prst="rect">
            <a:avLst/>
          </a:prstGeom>
          <a:solidFill>
            <a:srgbClr val="F1EDE6"/>
          </a:solidFill>
          <a:ln w="12700">
            <a:solidFill>
              <a:srgbClr val="F1EDE6"/>
            </a:solidFill>
            <a:prstDash val="solid"/>
          </a:ln>
        </p:spPr>
      </p:sp>
      <p:sp>
        <p:nvSpPr>
          <p:cNvPr id="12" name="Text 10"/>
          <p:cNvSpPr txBox="1"/>
          <p:nvPr/>
        </p:nvSpPr>
        <p:spPr>
          <a:xfrm>
            <a:off x="640080" y="3584448"/>
            <a:ext cx="3108960" cy="228600"/>
          </a:xfrm>
          <a:prstGeom prst="rect">
            <a:avLst/>
          </a:prstGeom>
          <a:noFill/>
          <a:ln/>
        </p:spPr>
        <p:txBody>
          <a:bodyPr wrap="square" lIns="0" tIns="0" rIns="0" bIns="0" rtlCol="0" anchor="ctr"/>
          <a:lstStyle/>
          <a:p>
            <a:pPr indent="0" marL="0">
              <a:buNone/>
            </a:pPr>
            <a:r>
              <a:rPr lang="en-US" sz="900" b="1" dirty="0">
                <a:solidFill>
                  <a:srgbClr val="5B6468"/>
                </a:solidFill>
                <a:latin typeface="Arial" pitchFamily="34" charset="0"/>
                <a:ea typeface="Arial" pitchFamily="34" charset="-122"/>
                <a:cs typeface="Arial" pitchFamily="34" charset="-120"/>
              </a:rPr>
              <a:t>Einstieg</a:t>
            </a:r>
            <a:endParaRPr lang="en-US" sz="900" dirty="0"/>
          </a:p>
        </p:txBody>
      </p:sp>
      <p:sp>
        <p:nvSpPr>
          <p:cNvPr id="13" name="Text 11"/>
          <p:cNvSpPr txBox="1"/>
          <p:nvPr/>
        </p:nvSpPr>
        <p:spPr>
          <a:xfrm>
            <a:off x="640080" y="3803904"/>
            <a:ext cx="3108960" cy="292608"/>
          </a:xfrm>
          <a:prstGeom prst="rect">
            <a:avLst/>
          </a:prstGeom>
          <a:noFill/>
          <a:ln/>
        </p:spPr>
        <p:txBody>
          <a:bodyPr wrap="square" lIns="0" tIns="0" rIns="0" bIns="0" rtlCol="0" anchor="ctr"/>
          <a:lstStyle/>
          <a:p>
            <a:pPr indent="0" marL="0">
              <a:buNone/>
            </a:pPr>
            <a:r>
              <a:rPr lang="en-US" sz="1300" b="1" dirty="0">
                <a:solidFill>
                  <a:srgbClr val="1C2326"/>
                </a:solidFill>
                <a:latin typeface="Arial" pitchFamily="34" charset="0"/>
                <a:ea typeface="Arial" pitchFamily="34" charset="-122"/>
                <a:cs typeface="Arial" pitchFamily="34" charset="-120"/>
              </a:rPr>
              <a:t>Pilot 2027, zwei Genossenschaften</a:t>
            </a:r>
            <a:endParaRPr lang="en-US" sz="1300" dirty="0"/>
          </a:p>
        </p:txBody>
      </p:sp>
      <p:sp>
        <p:nvSpPr>
          <p:cNvPr id="14" name="Text 12"/>
          <p:cNvSpPr txBox="1"/>
          <p:nvPr/>
        </p:nvSpPr>
        <p:spPr>
          <a:xfrm>
            <a:off x="640080" y="4114800"/>
            <a:ext cx="3108960" cy="384048"/>
          </a:xfrm>
          <a:prstGeom prst="rect">
            <a:avLst/>
          </a:prstGeom>
          <a:noFill/>
          <a:ln/>
        </p:spPr>
        <p:txBody>
          <a:bodyPr wrap="square" lIns="0" tIns="0" rIns="0" bIns="0" rtlCol="0" anchor="t"/>
          <a:lstStyle/>
          <a:p>
            <a:pPr indent="0" marL="0">
              <a:buNone/>
            </a:pPr>
            <a:r>
              <a:rPr lang="en-US" sz="850" dirty="0">
                <a:solidFill>
                  <a:srgbClr val="1C2326"/>
                </a:solidFill>
                <a:latin typeface="Arial" pitchFamily="34" charset="0"/>
                <a:ea typeface="Arial" pitchFamily="34" charset="-122"/>
                <a:cs typeface="Arial" pitchFamily="34" charset="-120"/>
              </a:rPr>
              <a:t>gratis gegen echte Daten. Dann über die Verbände. Hebel: die Zürcher Prüfpflicht.</a:t>
            </a:r>
            <a:endParaRPr lang="en-US" sz="8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114800" y="1280160"/>
          <a:ext cx="4572000" cy="914400"/>
        </p:xfrm>
        <a:graphic>
          <a:graphicData uri="http://schemas.openxmlformats.org/drawingml/2006/table">
            <a:tbl>
              <a:tblPr/>
              <a:tblGrid>
                <a:gridCol w="1554480"/>
                <a:gridCol w="1005840"/>
                <a:gridCol w="1051560"/>
                <a:gridCol w="960120"/>
              </a:tblGrid>
              <a:tr h="384048">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Werkzeug</a:t>
                      </a:r>
                      <a:endParaRPr lang="en-US" sz="1000" dirty="0">
                        <a:latin typeface="Arial" charset="0"/>
                        <a:ea typeface="Arial" charset="0"/>
                        <a:cs typeface="Arial" charset="0"/>
                      </a:endParaRPr>
                    </a:p>
                  </a:txBody>
                  <a:tcPr marL="91440" marR="9144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24414A"/>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Verträge</a:t>
                      </a:r>
                      <a:endParaRPr lang="en-US" sz="1000" dirty="0">
                        <a:latin typeface="Arial" charset="0"/>
                        <a:ea typeface="Arial" charset="0"/>
                        <a:cs typeface="Arial" charset="0"/>
                      </a:endParaRPr>
                    </a:p>
                  </a:txBody>
                  <a:tcPr marL="91440" marR="9144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24414A"/>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Vermietung</a:t>
                      </a:r>
                      <a:endParaRPr lang="en-US" sz="1000" dirty="0">
                        <a:latin typeface="Arial" charset="0"/>
                        <a:ea typeface="Arial" charset="0"/>
                        <a:cs typeface="Arial" charset="0"/>
                      </a:endParaRPr>
                    </a:p>
                  </a:txBody>
                  <a:tcPr marL="91440" marR="9144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24414A"/>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Rochade</a:t>
                      </a:r>
                      <a:endParaRPr lang="en-US" sz="1000" dirty="0">
                        <a:latin typeface="Arial" charset="0"/>
                        <a:ea typeface="Arial" charset="0"/>
                        <a:cs typeface="Arial" charset="0"/>
                      </a:endParaRPr>
                    </a:p>
                  </a:txBody>
                  <a:tcPr marL="91440" marR="9144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24414A"/>
                    </a:solidFill>
                  </a:tcPr>
                </a:tc>
              </a:tr>
              <a:tr h="384048">
                <a:tc>
                  <a:txBody>
                    <a:bodyPr/>
                    <a:lstStyle/>
                    <a:p>
                      <a:pPr indent="0" marL="0">
                        <a:buNone/>
                      </a:pPr>
                      <a:r>
                        <a:rPr lang="en-US" sz="1000" dirty="0">
                          <a:solidFill>
                            <a:srgbClr val="1C2326"/>
                          </a:solidFill>
                          <a:latin typeface="Arial" pitchFamily="34" charset="0"/>
                          <a:ea typeface="Arial" pitchFamily="34" charset="-122"/>
                          <a:cs typeface="Arial" pitchFamily="34" charset="-120"/>
                        </a:rPr>
                        <a:t>Garaio REM</a:t>
                      </a:r>
                      <a:endParaRPr lang="en-US" sz="1000" dirty="0">
                        <a:latin typeface="Arial" charset="0"/>
                        <a:ea typeface="Arial" charset="0"/>
                        <a:cs typeface="Arial" charset="0"/>
                      </a:endParaRPr>
                    </a:p>
                  </a:txBody>
                  <a:tcPr marL="91440" marR="9144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C2326"/>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6468"/>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6468"/>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r>
              <a:tr h="384048">
                <a:tc>
                  <a:txBody>
                    <a:bodyPr/>
                    <a:lstStyle/>
                    <a:p>
                      <a:pPr indent="0" marL="0">
                        <a:buNone/>
                      </a:pPr>
                      <a:r>
                        <a:rPr lang="en-US" sz="1000" dirty="0">
                          <a:solidFill>
                            <a:srgbClr val="1C2326"/>
                          </a:solidFill>
                          <a:latin typeface="Arial" pitchFamily="34" charset="0"/>
                          <a:ea typeface="Arial" pitchFamily="34" charset="-122"/>
                          <a:cs typeface="Arial" pitchFamily="34" charset="-120"/>
                        </a:rPr>
                        <a:t>Abacus AbaImmo</a:t>
                      </a:r>
                      <a:endParaRPr lang="en-US" sz="1000" dirty="0">
                        <a:latin typeface="Arial" charset="0"/>
                        <a:ea typeface="Arial" charset="0"/>
                        <a:cs typeface="Arial" charset="0"/>
                      </a:endParaRPr>
                    </a:p>
                  </a:txBody>
                  <a:tcPr marL="91440" marR="9144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C2326"/>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6468"/>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6468"/>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r>
              <a:tr h="384048">
                <a:tc>
                  <a:txBody>
                    <a:bodyPr/>
                    <a:lstStyle/>
                    <a:p>
                      <a:pPr indent="0" marL="0">
                        <a:buNone/>
                      </a:pPr>
                      <a:r>
                        <a:rPr lang="en-US" sz="1000" dirty="0">
                          <a:solidFill>
                            <a:srgbClr val="1C2326"/>
                          </a:solidFill>
                          <a:latin typeface="Arial" pitchFamily="34" charset="0"/>
                          <a:ea typeface="Arial" pitchFamily="34" charset="-122"/>
                          <a:cs typeface="Arial" pitchFamily="34" charset="-120"/>
                        </a:rPr>
                        <a:t>Rimo R5</a:t>
                      </a:r>
                      <a:endParaRPr lang="en-US" sz="1000" dirty="0">
                        <a:latin typeface="Arial" charset="0"/>
                        <a:ea typeface="Arial" charset="0"/>
                        <a:cs typeface="Arial" charset="0"/>
                      </a:endParaRPr>
                    </a:p>
                  </a:txBody>
                  <a:tcPr marL="91440" marR="9144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C2326"/>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6468"/>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6468"/>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r>
              <a:tr h="384048">
                <a:tc>
                  <a:txBody>
                    <a:bodyPr/>
                    <a:lstStyle/>
                    <a:p>
                      <a:pPr indent="0" marL="0">
                        <a:buNone/>
                      </a:pPr>
                      <a:r>
                        <a:rPr lang="en-US" sz="1000" dirty="0">
                          <a:solidFill>
                            <a:srgbClr val="1C2326"/>
                          </a:solidFill>
                          <a:latin typeface="Arial" pitchFamily="34" charset="0"/>
                          <a:ea typeface="Arial" pitchFamily="34" charset="-122"/>
                          <a:cs typeface="Arial" pitchFamily="34" charset="-120"/>
                        </a:rPr>
                        <a:t>emonitor, Flatfox</a:t>
                      </a:r>
                      <a:endParaRPr lang="en-US" sz="1000" dirty="0">
                        <a:latin typeface="Arial" charset="0"/>
                        <a:ea typeface="Arial" charset="0"/>
                        <a:cs typeface="Arial" charset="0"/>
                      </a:endParaRPr>
                    </a:p>
                  </a:txBody>
                  <a:tcPr marL="91440" marR="9144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6468"/>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C2326"/>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6468"/>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r>
              <a:tr h="384048">
                <a:tc>
                  <a:txBody>
                    <a:bodyPr/>
                    <a:lstStyle/>
                    <a:p>
                      <a:pPr indent="0" marL="0">
                        <a:buNone/>
                      </a:pPr>
                      <a:r>
                        <a:rPr lang="en-US" sz="1000" dirty="0">
                          <a:solidFill>
                            <a:srgbClr val="1C2326"/>
                          </a:solidFill>
                          <a:latin typeface="Arial" pitchFamily="34" charset="0"/>
                          <a:ea typeface="Arial" pitchFamily="34" charset="-122"/>
                          <a:cs typeface="Arial" pitchFamily="34" charset="-120"/>
                        </a:rPr>
                        <a:t>Excel</a:t>
                      </a:r>
                      <a:endParaRPr lang="en-US" sz="1000" dirty="0">
                        <a:latin typeface="Arial" charset="0"/>
                        <a:ea typeface="Arial" charset="0"/>
                        <a:cs typeface="Arial" charset="0"/>
                      </a:endParaRPr>
                    </a:p>
                  </a:txBody>
                  <a:tcPr marL="91440" marR="9144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6468"/>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6468"/>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6468"/>
                          </a:solidFill>
                          <a:latin typeface="Arial" pitchFamily="34" charset="0"/>
                          <a:ea typeface="Arial" pitchFamily="34" charset="-122"/>
                          <a:cs typeface="Arial" pitchFamily="34" charset="-120"/>
                        </a:rPr>
                        <a:t>von Hand</a:t>
                      </a:r>
                      <a:endParaRPr lang="en-US" sz="1100" dirty="0">
                        <a:latin typeface="Arial" charset="0"/>
                        <a:ea typeface="Arial" charset="0"/>
                        <a:cs typeface="Arial" charset="0"/>
                      </a:endParaRPr>
                    </a:p>
                  </a:txBody>
                  <a:tcPr marL="91440" marR="9144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r>
              <a:tr h="384048">
                <a:tc>
                  <a:txBody>
                    <a:bodyPr/>
                    <a:lstStyle/>
                    <a:p>
                      <a:pPr indent="0" marL="0">
                        <a:buNone/>
                      </a:pPr>
                      <a:r>
                        <a:rPr lang="en-US" sz="1000" b="1" dirty="0">
                          <a:solidFill>
                            <a:srgbClr val="FFFFFF"/>
                          </a:solidFill>
                          <a:latin typeface="Arial" pitchFamily="34" charset="0"/>
                          <a:ea typeface="Arial" pitchFamily="34" charset="-122"/>
                          <a:cs typeface="Arial" pitchFamily="34" charset="-120"/>
                        </a:rPr>
                        <a:t>ROCHADE</a:t>
                      </a:r>
                      <a:endParaRPr lang="en-US" sz="1000" dirty="0">
                        <a:latin typeface="Arial" charset="0"/>
                        <a:ea typeface="Arial" charset="0"/>
                        <a:cs typeface="Arial" charset="0"/>
                      </a:endParaRPr>
                    </a:p>
                  </a:txBody>
                  <a:tcPr marL="91440" marR="9144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B8460E"/>
                    </a:solidFill>
                  </a:tcPr>
                </a:tc>
                <a:tc>
                  <a:txBody>
                    <a:bodyPr/>
                    <a:lstStyle/>
                    <a:p>
                      <a:pPr algn="ctr" indent="0" marL="0">
                        <a:buNone/>
                      </a:pPr>
                      <a:r>
                        <a:rPr lang="en-US" sz="1100"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B8460E"/>
                    </a:solidFill>
                  </a:tcPr>
                </a:tc>
                <a:tc>
                  <a:txBody>
                    <a:bodyPr/>
                    <a:lstStyle/>
                    <a:p>
                      <a:pPr algn="ctr" indent="0" marL="0">
                        <a:buNone/>
                      </a:pPr>
                      <a:r>
                        <a:rPr lang="en-US" sz="1100"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B8460E"/>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B8460E"/>
                    </a:solidFill>
                  </a:tcPr>
                </a:tc>
              </a:tr>
            </a:tbl>
          </a:graphicData>
        </a:graphic>
      </p:graphicFrame>
      <p:sp>
        <p:nvSpPr>
          <p:cNvPr id="16" name="Text 13"/>
          <p:cNvSpPr txBox="1"/>
          <p:nvPr/>
        </p:nvSpPr>
        <p:spPr>
          <a:xfrm>
            <a:off x="4114800" y="4023360"/>
            <a:ext cx="4572000" cy="548640"/>
          </a:xfrm>
          <a:prstGeom prst="rect">
            <a:avLst/>
          </a:prstGeom>
          <a:noFill/>
          <a:ln/>
        </p:spPr>
        <p:txBody>
          <a:bodyPr wrap="square" lIns="0" tIns="0" rIns="0" bIns="0" rtlCol="0" anchor="t"/>
          <a:lstStyle/>
          <a:p>
            <a:pPr indent="0" marL="0">
              <a:buNone/>
            </a:pPr>
            <a:r>
              <a:rPr lang="en-US" sz="850" dirty="0">
                <a:solidFill>
                  <a:srgbClr val="5B6468"/>
                </a:solidFill>
                <a:latin typeface="Arial" pitchFamily="34" charset="0"/>
                <a:ea typeface="Arial" pitchFamily="34" charset="-122"/>
                <a:cs typeface="Arial" pitchFamily="34" charset="-120"/>
              </a:rPr>
              <a:t>Produktseiten, 24. Oktober 2026. Die Bewirtschaftungs-Software kennt Verträge, die Vermietungsplattformen die Interessenten. Die Rochade plant niemand. In Grossbritannien existiert «Decant» für Mieterumzüge.</a:t>
            </a:r>
            <a:endParaRPr lang="en-US" sz="850" dirty="0"/>
          </a:p>
        </p:txBody>
      </p:sp>
      <p:sp>
        <p:nvSpPr>
          <p:cNvPr id="25" name="Slide Number Placeholder 0"/>
          <p:cNvSpPr>
            <a:spLocks noGrp="1"/>
          </p:cNvSpPr>
          <p:nvPr>
            <p:ph type="sldNum" sz="quarter" idx="4294967295"/>
          </p:nvPr>
        </p:nvSpPr>
        <p:spPr>
          <a:xfrm>
            <a:off x="8321040" y="4791456"/>
            <a:ext cx="365760" cy="274320"/>
          </a:xfrm>
          <a:prstGeom prst="rect">
            <a:avLst/>
          </a:prstGeom>
          <a:extLst>
            <a:ext uri="{C572A759-6A51-4108-AA02-DFA0A04FC94B}">
              <ma14:wrappingTextBoxFlag xmlns:ma14="http://schemas.microsoft.com/office/mac/drawingml/2011/main" val="0"/>
            </a:ext>
          </a:extLst>
        </p:spPr>
        <p:txBody>
          <a:bodyPr/>
          <a:lstStyle>
            <a:lvl1pPr>
              <a:defRPr sz="8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37210" y="537210"/>
            <a:ext cx="160020" cy="160020"/>
          </a:xfrm>
          <a:prstGeom prst="rect">
            <a:avLst/>
          </a:prstGeom>
          <a:ln w="80010">
            <a:solidFill>
              <a:srgbClr val="FFFFFF"/>
            </a:solidFill>
            <a:prstDash val="solid"/>
          </a:ln>
        </p:spPr>
      </p:sp>
      <p:sp>
        <p:nvSpPr>
          <p:cNvPr id="3" name="Shape 1"/>
          <p:cNvSpPr/>
          <p:nvPr/>
        </p:nvSpPr>
        <p:spPr>
          <a:xfrm>
            <a:off x="737235" y="577215"/>
            <a:ext cx="80010" cy="80010"/>
          </a:xfrm>
          <a:prstGeom prst="rect">
            <a:avLst/>
          </a:prstGeom>
          <a:solidFill>
            <a:srgbClr val="FFFFFF"/>
          </a:solidFill>
          <a:ln w="12700">
            <a:solidFill>
              <a:srgbClr val="FFFFFF"/>
            </a:solidFill>
            <a:prstDash val="solid"/>
          </a:ln>
        </p:spPr>
      </p:sp>
      <p:sp>
        <p:nvSpPr>
          <p:cNvPr id="4" name="Shape 2"/>
          <p:cNvSpPr/>
          <p:nvPr/>
        </p:nvSpPr>
        <p:spPr>
          <a:xfrm>
            <a:off x="817245" y="497205"/>
            <a:ext cx="240030" cy="240030"/>
          </a:xfrm>
          <a:prstGeom prst="rect">
            <a:avLst/>
          </a:prstGeom>
          <a:solidFill>
            <a:srgbClr val="FFFFFF"/>
          </a:solidFill>
          <a:ln w="12700">
            <a:solidFill>
              <a:srgbClr val="FFFFFF"/>
            </a:solidFill>
            <a:prstDash val="solid"/>
          </a:ln>
        </p:spPr>
      </p:sp>
      <p:sp>
        <p:nvSpPr>
          <p:cNvPr id="5" name="Shape 3"/>
          <p:cNvSpPr/>
          <p:nvPr/>
        </p:nvSpPr>
        <p:spPr>
          <a:xfrm>
            <a:off x="497205" y="817245"/>
            <a:ext cx="240030" cy="240030"/>
          </a:xfrm>
          <a:prstGeom prst="rect">
            <a:avLst/>
          </a:prstGeom>
          <a:solidFill>
            <a:srgbClr val="FFFFFF"/>
          </a:solidFill>
          <a:ln w="12700">
            <a:solidFill>
              <a:srgbClr val="FFFFFF"/>
            </a:solidFill>
            <a:prstDash val="solid"/>
          </a:ln>
        </p:spPr>
      </p:sp>
      <p:sp>
        <p:nvSpPr>
          <p:cNvPr id="6" name="Shape 4"/>
          <p:cNvSpPr/>
          <p:nvPr/>
        </p:nvSpPr>
        <p:spPr>
          <a:xfrm>
            <a:off x="737235" y="897255"/>
            <a:ext cx="80010" cy="80010"/>
          </a:xfrm>
          <a:prstGeom prst="rect">
            <a:avLst/>
          </a:prstGeom>
          <a:solidFill>
            <a:srgbClr val="FFFFFF"/>
          </a:solidFill>
          <a:ln w="12700">
            <a:solidFill>
              <a:srgbClr val="FFFFFF"/>
            </a:solidFill>
            <a:prstDash val="solid"/>
          </a:ln>
        </p:spPr>
      </p:sp>
      <p:sp>
        <p:nvSpPr>
          <p:cNvPr id="7" name="Shape 5"/>
          <p:cNvSpPr/>
          <p:nvPr/>
        </p:nvSpPr>
        <p:spPr>
          <a:xfrm>
            <a:off x="857250" y="857250"/>
            <a:ext cx="160020" cy="160020"/>
          </a:xfrm>
          <a:prstGeom prst="rect">
            <a:avLst/>
          </a:prstGeom>
          <a:ln w="80010">
            <a:solidFill>
              <a:srgbClr val="FFFFFF"/>
            </a:solidFill>
            <a:prstDash val="solid"/>
          </a:ln>
        </p:spPr>
      </p:sp>
      <p:sp>
        <p:nvSpPr>
          <p:cNvPr id="8" name="Text 6"/>
          <p:cNvSpPr txBox="1"/>
          <p:nvPr/>
        </p:nvSpPr>
        <p:spPr>
          <a:xfrm>
            <a:off x="457200" y="1280160"/>
            <a:ext cx="8229600" cy="128016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Jede Rochade, die gelingt, ist eine Kündigung, die nicht geschrieben wird.</a:t>
            </a:r>
            <a:endParaRPr lang="en-US" sz="3200" dirty="0"/>
          </a:p>
        </p:txBody>
      </p:sp>
      <p:sp>
        <p:nvSpPr>
          <p:cNvPr id="9" name="Shape 7"/>
          <p:cNvSpPr/>
          <p:nvPr/>
        </p:nvSpPr>
        <p:spPr>
          <a:xfrm>
            <a:off x="457200" y="2743200"/>
            <a:ext cx="2651760" cy="868680"/>
          </a:xfrm>
          <a:prstGeom prst="rect">
            <a:avLst/>
          </a:prstGeom>
          <a:solidFill>
            <a:srgbClr val="2F525C"/>
          </a:solidFill>
          <a:ln w="12700">
            <a:solidFill>
              <a:srgbClr val="2F525C"/>
            </a:solidFill>
            <a:prstDash val="solid"/>
          </a:ln>
        </p:spPr>
      </p:sp>
      <p:sp>
        <p:nvSpPr>
          <p:cNvPr id="10" name="Text 8"/>
          <p:cNvSpPr txBox="1"/>
          <p:nvPr/>
        </p:nvSpPr>
        <p:spPr>
          <a:xfrm>
            <a:off x="640080" y="2816352"/>
            <a:ext cx="2377440" cy="36576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Zwei Pilot-Genossenschaften</a:t>
            </a:r>
            <a:endParaRPr lang="en-US" sz="1300" dirty="0"/>
          </a:p>
        </p:txBody>
      </p:sp>
      <p:sp>
        <p:nvSpPr>
          <p:cNvPr id="11" name="Text 9"/>
          <p:cNvSpPr txBox="1"/>
          <p:nvPr/>
        </p:nvSpPr>
        <p:spPr>
          <a:xfrm>
            <a:off x="640080" y="3182112"/>
            <a:ext cx="2377440" cy="320040"/>
          </a:xfrm>
          <a:prstGeom prst="rect">
            <a:avLst/>
          </a:prstGeom>
          <a:noFill/>
          <a:ln/>
        </p:spPr>
        <p:txBody>
          <a:bodyPr wrap="square" lIns="0" tIns="0" rIns="0" bIns="0" rtlCol="0" anchor="ctr"/>
          <a:lstStyle/>
          <a:p>
            <a:pPr indent="0" marL="0">
              <a:buNone/>
            </a:pPr>
            <a:r>
              <a:rPr lang="en-US" sz="1100" dirty="0">
                <a:solidFill>
                  <a:srgbClr val="D4E1E5"/>
                </a:solidFill>
                <a:latin typeface="Arial" pitchFamily="34" charset="0"/>
                <a:ea typeface="Arial" pitchFamily="34" charset="-122"/>
                <a:cs typeface="Arial" pitchFamily="34" charset="-120"/>
              </a:rPr>
              <a:t>Etappensanierung 2027</a:t>
            </a:r>
            <a:endParaRPr lang="en-US" sz="1100" dirty="0"/>
          </a:p>
        </p:txBody>
      </p:sp>
      <p:sp>
        <p:nvSpPr>
          <p:cNvPr id="12" name="Shape 10"/>
          <p:cNvSpPr/>
          <p:nvPr/>
        </p:nvSpPr>
        <p:spPr>
          <a:xfrm>
            <a:off x="3246120" y="2743200"/>
            <a:ext cx="2651760" cy="868680"/>
          </a:xfrm>
          <a:prstGeom prst="rect">
            <a:avLst/>
          </a:prstGeom>
          <a:solidFill>
            <a:srgbClr val="2F525C"/>
          </a:solidFill>
          <a:ln w="12700">
            <a:solidFill>
              <a:srgbClr val="2F525C"/>
            </a:solidFill>
            <a:prstDash val="solid"/>
          </a:ln>
        </p:spPr>
      </p:sp>
      <p:sp>
        <p:nvSpPr>
          <p:cNvPr id="13" name="Text 11"/>
          <p:cNvSpPr txBox="1"/>
          <p:nvPr/>
        </p:nvSpPr>
        <p:spPr>
          <a:xfrm>
            <a:off x="3429000" y="2816352"/>
            <a:ext cx="2377440" cy="36576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Ein Gespräch</a:t>
            </a:r>
            <a:endParaRPr lang="en-US" sz="1300" dirty="0"/>
          </a:p>
        </p:txBody>
      </p:sp>
      <p:sp>
        <p:nvSpPr>
          <p:cNvPr id="14" name="Text 12"/>
          <p:cNvSpPr txBox="1"/>
          <p:nvPr/>
        </p:nvSpPr>
        <p:spPr>
          <a:xfrm>
            <a:off x="3429000" y="3182112"/>
            <a:ext cx="2377440" cy="320040"/>
          </a:xfrm>
          <a:prstGeom prst="rect">
            <a:avLst/>
          </a:prstGeom>
          <a:noFill/>
          <a:ln/>
        </p:spPr>
        <p:txBody>
          <a:bodyPr wrap="square" lIns="0" tIns="0" rIns="0" bIns="0" rtlCol="0" anchor="ctr"/>
          <a:lstStyle/>
          <a:p>
            <a:pPr indent="0" marL="0">
              <a:buNone/>
            </a:pPr>
            <a:r>
              <a:rPr lang="en-US" sz="1100" dirty="0">
                <a:solidFill>
                  <a:srgbClr val="D4E1E5"/>
                </a:solidFill>
                <a:latin typeface="Arial" pitchFamily="34" charset="0"/>
                <a:ea typeface="Arial" pitchFamily="34" charset="-122"/>
                <a:cs typeface="Arial" pitchFamily="34" charset="-120"/>
              </a:rPr>
              <a:t>mit einer Bewirtschaftung</a:t>
            </a:r>
            <a:endParaRPr lang="en-US" sz="1100" dirty="0"/>
          </a:p>
        </p:txBody>
      </p:sp>
      <p:sp>
        <p:nvSpPr>
          <p:cNvPr id="15" name="Shape 13"/>
          <p:cNvSpPr/>
          <p:nvPr/>
        </p:nvSpPr>
        <p:spPr>
          <a:xfrm>
            <a:off x="6035040" y="2743200"/>
            <a:ext cx="2651760" cy="868680"/>
          </a:xfrm>
          <a:prstGeom prst="rect">
            <a:avLst/>
          </a:prstGeom>
          <a:solidFill>
            <a:srgbClr val="2F525C"/>
          </a:solidFill>
          <a:ln w="12700">
            <a:solidFill>
              <a:srgbClr val="2F525C"/>
            </a:solidFill>
            <a:prstDash val="solid"/>
          </a:ln>
        </p:spPr>
      </p:sp>
      <p:sp>
        <p:nvSpPr>
          <p:cNvPr id="16" name="Text 14"/>
          <p:cNvSpPr txBox="1"/>
          <p:nvPr/>
        </p:nvSpPr>
        <p:spPr>
          <a:xfrm>
            <a:off x="6217920" y="2816352"/>
            <a:ext cx="2377440" cy="36576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Euer Feedback</a:t>
            </a:r>
            <a:endParaRPr lang="en-US" sz="1300" dirty="0"/>
          </a:p>
        </p:txBody>
      </p:sp>
      <p:sp>
        <p:nvSpPr>
          <p:cNvPr id="17" name="Text 15"/>
          <p:cNvSpPr txBox="1"/>
          <p:nvPr/>
        </p:nvSpPr>
        <p:spPr>
          <a:xfrm>
            <a:off x="6217920" y="3182112"/>
            <a:ext cx="2377440" cy="320040"/>
          </a:xfrm>
          <a:prstGeom prst="rect">
            <a:avLst/>
          </a:prstGeom>
          <a:noFill/>
          <a:ln/>
        </p:spPr>
        <p:txBody>
          <a:bodyPr wrap="square" lIns="0" tIns="0" rIns="0" bIns="0" rtlCol="0" anchor="ctr"/>
          <a:lstStyle/>
          <a:p>
            <a:pPr indent="0" marL="0">
              <a:buNone/>
            </a:pPr>
            <a:r>
              <a:rPr lang="en-US" sz="1100" dirty="0">
                <a:solidFill>
                  <a:srgbClr val="D4E1E5"/>
                </a:solidFill>
                <a:latin typeface="Arial" pitchFamily="34" charset="0"/>
                <a:ea typeface="Arial" pitchFamily="34" charset="-122"/>
                <a:cs typeface="Arial" pitchFamily="34" charset="-120"/>
              </a:rPr>
              <a:t>heute</a:t>
            </a:r>
            <a:endParaRPr lang="en-US" sz="1100" dirty="0"/>
          </a:p>
        </p:txBody>
      </p:sp>
      <p:sp>
        <p:nvSpPr>
          <p:cNvPr id="18" name="Text 16"/>
          <p:cNvSpPr txBox="1"/>
          <p:nvPr/>
        </p:nvSpPr>
        <p:spPr>
          <a:xfrm>
            <a:off x="457200" y="3794760"/>
            <a:ext cx="8229600" cy="457200"/>
          </a:xfrm>
          <a:prstGeom prst="rect">
            <a:avLst/>
          </a:prstGeom>
          <a:noFill/>
          <a:ln/>
        </p:spPr>
        <p:txBody>
          <a:bodyPr wrap="square" lIns="0" tIns="0" rIns="0" bIns="0" rtlCol="0" anchor="t"/>
          <a:lstStyle/>
          <a:p>
            <a:pPr indent="0" marL="0">
              <a:buNone/>
            </a:pPr>
            <a:r>
              <a:rPr lang="en-US" sz="1100" dirty="0">
                <a:solidFill>
                  <a:srgbClr val="D4E1E5"/>
                </a:solidFill>
                <a:latin typeface="Arial" pitchFamily="34" charset="0"/>
                <a:ea typeface="Arial" pitchFamily="34" charset="-122"/>
                <a:cs typeface="Arial" pitchFamily="34" charset="-120"/>
              </a:rPr>
              <a:t>Nach 24 Stunden: Website mit belegten Zahlen · Prototyp mit 24 Haushalten und Regel-Planer · App für Bewohnende mit Live-Update · Rechtslage und Parteien in vier Kantonen geklärt</a:t>
            </a:r>
            <a:endParaRPr lang="en-US" sz="1100" dirty="0"/>
          </a:p>
        </p:txBody>
      </p:sp>
      <p:sp>
        <p:nvSpPr>
          <p:cNvPr id="19" name="Text 17"/>
          <p:cNvSpPr txBox="1"/>
          <p:nvPr/>
        </p:nvSpPr>
        <p:spPr>
          <a:xfrm>
            <a:off x="457200" y="4343400"/>
            <a:ext cx="8229600" cy="274320"/>
          </a:xfrm>
          <a:prstGeom prst="rect">
            <a:avLst/>
          </a:prstGeom>
          <a:noFill/>
          <a:ln/>
        </p:spPr>
        <p:txBody>
          <a:bodyPr wrap="square" lIns="0" tIns="0" rIns="0" bIns="0" rtlCol="0" anchor="ctr"/>
          <a:lstStyle/>
          <a:p>
            <a:pPr indent="0" marL="0">
              <a:buNone/>
            </a:pPr>
            <a:r>
              <a:rPr lang="en-US" sz="1100" dirty="0">
                <a:solidFill>
                  <a:srgbClr val="B5C9CE"/>
                </a:solidFill>
                <a:latin typeface="Arial" pitchFamily="34" charset="0"/>
                <a:ea typeface="Arial" pitchFamily="34" charset="-122"/>
                <a:cs typeface="Arial" pitchFamily="34" charset="-120"/>
              </a:rPr>
              <a:t>Team ROCHADE · Francesco (Website, Pitch) · Alex (App, Solver, Design) · [weitere eintragen]</a:t>
            </a:r>
            <a:endParaRPr lang="en-US" sz="1100" dirty="0"/>
          </a:p>
        </p:txBody>
      </p:sp>
      <p:sp>
        <p:nvSpPr>
          <p:cNvPr id="21" name="Text 0"/>
          <p:cNvSpPr/>
          <p:nvPr>
            <p:ph idx="100" type="title" hasCustomPrompt="1"/>
          </p:nvPr>
        </p:nvSpPr>
        <p:spPr>
          <a:xfrm>
            <a:off x="457200" y="320040"/>
            <a:ext cx="8229600" cy="822960"/>
          </a:xfrm>
          <a:prstGeom prst="rect">
            <a:avLst/>
          </a:prstGeom>
          <a:noFill/>
          <a:ln/>
        </p:spPr>
        <p:txBody>
          <a:bodyPr wrap="square" lIns="0" tIns="0" rIns="0" bIns="0" rtlCol="0" anchor="t"/>
          <a:lstStyle/>
          <a:p>
            <a:pPr indent="0" marL="0">
              <a:buNone/>
            </a:pPr>
            <a:endParaRPr lang="en-US" sz="3000" dirty="0"/>
          </a:p>
        </p:txBody>
      </p:sp>
    </p:spTree>
  </p:cSld>
  <p:clrMapOvr>
    <a:masterClrMapping/>
  </p:clrMapOvr>
</p:sld>
</file>

<file path=ppt/theme/theme1.xml><?xml version="1.0" encoding="utf-8"?>
<a:theme xmlns:a="http://schemas.openxmlformats.org/drawingml/2006/main" name="ROCHADE">
  <a:themeElements>
    <a:clrScheme name="ROCHADE">
      <a:dk1>
        <a:srgbClr val="1C2326"/>
      </a:dk1>
      <a:lt1>
        <a:srgbClr val="FAF8F5"/>
      </a:lt1>
      <a:dk2>
        <a:srgbClr val="24414A"/>
      </a:dk2>
      <a:lt2>
        <a:srgbClr val="F1EDE6"/>
      </a:lt2>
      <a:accent1>
        <a:srgbClr val="F26A1B"/>
      </a:accent1>
      <a:accent2>
        <a:srgbClr val="B8460E"/>
      </a:accent2>
      <a:accent3>
        <a:srgbClr val="E2ECEE"/>
      </a:accent3>
      <a:accent4>
        <a:srgbClr val="FDEBDD"/>
      </a:accent4>
      <a:accent5>
        <a:srgbClr val="276B43"/>
      </a:accent5>
      <a:accent6>
        <a:srgbClr val="B42318"/>
      </a:accent6>
      <a:hlink>
        <a:srgbClr val="B8460E"/>
      </a:hlink>
      <a:folHlink>
        <a:srgbClr val="B8460E"/>
      </a:folHlink>
    </a:clrScheme>
    <a:fontScheme name="ROCHAD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ROCHADE – Pitch ZentralHack 2026</dc:title>
  <dc:subject>PptxGenJS Presentation</dc:subject>
  <dc:creator>Team ROCHADE</dc:creator>
  <cp:lastModifiedBy>Team ROCHADE</cp:lastModifiedBy>
  <cp:revision>1</cp:revision>
  <dcterms:created xsi:type="dcterms:W3CDTF">2026-10-24T04:22:09Z</dcterms:created>
  <dcterms:modified xsi:type="dcterms:W3CDTF">2026-10-24T04:22:09Z</dcterms:modified>
</cp:coreProperties>
</file>