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285a35db-a92a-1e9a-2685-39bf48290703}">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Häuser</c:v>
                </c:pt>
              </c:strCache>
            </c:strRef>
          </c:tx>
          <c:spPr>
            <a:solidFill>
              <a:srgbClr val="F26A1B"/>
            </a:solidFill>
            <a:effectLst/>
          </c:spPr>
          <c:invertIfNegative val="0"/>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dPt>
            <c:idx val="0"/>
            <c:invertIfNegative val="0"/>
            <c:bubble3D val="0"/>
            <c:spPr>
              <a:solidFill>
                <a:srgbClr val="F26A1B"/>
              </a:solidFill>
              <a:effectLst/>
            </c:spPr>
          </c:dPt>
          <c:dPt>
            <c:idx val="1"/>
            <c:invertIfNegative val="0"/>
            <c:bubble3D val="0"/>
            <c:spPr>
              <a:solidFill>
                <a:srgbClr val="24414A"/>
              </a:solidFill>
              <a:effectLst/>
            </c:spPr>
          </c:dPt>
          <c:dPt>
            <c:idx val="2"/>
            <c:invertIfNegative val="0"/>
            <c:bubble3D val="0"/>
            <c:spPr>
              <a:solidFill>
                <a:srgbClr val="8A8178"/>
              </a:solidFill>
              <a:effectLst/>
            </c:spPr>
          </c:dPt>
          <c:cat>
            <c:multiLvlStrRef>
              <c:f>Sheet1!$A$2:$A$4</c:f>
              <c:multiLvlStrCache>
                <c:ptCount val="3"/>
                <c:lvl>
                  <c:pt idx="0">
                    <c:v>Zürich</c:v>
                  </c:pt>
                  <c:pt idx="1">
                    <c:v>Basel</c:v>
                  </c:pt>
                  <c:pt idx="2">
                    <c:v>Genf</c:v>
                  </c:pt>
                </c:lvl>
              </c:multiLvlStrCache>
            </c:multiLvlStrRef>
          </c:cat>
          <c:val>
            <c:numRef>
              <c:f>Sheet1!$B$2:$B$4</c:f>
              <c:numCache>
                <c:formatCode>General</c:formatCode>
                <c:ptCount val="3"/>
                <c:pt idx="0">
                  <c:v>1270</c:v>
                </c:pt>
                <c:pt idx="1">
                  <c:v>380</c:v>
                </c:pt>
                <c:pt idx="2">
                  <c:v>100</c:v>
                </c:pt>
              </c:numCache>
            </c:numRef>
          </c:val>
        </c:ser>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C2326"/>
                </a:solidFill>
                <a:latin typeface="+mn-lt"/>
              </a:defRPr>
            </a:pPr>
            <a:endParaRPr lang="en-US"/>
          </a:p>
        </c:txPr>
        <c:crossAx val="2094734552"/>
        <c:crosses val="autoZero"/>
        <c:auto val="1"/>
        <c:lblAlgn val="ctr"/>
        <c:noMultiLvlLbl val="1"/>
      </c:catAx>
      <c:valAx>
        <c:axId val="2094734552"/>
        <c:scaling>
          <c:orientation val="minMax"/>
          <c:max val="1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Personas, Reserve für die Fragerunde «Wer ist die Zielgruppe?».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[0:52–1:05] Darf man das? Ja, aber nur, wenn es bewohnt oder in Etappen nicht geht. Und Zürich verlangt seit Juni ab 20 Wohnungen genau diesen Nachweis, sonst keine Baubewilligung. Den Nachweis rechnet ROCHADE.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Parteien und Vertrag, Reserve für die Fragerunde «Kann man Mietende zwingen? Hält das rechtlich?».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[1:05–1:35] Alex, live. Die Verwaltung sieht die ganze Siedlung, jeder Chip ein Haushalt. Vier Regeln, nie gebrochen: Zimmerzahl, Lift, Zeitfenster, keine Doppelbelegung. Klick: Etappe 1 zwei Monate später. Elf Konflikte, mit Namen: Für Herrn Aydin fehlt ab Juni eine 2,5-Zimmer-Wohnung. Vorschlag: Etappe 2 ab November.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[1:35–1:50] Die Eigentümerschaft zahlt pro Projekt ein Promille der Bausumme, mindestens 5'000 Franken. Dafür spart sie bei 24 Wohnungen rund 216'000 Franken Mietzinsausfall, weil niemand auszieht. Zwölf Projekte im Jahr, und wir sind kostendeckend.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Markt und Wettbewerb, Reserve für die Fragerunde «Wie gross ist der Markt? Wer ist die Konkurrenz?».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[1:50–2:00]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818888"/>
            <a:ext cx="7315200" cy="201168"/>
          </a:xfrm>
          <a:prstGeom prst="rect">
            <a:avLst/>
          </a:prstGeom>
          <a:noFill/>
          <a:ln/>
        </p:spPr>
        <p:txBody>
          <a:bodyPr wrap="square" lIns="0" tIns="0" rIns="0" bIns="0" rtlCol="0" anchor="ctr"/>
          <a:lstStyle/>
          <a:p>
            <a:pPr indent="0" marL="0">
              <a:buNone/>
            </a:pPr>
            <a:r>
              <a:rPr lang="en-US" sz="800" dirty="0">
                <a:solidFill>
                  <a:schemeClr val="tx1">
                    <a:alpha val="45000"/>
                  </a:schemeClr>
                </a:solidFill>
              </a:rPr>
              <a:t>ROCHADE · ZentralHack 2026 · Quellen: ROCHADE_Quellen_und_Fakten.md</a:t>
            </a:r>
            <a:endParaRPr lang="en-US" sz="800" dirty="0"/>
          </a:p>
        </p:txBody>
      </p:sp>
      <p:sp>
        <p:nvSpPr>
          <p:cNvPr id="3" name="Text 1"/>
          <p:cNvSpPr/>
          <p:nvPr>
            <p:ph idx="101"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1321308" y="444398"/>
            <a:ext cx="2743200" cy="640080"/>
          </a:xfrm>
          <a:prstGeom prst="rect">
            <a:avLst/>
          </a:prstGeom>
          <a:noFill/>
          <a:ln/>
        </p:spPr>
        <p:txBody>
          <a:bodyPr wrap="square" lIns="0" tIns="0" rIns="0" bIns="0" rtlCol="0" anchor="ctr"/>
          <a:lstStyle/>
          <a:p>
            <a:pPr indent="0" marL="0">
              <a:buNone/>
            </a:pPr>
            <a:r>
              <a:rPr lang="en-US" sz="2800" b="1" spc="400" kern="0" dirty="0">
                <a:solidFill>
                  <a:srgbClr val="FFFFFF"/>
                </a:solidFill>
                <a:latin typeface="Arial" pitchFamily="34" charset="0"/>
                <a:ea typeface="Arial" pitchFamily="34" charset="-122"/>
                <a:cs typeface="Arial" pitchFamily="34" charset="-120"/>
              </a:rPr>
              <a:t>ROCHADE</a:t>
            </a:r>
            <a:endParaRPr lang="en-US" sz="2800" dirty="0"/>
          </a:p>
        </p:txBody>
      </p:sp>
      <p:sp>
        <p:nvSpPr>
          <p:cNvPr id="9" name="Text 7"/>
          <p:cNvSpPr txBox="1"/>
          <p:nvPr/>
        </p:nvSpPr>
        <p:spPr>
          <a:xfrm>
            <a:off x="457200" y="1371600"/>
            <a:ext cx="7863840" cy="17373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Sanieren, ohne jemanden rauszuwerfen.</a:t>
            </a:r>
            <a:endParaRPr lang="en-US" sz="5200" dirty="0"/>
          </a:p>
        </p:txBody>
      </p:sp>
      <p:sp>
        <p:nvSpPr>
          <p:cNvPr id="10" name="Text 8"/>
          <p:cNvSpPr txBox="1"/>
          <p:nvPr/>
        </p:nvSpPr>
        <p:spPr>
          <a:xfrm>
            <a:off x="457200" y="3154680"/>
            <a:ext cx="6035040" cy="731520"/>
          </a:xfrm>
          <a:prstGeom prst="rect">
            <a:avLst/>
          </a:prstGeom>
          <a:noFill/>
          <a:ln/>
        </p:spPr>
        <p:txBody>
          <a:bodyPr wrap="square" lIns="0" tIns="0" rIns="0" bIns="0" rtlCol="0" anchor="t"/>
          <a:lstStyle/>
          <a:p>
            <a:pPr indent="0" marL="0">
              <a:buNone/>
            </a:pPr>
            <a:r>
              <a:rPr lang="en-US" sz="1800" dirty="0">
                <a:solidFill>
                  <a:srgbClr val="D4E1E5"/>
                </a:solidFill>
                <a:latin typeface="Arial" pitchFamily="34" charset="0"/>
                <a:ea typeface="Arial" pitchFamily="34" charset="-122"/>
                <a:cs typeface="Arial" pitchFamily="34" charset="-120"/>
              </a:rPr>
              <a:t>ROCHADE plant, wer während einer Sanierung wann in welche freie Wohnung zieht. Und wann zurück.</a:t>
            </a:r>
            <a:endParaRPr lang="en-US" sz="1800" dirty="0"/>
          </a:p>
        </p:txBody>
      </p:sp>
      <p:sp>
        <p:nvSpPr>
          <p:cNvPr id="11" name="Shape 9"/>
          <p:cNvSpPr/>
          <p:nvPr/>
        </p:nvSpPr>
        <p:spPr>
          <a:xfrm>
            <a:off x="457200" y="4160520"/>
            <a:ext cx="1097280" cy="45720"/>
          </a:xfrm>
          <a:prstGeom prst="rect">
            <a:avLst/>
          </a:prstGeom>
          <a:solidFill>
            <a:srgbClr val="F26A1B"/>
          </a:solidFill>
          <a:ln w="12700">
            <a:solidFill>
              <a:srgbClr val="F26A1B"/>
            </a:solidFill>
            <a:prstDash val="solid"/>
          </a:ln>
        </p:spPr>
      </p:sp>
      <p:sp>
        <p:nvSpPr>
          <p:cNvPr id="12" name="Text 10"/>
          <p:cNvSpPr txBox="1"/>
          <p:nvPr/>
        </p:nvSpPr>
        <p:spPr>
          <a:xfrm>
            <a:off x="457200" y="4389120"/>
            <a:ext cx="4572000" cy="274320"/>
          </a:xfrm>
          <a:prstGeom prst="rect">
            <a:avLst/>
          </a:prstGeom>
          <a:noFill/>
          <a:ln/>
        </p:spPr>
        <p:txBody>
          <a:bodyPr wrap="square" lIns="0" tIns="0" rIns="0" bIns="0" rtlCol="0" anchor="ctr"/>
          <a:lstStyle/>
          <a:p>
            <a:pPr indent="0" marL="0">
              <a:buNone/>
            </a:pPr>
            <a:r>
              <a:rPr lang="en-US" sz="1200" dirty="0">
                <a:solidFill>
                  <a:srgbClr val="B5C9CE"/>
                </a:solidFill>
                <a:latin typeface="Arial" pitchFamily="34" charset="0"/>
                <a:ea typeface="Arial" pitchFamily="34" charset="-122"/>
                <a:cs typeface="Arial" pitchFamily="34" charset="-120"/>
              </a:rPr>
              <a:t>Team ROCHADE · Francesco · Alex</a:t>
            </a:r>
            <a:endParaRPr lang="en-US" sz="1200" dirty="0"/>
          </a:p>
        </p:txBody>
      </p:sp>
      <p:sp>
        <p:nvSpPr>
          <p:cNvPr id="13" name="Text 11"/>
          <p:cNvSpPr txBox="1"/>
          <p:nvPr/>
        </p:nvSpPr>
        <p:spPr>
          <a:xfrm>
            <a:off x="4572000" y="4389120"/>
            <a:ext cx="4114800" cy="274320"/>
          </a:xfrm>
          <a:prstGeom prst="rect">
            <a:avLst/>
          </a:prstGeom>
          <a:noFill/>
          <a:ln/>
        </p:spPr>
        <p:txBody>
          <a:bodyPr wrap="square" lIns="0" tIns="0" rIns="0" bIns="0" rtlCol="0" anchor="ctr"/>
          <a:lstStyle/>
          <a:p>
            <a:pPr algn="r" indent="0" marL="0">
              <a:buNone/>
            </a:pPr>
            <a:r>
              <a:rPr lang="en-US" sz="1200" dirty="0">
                <a:solidFill>
                  <a:srgbClr val="B5C9CE"/>
                </a:solidFill>
                <a:latin typeface="Arial" pitchFamily="34" charset="0"/>
                <a:ea typeface="Arial" pitchFamily="34" charset="-122"/>
                <a:cs typeface="Arial" pitchFamily="34" charset="-120"/>
              </a:rPr>
              <a:t>ZentralHack 2026 · SDG 11.1 Bezahlbarer Wohnraum</a:t>
            </a:r>
            <a:endParaRPr lang="en-US" sz="1200" dirty="0"/>
          </a:p>
        </p:txBody>
      </p:sp>
      <p:sp>
        <p:nvSpPr>
          <p:cNvPr id="15"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saniert, kündigt. Allen.</a:t>
            </a:r>
            <a:endParaRPr lang="en-US" sz="3000" dirty="0"/>
          </a:p>
        </p:txBody>
      </p:sp>
      <p:sp>
        <p:nvSpPr>
          <p:cNvPr id="3" name="Shape 1"/>
          <p:cNvSpPr/>
          <p:nvPr/>
        </p:nvSpPr>
        <p:spPr>
          <a:xfrm>
            <a:off x="457200" y="1280160"/>
            <a:ext cx="3383280" cy="3291840"/>
          </a:xfrm>
          <a:prstGeom prst="rect">
            <a:avLst/>
          </a:prstGeom>
          <a:solidFill>
            <a:srgbClr val="24414A"/>
          </a:solidFill>
          <a:ln w="12700">
            <a:solidFill>
              <a:srgbClr val="24414A"/>
            </a:solidFill>
            <a:prstDash val="solid"/>
          </a:ln>
        </p:spPr>
      </p:sp>
      <p:sp>
        <p:nvSpPr>
          <p:cNvPr id="4" name="Text 2"/>
          <p:cNvSpPr txBox="1"/>
          <p:nvPr/>
        </p:nvSpPr>
        <p:spPr>
          <a:xfrm>
            <a:off x="731520" y="1417320"/>
            <a:ext cx="2926080" cy="914400"/>
          </a:xfrm>
          <a:prstGeom prst="rect">
            <a:avLst/>
          </a:prstGeom>
          <a:noFill/>
          <a:ln/>
        </p:spPr>
        <p:txBody>
          <a:bodyPr wrap="square" lIns="0" tIns="0" rIns="0" bIns="0" rtlCol="0" anchor="ctr"/>
          <a:lstStyle/>
          <a:p>
            <a:pPr indent="0" marL="0">
              <a:buNone/>
            </a:pPr>
            <a:r>
              <a:rPr lang="en-US" sz="5800" b="1" dirty="0">
                <a:solidFill>
                  <a:srgbClr val="FFFFFF"/>
                </a:solidFill>
                <a:latin typeface="Arial" pitchFamily="34" charset="0"/>
                <a:ea typeface="Arial" pitchFamily="34" charset="-122"/>
                <a:cs typeface="Arial" pitchFamily="34" charset="-120"/>
              </a:rPr>
              <a:t>10'900</a:t>
            </a:r>
            <a:endParaRPr lang="en-US" sz="5800" dirty="0"/>
          </a:p>
        </p:txBody>
      </p:sp>
      <p:sp>
        <p:nvSpPr>
          <p:cNvPr id="5" name="Text 3"/>
          <p:cNvSpPr txBox="1"/>
          <p:nvPr/>
        </p:nvSpPr>
        <p:spPr>
          <a:xfrm>
            <a:off x="731520" y="2331720"/>
            <a:ext cx="2834640" cy="8229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Mehrfamilienhäuser in der Schweiz komplett leergekündigt, 2018 bis 2022.</a:t>
            </a:r>
            <a:endParaRPr lang="en-US" sz="1500" dirty="0"/>
          </a:p>
        </p:txBody>
      </p:sp>
      <p:sp>
        <p:nvSpPr>
          <p:cNvPr id="6" name="Text 4"/>
          <p:cNvSpPr txBox="1"/>
          <p:nvPr/>
        </p:nvSpPr>
        <p:spPr>
          <a:xfrm>
            <a:off x="731520" y="3200400"/>
            <a:ext cx="2926080" cy="365760"/>
          </a:xfrm>
          <a:prstGeom prst="rect">
            <a:avLst/>
          </a:prstGeom>
          <a:noFill/>
          <a:ln/>
        </p:spPr>
        <p:txBody>
          <a:bodyPr wrap="square" lIns="0" tIns="0" rIns="0" bIns="0" rtlCol="0" anchor="ctr"/>
          <a:lstStyle/>
          <a:p>
            <a:pPr indent="0" marL="0">
              <a:buNone/>
            </a:pPr>
            <a:r>
              <a:rPr lang="en-US" sz="1600" b="1" dirty="0">
                <a:solidFill>
                  <a:srgbClr val="F26A1B"/>
                </a:solidFill>
                <a:latin typeface="Arial" pitchFamily="34" charset="0"/>
                <a:ea typeface="Arial" pitchFamily="34" charset="-122"/>
                <a:cs typeface="Arial" pitchFamily="34" charset="-120"/>
              </a:rPr>
              <a:t>30'000 Menschen pro Jahr</a:t>
            </a:r>
            <a:endParaRPr lang="en-US" sz="1600" dirty="0"/>
          </a:p>
        </p:txBody>
      </p:sp>
      <p:sp>
        <p:nvSpPr>
          <p:cNvPr id="7" name="Text 5"/>
          <p:cNvSpPr txBox="1"/>
          <p:nvPr/>
        </p:nvSpPr>
        <p:spPr>
          <a:xfrm>
            <a:off x="731520" y="3611880"/>
            <a:ext cx="2834640" cy="548640"/>
          </a:xfrm>
          <a:prstGeom prst="rect">
            <a:avLst/>
          </a:prstGeom>
          <a:noFill/>
          <a:ln/>
        </p:spPr>
        <p:txBody>
          <a:bodyPr wrap="square" lIns="0" tIns="0" rIns="0" bIns="0" rtlCol="0" anchor="t"/>
          <a:lstStyle/>
          <a:p>
            <a:pPr indent="0" marL="0">
              <a:buNone/>
            </a:pPr>
            <a:r>
              <a:rPr lang="en-US" sz="1200" dirty="0">
                <a:solidFill>
                  <a:srgbClr val="D4E1E5"/>
                </a:solidFill>
                <a:latin typeface="Arial" pitchFamily="34" charset="0"/>
                <a:ea typeface="Arial" pitchFamily="34" charset="-122"/>
                <a:cs typeface="Arial" pitchFamily="34" charset="-120"/>
              </a:rPr>
              <a:t>Jedes vierte geleerte Haus in Zürich gehörte einer Genossenschaft.</a:t>
            </a:r>
            <a:endParaRPr lang="en-US" sz="1200" dirty="0"/>
          </a:p>
        </p:txBody>
      </p:sp>
      <p:sp>
        <p:nvSpPr>
          <p:cNvPr id="8" name="Text 6"/>
          <p:cNvSpPr txBox="1"/>
          <p:nvPr/>
        </p:nvSpPr>
        <p:spPr>
          <a:xfrm>
            <a:off x="731520" y="4251960"/>
            <a:ext cx="2834640" cy="228600"/>
          </a:xfrm>
          <a:prstGeom prst="rect">
            <a:avLst/>
          </a:prstGeom>
          <a:noFill/>
          <a:ln/>
        </p:spPr>
        <p:txBody>
          <a:bodyPr wrap="square" lIns="0" tIns="0" rIns="0" bIns="0" rtlCol="0" anchor="ctr"/>
          <a:lstStyle/>
          <a:p>
            <a:pPr indent="0" marL="0">
              <a:buNone/>
            </a:pPr>
            <a:r>
              <a:rPr lang="en-US" sz="800" dirty="0">
                <a:solidFill>
                  <a:srgbClr val="B5C9CE"/>
                </a:solidFill>
                <a:latin typeface="Arial" pitchFamily="34" charset="0"/>
                <a:ea typeface="Arial" pitchFamily="34" charset="-122"/>
                <a:cs typeface="Arial" pitchFamily="34" charset="-120"/>
              </a:rPr>
              <a:t>Zürcher Kantonalbank auf Basis BFS, 2024</a:t>
            </a:r>
            <a:endParaRPr lang="en-US" sz="800" dirty="0"/>
          </a:p>
        </p:txBody>
      </p:sp>
      <p:sp>
        <p:nvSpPr>
          <p:cNvPr id="9" name="Text 7"/>
          <p:cNvSpPr txBox="1"/>
          <p:nvPr/>
        </p:nvSpPr>
        <p:spPr>
          <a:xfrm>
            <a:off x="4114800" y="1280160"/>
            <a:ext cx="4572000" cy="320040"/>
          </a:xfrm>
          <a:prstGeom prst="rect">
            <a:avLst/>
          </a:prstGeom>
          <a:noFill/>
          <a:ln/>
        </p:spPr>
        <p:txBody>
          <a:bodyPr wrap="square" lIns="0" tIns="0" rIns="0" bIns="0" rtlCol="0" anchor="ctr"/>
          <a:lstStyle/>
          <a:p>
            <a:pPr indent="0" marL="0">
              <a:buNone/>
            </a:pPr>
            <a:r>
              <a:rPr lang="en-US" sz="1400" b="1" dirty="0">
                <a:solidFill>
                  <a:srgbClr val="1C2326"/>
                </a:solidFill>
                <a:latin typeface="Arial" pitchFamily="34" charset="0"/>
                <a:ea typeface="Arial" pitchFamily="34" charset="-122"/>
                <a:cs typeface="Arial" pitchFamily="34" charset="-120"/>
              </a:rPr>
              <a:t>Leergekündigte Häuser 2018 bis 2022, nach Stadt</a:t>
            </a:r>
            <a:endParaRPr lang="en-US" sz="1400" dirty="0"/>
          </a:p>
        </p:txBody>
      </p:sp>
      <p:graphicFrame>
        <p:nvGraphicFramePr>
          <p:cNvPr id="10" name="Chart 0" descr=""/>
          <p:cNvGraphicFramePr/>
          <p:nvPr/>
        </p:nvGraphicFramePr>
        <p:xfrm>
          <a:off x="4023360" y="1554480"/>
          <a:ext cx="4663440" cy="233172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114800" y="3886200"/>
            <a:ext cx="4572000" cy="228600"/>
          </a:xfrm>
          <a:prstGeom prst="rect">
            <a:avLst/>
          </a:prstGeom>
          <a:noFill/>
          <a:ln/>
        </p:spPr>
        <p:txBody>
          <a:bodyPr wrap="square" lIns="0" tIns="0" rIns="0" bIns="0" rtlCol="0" anchor="ctr"/>
          <a:lstStyle/>
          <a:p>
            <a:pPr indent="0" marL="0">
              <a:buNone/>
            </a:pPr>
            <a:r>
              <a:rPr lang="en-US" sz="950" dirty="0">
                <a:solidFill>
                  <a:srgbClr val="5B6468"/>
                </a:solidFill>
                <a:latin typeface="Arial" pitchFamily="34" charset="0"/>
                <a:ea typeface="Arial" pitchFamily="34" charset="-122"/>
                <a:cs typeface="Arial" pitchFamily="34" charset="-120"/>
              </a:rPr>
              <a:t>Genf: rund 20 Häuser pro Jahr dank strenger Regeln. Zürich: rund 250.</a:t>
            </a:r>
            <a:endParaRPr lang="en-US" sz="950" dirty="0"/>
          </a:p>
        </p:txBody>
      </p:sp>
      <p:sp>
        <p:nvSpPr>
          <p:cNvPr id="12" name="Shape 9"/>
          <p:cNvSpPr/>
          <p:nvPr/>
        </p:nvSpPr>
        <p:spPr>
          <a:xfrm>
            <a:off x="4023360" y="4160520"/>
            <a:ext cx="4663440" cy="457200"/>
          </a:xfrm>
          <a:prstGeom prst="rect">
            <a:avLst/>
          </a:prstGeom>
          <a:solidFill>
            <a:srgbClr val="FDEBDD"/>
          </a:solidFill>
          <a:ln w="12700">
            <a:solidFill>
              <a:srgbClr val="FDEBDD"/>
            </a:solidFill>
            <a:prstDash val="solid"/>
          </a:ln>
        </p:spPr>
      </p:sp>
      <p:sp>
        <p:nvSpPr>
          <p:cNvPr id="13" name="Text 10"/>
          <p:cNvSpPr txBox="1"/>
          <p:nvPr/>
        </p:nvSpPr>
        <p:spPr>
          <a:xfrm>
            <a:off x="4206240" y="4160520"/>
            <a:ext cx="822960" cy="457200"/>
          </a:xfrm>
          <a:prstGeom prst="rect">
            <a:avLst/>
          </a:prstGeom>
          <a:noFill/>
          <a:ln/>
        </p:spPr>
        <p:txBody>
          <a:bodyPr wrap="square" lIns="0" tIns="0" rIns="0" bIns="0" rtlCol="0" anchor="ctr"/>
          <a:lstStyle/>
          <a:p>
            <a:pPr indent="0" marL="0">
              <a:buNone/>
            </a:pPr>
            <a:r>
              <a:rPr lang="en-US" sz="2000" b="1" dirty="0">
                <a:solidFill>
                  <a:srgbClr val="B8460E"/>
                </a:solidFill>
                <a:latin typeface="Arial" pitchFamily="34" charset="0"/>
                <a:ea typeface="Arial" pitchFamily="34" charset="-122"/>
                <a:cs typeface="Arial" pitchFamily="34" charset="-120"/>
              </a:rPr>
              <a:t>84 %</a:t>
            </a:r>
            <a:endParaRPr lang="en-US" sz="2000" dirty="0"/>
          </a:p>
        </p:txBody>
      </p:sp>
      <p:sp>
        <p:nvSpPr>
          <p:cNvPr id="14" name="Text 11"/>
          <p:cNvSpPr txBox="1"/>
          <p:nvPr/>
        </p:nvSpPr>
        <p:spPr>
          <a:xfrm>
            <a:off x="5029200" y="4160520"/>
            <a:ext cx="3566160" cy="457200"/>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der Mietenden im Kanton Zürich sorgen sich wegen Leerkündigungen, über 55 sind es 91 %. Sotomo für den Mieterverband, Mai 2026</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Drei Menschen, drei Probleme. Einer davon zahlt.</a:t>
            </a:r>
            <a:endParaRPr lang="en-US" sz="3000" dirty="0"/>
          </a:p>
        </p:txBody>
      </p:sp>
      <p:sp>
        <p:nvSpPr>
          <p:cNvPr id="3" name="Shape 1"/>
          <p:cNvSpPr/>
          <p:nvPr/>
        </p:nvSpPr>
        <p:spPr>
          <a:xfrm>
            <a:off x="457200" y="1280160"/>
            <a:ext cx="2651760" cy="3291840"/>
          </a:xfrm>
          <a:prstGeom prst="rect">
            <a:avLst/>
          </a:prstGeom>
          <a:solidFill>
            <a:srgbClr val="FFFFFF"/>
          </a:solidFill>
          <a:ln w="9525">
            <a:solidFill>
              <a:srgbClr val="E3DDD4"/>
            </a:solidFill>
            <a:prstDash val="solid"/>
          </a:ln>
        </p:spPr>
      </p:sp>
      <p:sp>
        <p:nvSpPr>
          <p:cNvPr id="4" name="Shape 2"/>
          <p:cNvSpPr/>
          <p:nvPr/>
        </p:nvSpPr>
        <p:spPr>
          <a:xfrm>
            <a:off x="640080" y="1463040"/>
            <a:ext cx="457200" cy="457200"/>
          </a:xfrm>
          <a:prstGeom prst="rect">
            <a:avLst/>
          </a:prstGeom>
          <a:solidFill>
            <a:srgbClr val="24414A"/>
          </a:solidFill>
          <a:ln w="12700">
            <a:solidFill>
              <a:srgbClr val="24414A"/>
            </a:solidFill>
            <a:prstDash val="solid"/>
          </a:ln>
        </p:spPr>
      </p:sp>
      <p:sp>
        <p:nvSpPr>
          <p:cNvPr id="5" name="Text 3"/>
          <p:cNvSpPr txBox="1"/>
          <p:nvPr/>
        </p:nvSpPr>
        <p:spPr>
          <a:xfrm>
            <a:off x="64008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RM</a:t>
            </a:r>
            <a:endParaRPr lang="en-US" sz="1400" dirty="0"/>
          </a:p>
        </p:txBody>
      </p:sp>
      <p:sp>
        <p:nvSpPr>
          <p:cNvPr id="6" name="Text 4"/>
          <p:cNvSpPr txBox="1"/>
          <p:nvPr/>
        </p:nvSpPr>
        <p:spPr>
          <a:xfrm>
            <a:off x="123444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Rosa Meier, 78</a:t>
            </a:r>
            <a:endParaRPr lang="en-US" sz="1300" dirty="0"/>
          </a:p>
        </p:txBody>
      </p:sp>
      <p:sp>
        <p:nvSpPr>
          <p:cNvPr id="7" name="Text 5"/>
          <p:cNvSpPr txBox="1"/>
          <p:nvPr/>
        </p:nvSpPr>
        <p:spPr>
          <a:xfrm>
            <a:off x="123444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Bewohnerin seit 1994, Höngg</a:t>
            </a:r>
            <a:endParaRPr lang="en-US" sz="850" dirty="0"/>
          </a:p>
        </p:txBody>
      </p:sp>
      <p:sp>
        <p:nvSpPr>
          <p:cNvPr id="8" name="Text 6"/>
          <p:cNvSpPr txBox="1"/>
          <p:nvPr/>
        </p:nvSpPr>
        <p:spPr>
          <a:xfrm>
            <a:off x="64008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Der Brief: Sanierung, alle raus. Bei 0,11 % Leerstand findet sie nichts, im Neubau kostet es 30 % mehr. Jede dritte Gekündigte muss die Gemeinde verlassen.</a:t>
            </a:r>
            <a:endParaRPr lang="en-US" sz="1000" dirty="0"/>
          </a:p>
        </p:txBody>
      </p:sp>
      <p:sp>
        <p:nvSpPr>
          <p:cNvPr id="9" name="Text 7"/>
          <p:cNvSpPr txBox="1"/>
          <p:nvPr/>
        </p:nvSpPr>
        <p:spPr>
          <a:xfrm>
            <a:off x="640080" y="3657600"/>
            <a:ext cx="2286000" cy="548640"/>
          </a:xfrm>
          <a:prstGeom prst="rect">
            <a:avLst/>
          </a:prstGeom>
          <a:noFill/>
          <a:ln/>
        </p:spPr>
        <p:txBody>
          <a:bodyPr wrap="square" lIns="0" tIns="0" rIns="0" bIns="0" rtlCol="0" anchor="t"/>
          <a:lstStyle/>
          <a:p>
            <a:pPr indent="0" marL="0">
              <a:buNone/>
            </a:pPr>
            <a:r>
              <a:rPr lang="en-US" sz="1000" b="1" dirty="0">
                <a:solidFill>
                  <a:srgbClr val="24414A"/>
                </a:solidFill>
                <a:latin typeface="Arial" pitchFamily="34" charset="0"/>
                <a:ea typeface="Arial" pitchFamily="34" charset="-122"/>
                <a:cs typeface="Arial" pitchFamily="34" charset="-120"/>
              </a:rPr>
              <a:t>Will: bleiben. Und wissen, wann sie zurück kann.</a:t>
            </a:r>
            <a:endParaRPr lang="en-US" sz="1000" dirty="0"/>
          </a:p>
        </p:txBody>
      </p:sp>
      <p:sp>
        <p:nvSpPr>
          <p:cNvPr id="10" name="Shape 8"/>
          <p:cNvSpPr/>
          <p:nvPr/>
        </p:nvSpPr>
        <p:spPr>
          <a:xfrm>
            <a:off x="3246120" y="1280160"/>
            <a:ext cx="2651760" cy="3291840"/>
          </a:xfrm>
          <a:prstGeom prst="rect">
            <a:avLst/>
          </a:prstGeom>
          <a:solidFill>
            <a:srgbClr val="FFFFFF"/>
          </a:solidFill>
          <a:ln w="9525">
            <a:solidFill>
              <a:srgbClr val="E3DDD4"/>
            </a:solidFill>
            <a:prstDash val="solid"/>
          </a:ln>
        </p:spPr>
      </p:sp>
      <p:sp>
        <p:nvSpPr>
          <p:cNvPr id="11" name="Shape 9"/>
          <p:cNvSpPr/>
          <p:nvPr/>
        </p:nvSpPr>
        <p:spPr>
          <a:xfrm>
            <a:off x="3429000" y="1463040"/>
            <a:ext cx="457200" cy="457200"/>
          </a:xfrm>
          <a:prstGeom prst="rect">
            <a:avLst/>
          </a:prstGeom>
          <a:solidFill>
            <a:srgbClr val="24414A"/>
          </a:solidFill>
          <a:ln w="12700">
            <a:solidFill>
              <a:srgbClr val="24414A"/>
            </a:solidFill>
            <a:prstDash val="solid"/>
          </a:ln>
        </p:spPr>
      </p:sp>
      <p:sp>
        <p:nvSpPr>
          <p:cNvPr id="12" name="Text 10"/>
          <p:cNvSpPr txBox="1"/>
          <p:nvPr/>
        </p:nvSpPr>
        <p:spPr>
          <a:xfrm>
            <a:off x="342900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SK</a:t>
            </a:r>
            <a:endParaRPr lang="en-US" sz="1400" dirty="0"/>
          </a:p>
        </p:txBody>
      </p:sp>
      <p:sp>
        <p:nvSpPr>
          <p:cNvPr id="13" name="Text 11"/>
          <p:cNvSpPr txBox="1"/>
          <p:nvPr/>
        </p:nvSpPr>
        <p:spPr>
          <a:xfrm>
            <a:off x="402336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Sandra Keller, 44</a:t>
            </a:r>
            <a:endParaRPr lang="en-US" sz="1300" dirty="0"/>
          </a:p>
        </p:txBody>
      </p:sp>
      <p:sp>
        <p:nvSpPr>
          <p:cNvPr id="14" name="Text 12"/>
          <p:cNvSpPr txBox="1"/>
          <p:nvPr/>
        </p:nvSpPr>
        <p:spPr>
          <a:xfrm>
            <a:off x="402336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Bewirtschafterin, Genossenschaft mit 1'200 Wohnungen</a:t>
            </a:r>
            <a:endParaRPr lang="en-US" sz="850" dirty="0"/>
          </a:p>
        </p:txBody>
      </p:sp>
      <p:sp>
        <p:nvSpPr>
          <p:cNvPr id="15" name="Text 13"/>
          <p:cNvSpPr txBox="1"/>
          <p:nvPr/>
        </p:nvSpPr>
        <p:spPr>
          <a:xfrm>
            <a:off x="342900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49 Mietparteien, drei Etappen, elf freie Wohnungen. Alles in Excel und E-Mails, vierfacher Aufwand. Verschiebt sich der Bau, fängt sie von vorne an.</a:t>
            </a:r>
            <a:endParaRPr lang="en-US" sz="1000" dirty="0"/>
          </a:p>
        </p:txBody>
      </p:sp>
      <p:sp>
        <p:nvSpPr>
          <p:cNvPr id="16" name="Text 14"/>
          <p:cNvSpPr txBox="1"/>
          <p:nvPr/>
        </p:nvSpPr>
        <p:spPr>
          <a:xfrm>
            <a:off x="3429000" y="3657600"/>
            <a:ext cx="2286000" cy="548640"/>
          </a:xfrm>
          <a:prstGeom prst="rect">
            <a:avLst/>
          </a:prstGeom>
          <a:noFill/>
          <a:ln/>
        </p:spPr>
        <p:txBody>
          <a:bodyPr wrap="square" lIns="0" tIns="0" rIns="0" bIns="0" rtlCol="0" anchor="t"/>
          <a:lstStyle/>
          <a:p>
            <a:pPr indent="0" marL="0">
              <a:buNone/>
            </a:pPr>
            <a:r>
              <a:rPr lang="en-US" sz="1000" b="1" dirty="0">
                <a:solidFill>
                  <a:srgbClr val="24414A"/>
                </a:solidFill>
                <a:latin typeface="Arial" pitchFamily="34" charset="0"/>
                <a:ea typeface="Arial" pitchFamily="34" charset="-122"/>
                <a:cs typeface="Arial" pitchFamily="34" charset="-120"/>
              </a:rPr>
              <a:t>Will: einen Plan, der bei Änderungen hält.</a:t>
            </a:r>
            <a:endParaRPr lang="en-US" sz="1000" dirty="0"/>
          </a:p>
        </p:txBody>
      </p:sp>
      <p:sp>
        <p:nvSpPr>
          <p:cNvPr id="17" name="Shape 15"/>
          <p:cNvSpPr/>
          <p:nvPr/>
        </p:nvSpPr>
        <p:spPr>
          <a:xfrm>
            <a:off x="6035040" y="1280160"/>
            <a:ext cx="2651760" cy="3291840"/>
          </a:xfrm>
          <a:prstGeom prst="rect">
            <a:avLst/>
          </a:prstGeom>
          <a:solidFill>
            <a:srgbClr val="FDEBDD"/>
          </a:solidFill>
          <a:ln w="9525">
            <a:solidFill>
              <a:srgbClr val="FDEBDD"/>
            </a:solidFill>
            <a:prstDash val="solid"/>
          </a:ln>
        </p:spPr>
      </p:sp>
      <p:sp>
        <p:nvSpPr>
          <p:cNvPr id="18" name="Shape 16"/>
          <p:cNvSpPr/>
          <p:nvPr/>
        </p:nvSpPr>
        <p:spPr>
          <a:xfrm>
            <a:off x="6217920" y="1463040"/>
            <a:ext cx="457200" cy="457200"/>
          </a:xfrm>
          <a:prstGeom prst="rect">
            <a:avLst/>
          </a:prstGeom>
          <a:solidFill>
            <a:srgbClr val="B8460E"/>
          </a:solidFill>
          <a:ln w="12700">
            <a:solidFill>
              <a:srgbClr val="B8460E"/>
            </a:solidFill>
            <a:prstDash val="solid"/>
          </a:ln>
        </p:spPr>
      </p:sp>
      <p:sp>
        <p:nvSpPr>
          <p:cNvPr id="19" name="Text 17"/>
          <p:cNvSpPr txBox="1"/>
          <p:nvPr/>
        </p:nvSpPr>
        <p:spPr>
          <a:xfrm>
            <a:off x="621792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RH</a:t>
            </a:r>
            <a:endParaRPr lang="en-US" sz="1400" dirty="0"/>
          </a:p>
        </p:txBody>
      </p:sp>
      <p:sp>
        <p:nvSpPr>
          <p:cNvPr id="20" name="Text 18"/>
          <p:cNvSpPr txBox="1"/>
          <p:nvPr/>
        </p:nvSpPr>
        <p:spPr>
          <a:xfrm>
            <a:off x="681228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Reto Huber, 58</a:t>
            </a:r>
            <a:endParaRPr lang="en-US" sz="1300" dirty="0"/>
          </a:p>
        </p:txBody>
      </p:sp>
      <p:sp>
        <p:nvSpPr>
          <p:cNvPr id="21" name="Text 19"/>
          <p:cNvSpPr txBox="1"/>
          <p:nvPr/>
        </p:nvSpPr>
        <p:spPr>
          <a:xfrm>
            <a:off x="681228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Vorstand, entscheidet und zahlt</a:t>
            </a:r>
            <a:endParaRPr lang="en-US" sz="850" dirty="0"/>
          </a:p>
        </p:txBody>
      </p:sp>
      <p:sp>
        <p:nvSpPr>
          <p:cNvPr id="22" name="Text 20"/>
          <p:cNvSpPr txBox="1"/>
          <p:nvPr/>
        </p:nvSpPr>
        <p:spPr>
          <a:xfrm>
            <a:off x="621792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Leerkündigung heisst Schlichtungsbehörde, Schlagzeilen, ein Jahr Stillstand (Sugus-Häuser). Zürich verlangt neu den Nachweis, dass bewohnt oder etappiert geprüft wurde.</a:t>
            </a:r>
            <a:endParaRPr lang="en-US" sz="1000" dirty="0"/>
          </a:p>
        </p:txBody>
      </p:sp>
      <p:sp>
        <p:nvSpPr>
          <p:cNvPr id="23" name="Text 21"/>
          <p:cNvSpPr txBox="1"/>
          <p:nvPr/>
        </p:nvSpPr>
        <p:spPr>
          <a:xfrm>
            <a:off x="6217920" y="3657600"/>
            <a:ext cx="2286000" cy="548640"/>
          </a:xfrm>
          <a:prstGeom prst="rect">
            <a:avLst/>
          </a:prstGeom>
          <a:noFill/>
          <a:ln/>
        </p:spPr>
        <p:txBody>
          <a:bodyPr wrap="square" lIns="0" tIns="0" rIns="0" bIns="0" rtlCol="0" anchor="t"/>
          <a:lstStyle/>
          <a:p>
            <a:pPr indent="0" marL="0">
              <a:buNone/>
            </a:pPr>
            <a:r>
              <a:rPr lang="en-US" sz="1000" b="1" dirty="0">
                <a:solidFill>
                  <a:srgbClr val="B8460E"/>
                </a:solidFill>
                <a:latin typeface="Arial" pitchFamily="34" charset="0"/>
                <a:ea typeface="Arial" pitchFamily="34" charset="-122"/>
                <a:cs typeface="Arial" pitchFamily="34" charset="-120"/>
              </a:rPr>
              <a:t>Will: Sanierung im Termin, rechtssicher, ohne Rauswurf.</a:t>
            </a:r>
            <a:endParaRPr lang="en-US" sz="1000" dirty="0"/>
          </a:p>
        </p:txBody>
      </p:sp>
      <p:sp>
        <p:nvSpPr>
          <p:cNvPr id="24" name="Shape 22"/>
          <p:cNvSpPr/>
          <p:nvPr/>
        </p:nvSpPr>
        <p:spPr>
          <a:xfrm>
            <a:off x="6217920" y="4224528"/>
            <a:ext cx="914400" cy="237744"/>
          </a:xfrm>
          <a:prstGeom prst="rect">
            <a:avLst/>
          </a:prstGeom>
          <a:solidFill>
            <a:srgbClr val="B8460E"/>
          </a:solidFill>
          <a:ln w="12700">
            <a:solidFill>
              <a:srgbClr val="B8460E"/>
            </a:solidFill>
            <a:prstDash val="solid"/>
          </a:ln>
        </p:spPr>
      </p:sp>
      <p:sp>
        <p:nvSpPr>
          <p:cNvPr id="25" name="Text 23"/>
          <p:cNvSpPr txBox="1"/>
          <p:nvPr/>
        </p:nvSpPr>
        <p:spPr>
          <a:xfrm>
            <a:off x="6217920" y="4224528"/>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zahlt</a:t>
            </a:r>
            <a:endParaRPr lang="en-US" sz="900" dirty="0"/>
          </a:p>
        </p:txBody>
      </p:sp>
      <p:sp>
        <p:nvSpPr>
          <p:cNvPr id="26" name="Text 24"/>
          <p:cNvSpPr txBox="1"/>
          <p:nvPr/>
        </p:nvSpPr>
        <p:spPr>
          <a:xfrm>
            <a:off x="457200" y="4599432"/>
            <a:ext cx="8229600" cy="201168"/>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Personas, Namen fiktiv. Zahlen: Stadt Zürich 2026, Statistik Stadt Zürich via 20 Minuten, ZKB 2024, bgnzwo 2026, SRF/NZZ zu den Sugus-Häusern.</a:t>
            </a:r>
            <a:endParaRPr lang="en-US" sz="7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Es geht anders: die Rochade. Heute ist sie Handarbeit.</a:t>
            </a:r>
            <a:endParaRPr lang="en-US" sz="3000" dirty="0"/>
          </a:p>
        </p:txBody>
      </p:sp>
      <p:sp>
        <p:nvSpPr>
          <p:cNvPr id="3" name="Shape 1"/>
          <p:cNvSpPr/>
          <p:nvPr/>
        </p:nvSpPr>
        <p:spPr>
          <a:xfrm>
            <a:off x="457200" y="1280160"/>
            <a:ext cx="4846320" cy="3291840"/>
          </a:xfrm>
          <a:prstGeom prst="rect">
            <a:avLst/>
          </a:prstGeom>
          <a:solidFill>
            <a:srgbClr val="FFFFFF"/>
          </a:solidFill>
          <a:ln w="9525">
            <a:solidFill>
              <a:srgbClr val="E3DDD4"/>
            </a:solidFill>
            <a:prstDash val="solid"/>
          </a:ln>
        </p:spPr>
      </p:sp>
      <p:sp>
        <p:nvSpPr>
          <p:cNvPr id="4" name="Shape 2"/>
          <p:cNvSpPr/>
          <p:nvPr/>
        </p:nvSpPr>
        <p:spPr>
          <a:xfrm>
            <a:off x="731520" y="1828800"/>
            <a:ext cx="1280160" cy="502920"/>
          </a:xfrm>
          <a:prstGeom prst="rect">
            <a:avLst/>
          </a:prstGeom>
          <a:solidFill>
            <a:srgbClr val="1C2326"/>
          </a:solidFill>
          <a:ln w="12700">
            <a:solidFill>
              <a:srgbClr val="1C2326"/>
            </a:solidFill>
            <a:prstDash val="solid"/>
          </a:ln>
        </p:spPr>
      </p:sp>
      <p:sp>
        <p:nvSpPr>
          <p:cNvPr id="5" name="Text 3"/>
          <p:cNvSpPr txBox="1"/>
          <p:nvPr/>
        </p:nvSpPr>
        <p:spPr>
          <a:xfrm>
            <a:off x="73152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6" name="Text 4"/>
          <p:cNvSpPr txBox="1"/>
          <p:nvPr/>
        </p:nvSpPr>
        <p:spPr>
          <a:xfrm>
            <a:off x="64008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 Hause</a:t>
            </a:r>
            <a:endParaRPr lang="en-US" sz="1100" dirty="0"/>
          </a:p>
        </p:txBody>
      </p:sp>
      <p:sp>
        <p:nvSpPr>
          <p:cNvPr id="7" name="Text 5"/>
          <p:cNvSpPr txBox="1"/>
          <p:nvPr/>
        </p:nvSpPr>
        <p:spPr>
          <a:xfrm>
            <a:off x="201168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240280" y="1828800"/>
            <a:ext cx="1280160" cy="502920"/>
          </a:xfrm>
          <a:prstGeom prst="rect">
            <a:avLst/>
          </a:prstGeom>
          <a:solidFill>
            <a:srgbClr val="24414A"/>
          </a:solidFill>
          <a:ln w="12700">
            <a:solidFill>
              <a:srgbClr val="24414A"/>
            </a:solidFill>
            <a:prstDash val="solid"/>
          </a:ln>
        </p:spPr>
      </p:sp>
      <p:sp>
        <p:nvSpPr>
          <p:cNvPr id="9" name="Text 7"/>
          <p:cNvSpPr txBox="1"/>
          <p:nvPr/>
        </p:nvSpPr>
        <p:spPr>
          <a:xfrm>
            <a:off x="224028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0" name="Text 8"/>
          <p:cNvSpPr txBox="1"/>
          <p:nvPr/>
        </p:nvSpPr>
        <p:spPr>
          <a:xfrm>
            <a:off x="214884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Rochade-Wohnung</a:t>
            </a:r>
            <a:endParaRPr lang="en-US" sz="1100" dirty="0"/>
          </a:p>
        </p:txBody>
      </p:sp>
      <p:sp>
        <p:nvSpPr>
          <p:cNvPr id="11" name="Text 9"/>
          <p:cNvSpPr txBox="1"/>
          <p:nvPr/>
        </p:nvSpPr>
        <p:spPr>
          <a:xfrm>
            <a:off x="352044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749040" y="1828800"/>
            <a:ext cx="1280160" cy="502920"/>
          </a:xfrm>
          <a:prstGeom prst="rect">
            <a:avLst/>
          </a:prstGeom>
          <a:solidFill>
            <a:srgbClr val="1C2326"/>
          </a:solidFill>
          <a:ln w="12700">
            <a:solidFill>
              <a:srgbClr val="1C2326"/>
            </a:solidFill>
            <a:prstDash val="solid"/>
          </a:ln>
        </p:spPr>
      </p:sp>
      <p:sp>
        <p:nvSpPr>
          <p:cNvPr id="13" name="Text 11"/>
          <p:cNvSpPr txBox="1"/>
          <p:nvPr/>
        </p:nvSpPr>
        <p:spPr>
          <a:xfrm>
            <a:off x="374904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4" name="Text 12"/>
          <p:cNvSpPr txBox="1"/>
          <p:nvPr/>
        </p:nvSpPr>
        <p:spPr>
          <a:xfrm>
            <a:off x="365760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Zurück, saniert</a:t>
            </a:r>
            <a:endParaRPr lang="en-US" sz="1100" dirty="0"/>
          </a:p>
        </p:txBody>
      </p:sp>
      <p:sp>
        <p:nvSpPr>
          <p:cNvPr id="15" name="Shape 13"/>
          <p:cNvSpPr/>
          <p:nvPr/>
        </p:nvSpPr>
        <p:spPr>
          <a:xfrm>
            <a:off x="731520" y="2926080"/>
            <a:ext cx="1280160" cy="502920"/>
          </a:xfrm>
          <a:prstGeom prst="rect">
            <a:avLst/>
          </a:prstGeom>
          <a:solidFill>
            <a:srgbClr val="FDEBDD"/>
          </a:solidFill>
          <a:ln w="9525">
            <a:solidFill>
              <a:srgbClr val="F26A1B"/>
            </a:solidFill>
            <a:prstDash val="dash"/>
          </a:ln>
        </p:spPr>
      </p:sp>
      <p:sp>
        <p:nvSpPr>
          <p:cNvPr id="16" name="Text 14"/>
          <p:cNvSpPr txBox="1"/>
          <p:nvPr/>
        </p:nvSpPr>
        <p:spPr>
          <a:xfrm>
            <a:off x="731520" y="2926080"/>
            <a:ext cx="1280160" cy="502920"/>
          </a:xfrm>
          <a:prstGeom prst="rect">
            <a:avLst/>
          </a:prstGeom>
          <a:noFill/>
          <a:ln/>
        </p:spPr>
        <p:txBody>
          <a:bodyPr wrap="square" lIns="0" tIns="0" rIns="0" bIns="0" rtlCol="0" anchor="ctr"/>
          <a:lstStyle/>
          <a:p>
            <a:pPr algn="ctr" indent="0" marL="0">
              <a:buNone/>
            </a:pPr>
            <a:r>
              <a:rPr lang="en-US" sz="1000" b="1" dirty="0">
                <a:solidFill>
                  <a:srgbClr val="B8460E"/>
                </a:solidFill>
                <a:latin typeface="Arial" pitchFamily="34" charset="0"/>
                <a:ea typeface="Arial" pitchFamily="34" charset="-122"/>
                <a:cs typeface="Arial" pitchFamily="34" charset="-120"/>
              </a:rPr>
              <a:t>Whg. A-02</a:t>
            </a:r>
            <a:endParaRPr lang="en-US" sz="1000" dirty="0"/>
          </a:p>
        </p:txBody>
      </p:sp>
      <p:sp>
        <p:nvSpPr>
          <p:cNvPr id="17" name="Text 15"/>
          <p:cNvSpPr txBox="1"/>
          <p:nvPr/>
        </p:nvSpPr>
        <p:spPr>
          <a:xfrm>
            <a:off x="64008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in Sanierung</a:t>
            </a:r>
            <a:endParaRPr lang="en-US" sz="1100" dirty="0"/>
          </a:p>
        </p:txBody>
      </p:sp>
      <p:sp>
        <p:nvSpPr>
          <p:cNvPr id="18" name="Shape 16"/>
          <p:cNvSpPr/>
          <p:nvPr/>
        </p:nvSpPr>
        <p:spPr>
          <a:xfrm>
            <a:off x="2240280" y="2926080"/>
            <a:ext cx="1280160" cy="502920"/>
          </a:xfrm>
          <a:prstGeom prst="rect">
            <a:avLst/>
          </a:prstGeom>
          <a:solidFill>
            <a:srgbClr val="FAF8F5"/>
          </a:solidFill>
          <a:ln w="9525">
            <a:solidFill>
              <a:srgbClr val="8A8178"/>
            </a:solidFill>
            <a:prstDash val="dash"/>
          </a:ln>
        </p:spPr>
      </p:sp>
      <p:sp>
        <p:nvSpPr>
          <p:cNvPr id="19" name="Text 17"/>
          <p:cNvSpPr txBox="1"/>
          <p:nvPr/>
        </p:nvSpPr>
        <p:spPr>
          <a:xfrm>
            <a:off x="2240280" y="2926080"/>
            <a:ext cx="1280160" cy="502920"/>
          </a:xfrm>
          <a:prstGeom prst="rect">
            <a:avLst/>
          </a:prstGeom>
          <a:noFill/>
          <a:ln/>
        </p:spPr>
        <p:txBody>
          <a:bodyPr wrap="square" lIns="0" tIns="0" rIns="0" bIns="0" rtlCol="0" anchor="ctr"/>
          <a:lstStyle/>
          <a:p>
            <a:pPr algn="ctr" indent="0" marL="0">
              <a:buNone/>
            </a:pPr>
            <a:r>
              <a:rPr lang="en-US" sz="1000" b="1" dirty="0">
                <a:solidFill>
                  <a:srgbClr val="5B6468"/>
                </a:solidFill>
                <a:latin typeface="Arial" pitchFamily="34" charset="0"/>
                <a:ea typeface="Arial" pitchFamily="34" charset="-122"/>
                <a:cs typeface="Arial" pitchFamily="34" charset="-120"/>
              </a:rPr>
              <a:t>Whg. C-01</a:t>
            </a:r>
            <a:endParaRPr lang="en-US" sz="1000" dirty="0"/>
          </a:p>
        </p:txBody>
      </p:sp>
      <p:sp>
        <p:nvSpPr>
          <p:cNvPr id="20" name="Text 18"/>
          <p:cNvSpPr txBox="1"/>
          <p:nvPr/>
        </p:nvSpPr>
        <p:spPr>
          <a:xfrm>
            <a:off x="214884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frei, 5 Monate</a:t>
            </a:r>
            <a:endParaRPr lang="en-US" sz="1100" dirty="0"/>
          </a:p>
        </p:txBody>
      </p:sp>
      <p:sp>
        <p:nvSpPr>
          <p:cNvPr id="21" name="Shape 19"/>
          <p:cNvSpPr/>
          <p:nvPr/>
        </p:nvSpPr>
        <p:spPr>
          <a:xfrm>
            <a:off x="3749040" y="2926080"/>
            <a:ext cx="1280160" cy="502920"/>
          </a:xfrm>
          <a:prstGeom prst="rect">
            <a:avLst/>
          </a:prstGeom>
          <a:solidFill>
            <a:srgbClr val="276B43"/>
          </a:solidFill>
          <a:ln w="12700">
            <a:solidFill>
              <a:srgbClr val="276B43"/>
            </a:solidFill>
            <a:prstDash val="solid"/>
          </a:ln>
        </p:spPr>
      </p:sp>
      <p:sp>
        <p:nvSpPr>
          <p:cNvPr id="22" name="Text 20"/>
          <p:cNvSpPr txBox="1"/>
          <p:nvPr/>
        </p:nvSpPr>
        <p:spPr>
          <a:xfrm>
            <a:off x="3749040" y="2926080"/>
            <a:ext cx="12801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Whg. A-02</a:t>
            </a:r>
            <a:endParaRPr lang="en-US" sz="1000" dirty="0"/>
          </a:p>
        </p:txBody>
      </p:sp>
      <p:sp>
        <p:nvSpPr>
          <p:cNvPr id="23" name="Text 21"/>
          <p:cNvSpPr txBox="1"/>
          <p:nvPr/>
        </p:nvSpPr>
        <p:spPr>
          <a:xfrm>
            <a:off x="3611880" y="3520440"/>
            <a:ext cx="155448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saniert, zurück</a:t>
            </a:r>
            <a:endParaRPr lang="en-US" sz="1100" dirty="0"/>
          </a:p>
        </p:txBody>
      </p:sp>
      <p:sp>
        <p:nvSpPr>
          <p:cNvPr id="24" name="Text 22"/>
          <p:cNvSpPr txBox="1"/>
          <p:nvPr/>
        </p:nvSpPr>
        <p:spPr>
          <a:xfrm>
            <a:off x="731520" y="4023360"/>
            <a:ext cx="4297680" cy="365760"/>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Niemand wird gekündigt. Der Mietvertrag bleibt. Alle kommen zurück.</a:t>
            </a:r>
            <a:endParaRPr lang="en-US" sz="1300" dirty="0"/>
          </a:p>
        </p:txBody>
      </p:sp>
      <p:sp>
        <p:nvSpPr>
          <p:cNvPr id="25" name="Shape 23"/>
          <p:cNvSpPr/>
          <p:nvPr/>
        </p:nvSpPr>
        <p:spPr>
          <a:xfrm>
            <a:off x="5486400" y="1280160"/>
            <a:ext cx="3200400" cy="1554480"/>
          </a:xfrm>
          <a:prstGeom prst="rect">
            <a:avLst/>
          </a:prstGeom>
          <a:solidFill>
            <a:srgbClr val="24414A"/>
          </a:solidFill>
          <a:ln w="12700">
            <a:solidFill>
              <a:srgbClr val="24414A"/>
            </a:solidFill>
            <a:prstDash val="solid"/>
          </a:ln>
        </p:spPr>
      </p:sp>
      <p:sp>
        <p:nvSpPr>
          <p:cNvPr id="26" name="Text 24"/>
          <p:cNvSpPr txBox="1"/>
          <p:nvPr/>
        </p:nvSpPr>
        <p:spPr>
          <a:xfrm>
            <a:off x="5715000" y="1417320"/>
            <a:ext cx="2743200" cy="8229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«Die mit Abstand effektivste Massnahme»</a:t>
            </a:r>
            <a:endParaRPr lang="en-US" sz="1600" dirty="0"/>
          </a:p>
        </p:txBody>
      </p:sp>
      <p:sp>
        <p:nvSpPr>
          <p:cNvPr id="27" name="Text 25"/>
          <p:cNvSpPr txBox="1"/>
          <p:nvPr/>
        </p:nvSpPr>
        <p:spPr>
          <a:xfrm>
            <a:off x="5715000" y="2286000"/>
            <a:ext cx="2743200" cy="457200"/>
          </a:xfrm>
          <a:prstGeom prst="rect">
            <a:avLst/>
          </a:prstGeom>
          <a:noFill/>
          <a:ln/>
        </p:spPr>
        <p:txBody>
          <a:bodyPr wrap="square" lIns="0" tIns="0" rIns="0" bIns="0" rtlCol="0" anchor="t"/>
          <a:lstStyle/>
          <a:p>
            <a:pPr indent="0" marL="0">
              <a:buNone/>
            </a:pPr>
            <a:r>
              <a:rPr lang="en-US" sz="900" dirty="0">
                <a:solidFill>
                  <a:srgbClr val="B5C9CE"/>
                </a:solidFill>
                <a:latin typeface="Arial" pitchFamily="34" charset="0"/>
                <a:ea typeface="Arial" pitchFamily="34" charset="-122"/>
                <a:cs typeface="Arial" pitchFamily="34" charset="-120"/>
              </a:rPr>
              <a:t>Universität Zürich, 12 Interviews mit Eigentümern und Genossenschaften, 2025</a:t>
            </a:r>
            <a:endParaRPr lang="en-US" sz="900" dirty="0"/>
          </a:p>
        </p:txBody>
      </p:sp>
      <p:sp>
        <p:nvSpPr>
          <p:cNvPr id="28" name="Shape 26"/>
          <p:cNvSpPr/>
          <p:nvPr/>
        </p:nvSpPr>
        <p:spPr>
          <a:xfrm>
            <a:off x="5486400" y="3017520"/>
            <a:ext cx="3200400" cy="1554480"/>
          </a:xfrm>
          <a:prstGeom prst="rect">
            <a:avLst/>
          </a:prstGeom>
          <a:solidFill>
            <a:srgbClr val="FFFFFF"/>
          </a:solidFill>
          <a:ln w="9525">
            <a:solidFill>
              <a:srgbClr val="E3DDD4"/>
            </a:solidFill>
            <a:prstDash val="solid"/>
          </a:ln>
        </p:spPr>
      </p:sp>
      <p:sp>
        <p:nvSpPr>
          <p:cNvPr id="29" name="Text 27"/>
          <p:cNvSpPr txBox="1"/>
          <p:nvPr/>
        </p:nvSpPr>
        <p:spPr>
          <a:xfrm>
            <a:off x="5715000" y="3108960"/>
            <a:ext cx="2743200" cy="548640"/>
          </a:xfrm>
          <a:prstGeom prst="rect">
            <a:avLst/>
          </a:prstGeom>
          <a:noFill/>
          <a:ln/>
        </p:spPr>
        <p:txBody>
          <a:bodyPr wrap="square" lIns="0" tIns="0" rIns="0" bIns="0" rtlCol="0" anchor="ctr"/>
          <a:lstStyle/>
          <a:p>
            <a:pPr indent="0" marL="0">
              <a:buNone/>
            </a:pPr>
            <a:r>
              <a:rPr lang="en-US" sz="2400" b="1" dirty="0">
                <a:solidFill>
                  <a:srgbClr val="F26A1B"/>
                </a:solidFill>
                <a:latin typeface="Arial" pitchFamily="34" charset="0"/>
                <a:ea typeface="Arial" pitchFamily="34" charset="-122"/>
                <a:cs typeface="Arial" pitchFamily="34" charset="-120"/>
              </a:rPr>
              <a:t>«enorm aufwändig»</a:t>
            </a:r>
            <a:endParaRPr lang="en-US" sz="2400" dirty="0"/>
          </a:p>
        </p:txBody>
      </p:sp>
      <p:sp>
        <p:nvSpPr>
          <p:cNvPr id="30" name="Text 28"/>
          <p:cNvSpPr txBox="1"/>
          <p:nvPr/>
        </p:nvSpPr>
        <p:spPr>
          <a:xfrm>
            <a:off x="5715000" y="3703320"/>
            <a:ext cx="2743200" cy="59436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sagen dieselben Befragten. Flächen finden, zuteilen, zwei Übergaben pro Haushalt, jede Verschiebung von Hand. Darum machen es viele nicht.</a:t>
            </a:r>
            <a:endParaRPr lang="en-US" sz="1000" dirty="0"/>
          </a:p>
        </p:txBody>
      </p:sp>
      <p:sp>
        <p:nvSpPr>
          <p:cNvPr id="31" name="Text 29"/>
          <p:cNvSpPr txBox="1"/>
          <p:nvPr/>
        </p:nvSpPr>
        <p:spPr>
          <a:xfrm>
            <a:off x="5715000" y="4315968"/>
            <a:ext cx="274320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Keller, CUREM Universität Zürich, 2025</a:t>
            </a:r>
            <a:endParaRPr lang="en-US" sz="8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Leerkündigen ist erlaubt, wenn es nicht anders geht. Zürich prüft das jetzt.</a:t>
            </a:r>
            <a:endParaRPr lang="en-US" sz="3000" dirty="0"/>
          </a:p>
        </p:txBody>
      </p:sp>
      <p:sp>
        <p:nvSpPr>
          <p:cNvPr id="3" name="Shape 1"/>
          <p:cNvSpPr/>
          <p:nvPr/>
        </p:nvSpPr>
        <p:spPr>
          <a:xfrm>
            <a:off x="457200" y="1280160"/>
            <a:ext cx="2651760" cy="2286000"/>
          </a:xfrm>
          <a:prstGeom prst="rect">
            <a:avLst/>
          </a:prstGeom>
          <a:solidFill>
            <a:srgbClr val="FFFFFF"/>
          </a:solidFill>
          <a:ln w="9525">
            <a:solidFill>
              <a:srgbClr val="E3DDD4"/>
            </a:solidFill>
            <a:prstDash val="solid"/>
          </a:ln>
        </p:spPr>
      </p:sp>
      <p:sp>
        <p:nvSpPr>
          <p:cNvPr id="4" name="Text 2"/>
          <p:cNvSpPr txBox="1"/>
          <p:nvPr/>
        </p:nvSpPr>
        <p:spPr>
          <a:xfrm>
            <a:off x="64008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Bund · OR 271</a:t>
            </a:r>
            <a:endParaRPr lang="en-US" sz="900" dirty="0"/>
          </a:p>
        </p:txBody>
      </p:sp>
      <p:sp>
        <p:nvSpPr>
          <p:cNvPr id="5" name="Text 3"/>
          <p:cNvSpPr txBox="1"/>
          <p:nvPr/>
        </p:nvSpPr>
        <p:spPr>
          <a:xfrm>
            <a:off x="640080" y="1645920"/>
            <a:ext cx="2286000" cy="640080"/>
          </a:xfrm>
          <a:prstGeom prst="rect">
            <a:avLst/>
          </a:prstGeom>
          <a:noFill/>
          <a:ln/>
        </p:spPr>
        <p:txBody>
          <a:bodyPr wrap="square" lIns="0" tIns="0" rIns="0" bIns="0" rtlCol="0" anchor="t"/>
          <a:lstStyle/>
          <a:p>
            <a:pPr indent="0" marL="0">
              <a:buNone/>
            </a:pPr>
            <a:r>
              <a:rPr lang="en-US" sz="1600" b="1" dirty="0">
                <a:solidFill>
                  <a:srgbClr val="1C2326"/>
                </a:solidFill>
                <a:latin typeface="Arial" pitchFamily="34" charset="0"/>
                <a:ea typeface="Arial" pitchFamily="34" charset="-122"/>
                <a:cs typeface="Arial" pitchFamily="34" charset="-120"/>
              </a:rPr>
              <a:t>Erlaubt, wenn nötig</a:t>
            </a:r>
            <a:endParaRPr lang="en-US" sz="1600" dirty="0"/>
          </a:p>
        </p:txBody>
      </p:sp>
      <p:sp>
        <p:nvSpPr>
          <p:cNvPr id="6" name="Text 4"/>
          <p:cNvSpPr txBox="1"/>
          <p:nvPr/>
        </p:nvSpPr>
        <p:spPr>
          <a:xfrm>
            <a:off x="64008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Eine Sanierungskündigung hält, wenn der Verbleib der Mietenden die Arbeiten erheblich erschwert (BGE 135 III 112). Geht es bewohnt oder in Etappen, ist sie anfechtbar. Erstreckung bis 4 Jahre.</a:t>
            </a:r>
            <a:endParaRPr lang="en-US" sz="1000" dirty="0"/>
          </a:p>
        </p:txBody>
      </p:sp>
      <p:sp>
        <p:nvSpPr>
          <p:cNvPr id="7" name="Shape 5"/>
          <p:cNvSpPr/>
          <p:nvPr/>
        </p:nvSpPr>
        <p:spPr>
          <a:xfrm>
            <a:off x="3246120" y="1280160"/>
            <a:ext cx="2651760" cy="2286000"/>
          </a:xfrm>
          <a:prstGeom prst="rect">
            <a:avLst/>
          </a:prstGeom>
          <a:solidFill>
            <a:srgbClr val="FDEBDD"/>
          </a:solidFill>
          <a:ln w="9525">
            <a:solidFill>
              <a:srgbClr val="FDEBDD"/>
            </a:solidFill>
            <a:prstDash val="solid"/>
          </a:ln>
        </p:spPr>
      </p:sp>
      <p:sp>
        <p:nvSpPr>
          <p:cNvPr id="8" name="Text 6"/>
          <p:cNvSpPr txBox="1"/>
          <p:nvPr/>
        </p:nvSpPr>
        <p:spPr>
          <a:xfrm>
            <a:off x="342900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Kanton Zürich · WBFG, Ja 54,3 % am 14.6.2026</a:t>
            </a:r>
            <a:endParaRPr lang="en-US" sz="900" dirty="0"/>
          </a:p>
        </p:txBody>
      </p:sp>
      <p:sp>
        <p:nvSpPr>
          <p:cNvPr id="9" name="Text 7"/>
          <p:cNvSpPr txBox="1"/>
          <p:nvPr/>
        </p:nvSpPr>
        <p:spPr>
          <a:xfrm>
            <a:off x="3429000" y="1645920"/>
            <a:ext cx="2286000" cy="640080"/>
          </a:xfrm>
          <a:prstGeom prst="rect">
            <a:avLst/>
          </a:prstGeom>
          <a:noFill/>
          <a:ln/>
        </p:spPr>
        <p:txBody>
          <a:bodyPr wrap="square" lIns="0" tIns="0" rIns="0" bIns="0" rtlCol="0" anchor="t"/>
          <a:lstStyle/>
          <a:p>
            <a:pPr indent="0" marL="0">
              <a:buNone/>
            </a:pPr>
            <a:r>
              <a:rPr lang="en-US" sz="1600" b="1" dirty="0">
                <a:solidFill>
                  <a:srgbClr val="B8460E"/>
                </a:solidFill>
                <a:latin typeface="Arial" pitchFamily="34" charset="0"/>
                <a:ea typeface="Arial" pitchFamily="34" charset="-122"/>
                <a:cs typeface="Arial" pitchFamily="34" charset="-120"/>
              </a:rPr>
              <a:t>Prüfpflicht ab 20 Mietverhältnissen</a:t>
            </a:r>
            <a:endParaRPr lang="en-US" sz="1600" dirty="0"/>
          </a:p>
        </p:txBody>
      </p:sp>
      <p:sp>
        <p:nvSpPr>
          <p:cNvPr id="10" name="Text 8"/>
          <p:cNvSpPr txBox="1"/>
          <p:nvPr/>
        </p:nvSpPr>
        <p:spPr>
          <a:xfrm>
            <a:off x="342900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Bewohnt oder etappiert sanieren prüfen, 12 Monate Vorlauf, Ansprechperson, Hilfe bei der Wohnungssuche. Sonst keine Baubewilligung. In Kraft frühestens Ende 2026.</a:t>
            </a:r>
            <a:endParaRPr lang="en-US" sz="1000" dirty="0"/>
          </a:p>
        </p:txBody>
      </p:sp>
      <p:sp>
        <p:nvSpPr>
          <p:cNvPr id="11" name="Shape 9"/>
          <p:cNvSpPr/>
          <p:nvPr/>
        </p:nvSpPr>
        <p:spPr>
          <a:xfrm>
            <a:off x="6035040" y="1280160"/>
            <a:ext cx="2651760" cy="2286000"/>
          </a:xfrm>
          <a:prstGeom prst="rect">
            <a:avLst/>
          </a:prstGeom>
          <a:solidFill>
            <a:srgbClr val="E2ECEE"/>
          </a:solidFill>
          <a:ln w="9525">
            <a:solidFill>
              <a:srgbClr val="E2ECEE"/>
            </a:solidFill>
            <a:prstDash val="solid"/>
          </a:ln>
        </p:spPr>
      </p:sp>
      <p:sp>
        <p:nvSpPr>
          <p:cNvPr id="12" name="Text 10"/>
          <p:cNvSpPr txBox="1"/>
          <p:nvPr/>
        </p:nvSpPr>
        <p:spPr>
          <a:xfrm>
            <a:off x="621792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Genossenschaften · OR 846</a:t>
            </a:r>
            <a:endParaRPr lang="en-US" sz="900" dirty="0"/>
          </a:p>
        </p:txBody>
      </p:sp>
      <p:sp>
        <p:nvSpPr>
          <p:cNvPr id="13" name="Text 11"/>
          <p:cNvSpPr txBox="1"/>
          <p:nvPr/>
        </p:nvSpPr>
        <p:spPr>
          <a:xfrm>
            <a:off x="6217920" y="1645920"/>
            <a:ext cx="2286000" cy="640080"/>
          </a:xfrm>
          <a:prstGeom prst="rect">
            <a:avLst/>
          </a:prstGeom>
          <a:noFill/>
          <a:ln/>
        </p:spPr>
        <p:txBody>
          <a:bodyPr wrap="square" lIns="0" tIns="0" rIns="0" bIns="0" rtlCol="0" anchor="t"/>
          <a:lstStyle/>
          <a:p>
            <a:pPr indent="0" marL="0">
              <a:buNone/>
            </a:pPr>
            <a:r>
              <a:rPr lang="en-US" sz="1600" b="1" dirty="0">
                <a:solidFill>
                  <a:srgbClr val="24414A"/>
                </a:solidFill>
                <a:latin typeface="Arial" pitchFamily="34" charset="0"/>
                <a:ea typeface="Arial" pitchFamily="34" charset="-122"/>
                <a:cs typeface="Arial" pitchFamily="34" charset="-120"/>
              </a:rPr>
              <a:t>Sanierung ist kein Kündigungsgrund</a:t>
            </a:r>
            <a:endParaRPr lang="en-US" sz="1600" dirty="0"/>
          </a:p>
        </p:txBody>
      </p:sp>
      <p:sp>
        <p:nvSpPr>
          <p:cNvPr id="14" name="Text 12"/>
          <p:cNvSpPr txBox="1"/>
          <p:nvPr/>
        </p:nvSpPr>
        <p:spPr>
          <a:xfrm>
            <a:off x="621792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Mitglieder sind Mitbesitzer. Ohne Statutengrundlage kann die Genossenschaft wegen einer Sanierung nicht kündigen. Darum: Rochade oder befristete Zwischenvermietung.</a:t>
            </a:r>
            <a:endParaRPr lang="en-US" sz="1000" dirty="0"/>
          </a:p>
        </p:txBody>
      </p:sp>
      <p:sp>
        <p:nvSpPr>
          <p:cNvPr id="15" name="Shape 13"/>
          <p:cNvSpPr/>
          <p:nvPr/>
        </p:nvSpPr>
        <p:spPr>
          <a:xfrm>
            <a:off x="457200" y="3703320"/>
            <a:ext cx="1988820" cy="914400"/>
          </a:xfrm>
          <a:prstGeom prst="rect">
            <a:avLst/>
          </a:prstGeom>
          <a:solidFill>
            <a:srgbClr val="FFFFFF"/>
          </a:solidFill>
          <a:ln w="9525">
            <a:solidFill>
              <a:srgbClr val="E3DDD4"/>
            </a:solidFill>
            <a:prstDash val="solid"/>
          </a:ln>
        </p:spPr>
      </p:sp>
      <p:sp>
        <p:nvSpPr>
          <p:cNvPr id="16" name="Shape 14"/>
          <p:cNvSpPr/>
          <p:nvPr/>
        </p:nvSpPr>
        <p:spPr>
          <a:xfrm>
            <a:off x="594360" y="3831336"/>
            <a:ext cx="128016" cy="128016"/>
          </a:xfrm>
          <a:prstGeom prst="rect">
            <a:avLst/>
          </a:prstGeom>
          <a:solidFill>
            <a:srgbClr val="276B43"/>
          </a:solidFill>
          <a:ln w="12700">
            <a:solidFill>
              <a:srgbClr val="276B43"/>
            </a:solidFill>
            <a:prstDash val="solid"/>
          </a:ln>
        </p:spPr>
      </p:sp>
      <p:sp>
        <p:nvSpPr>
          <p:cNvPr id="17" name="Text 15"/>
          <p:cNvSpPr txBox="1"/>
          <p:nvPr/>
        </p:nvSpPr>
        <p:spPr>
          <a:xfrm>
            <a:off x="78638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Zürich</a:t>
            </a:r>
            <a:endParaRPr lang="en-US" sz="1100" dirty="0"/>
          </a:p>
        </p:txBody>
      </p:sp>
      <p:sp>
        <p:nvSpPr>
          <p:cNvPr id="18" name="Text 16"/>
          <p:cNvSpPr txBox="1"/>
          <p:nvPr/>
        </p:nvSpPr>
        <p:spPr>
          <a:xfrm>
            <a:off x="59436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Prüfpflicht neu. Der Nachweis, den ROCHADE liefert.</a:t>
            </a:r>
            <a:endParaRPr lang="en-US" sz="850" dirty="0"/>
          </a:p>
        </p:txBody>
      </p:sp>
      <p:sp>
        <p:nvSpPr>
          <p:cNvPr id="19" name="Shape 17"/>
          <p:cNvSpPr/>
          <p:nvPr/>
        </p:nvSpPr>
        <p:spPr>
          <a:xfrm>
            <a:off x="2537460" y="3703320"/>
            <a:ext cx="1988820" cy="914400"/>
          </a:xfrm>
          <a:prstGeom prst="rect">
            <a:avLst/>
          </a:prstGeom>
          <a:solidFill>
            <a:srgbClr val="FFFFFF"/>
          </a:solidFill>
          <a:ln w="9525">
            <a:solidFill>
              <a:srgbClr val="E3DDD4"/>
            </a:solidFill>
            <a:prstDash val="solid"/>
          </a:ln>
        </p:spPr>
      </p:sp>
      <p:sp>
        <p:nvSpPr>
          <p:cNvPr id="20" name="Shape 18"/>
          <p:cNvSpPr/>
          <p:nvPr/>
        </p:nvSpPr>
        <p:spPr>
          <a:xfrm>
            <a:off x="2674620" y="3831336"/>
            <a:ext cx="128016" cy="128016"/>
          </a:xfrm>
          <a:prstGeom prst="rect">
            <a:avLst/>
          </a:prstGeom>
          <a:solidFill>
            <a:srgbClr val="F26A1B"/>
          </a:solidFill>
          <a:ln w="12700">
            <a:solidFill>
              <a:srgbClr val="F26A1B"/>
            </a:solidFill>
            <a:prstDash val="solid"/>
          </a:ln>
        </p:spPr>
      </p:sp>
      <p:sp>
        <p:nvSpPr>
          <p:cNvPr id="21" name="Text 19"/>
          <p:cNvSpPr txBox="1"/>
          <p:nvPr/>
        </p:nvSpPr>
        <p:spPr>
          <a:xfrm>
            <a:off x="286664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Luzern</a:t>
            </a:r>
            <a:endParaRPr lang="en-US" sz="1100" dirty="0"/>
          </a:p>
        </p:txBody>
      </p:sp>
      <p:sp>
        <p:nvSpPr>
          <p:cNvPr id="22" name="Text 20"/>
          <p:cNvSpPr txBox="1"/>
          <p:nvPr/>
        </p:nvSpPr>
        <p:spPr>
          <a:xfrm>
            <a:off x="267462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Wohnraum-Gesetz umkämpft: Stadt Nein 24:23, Initiative läuft.</a:t>
            </a:r>
            <a:endParaRPr lang="en-US" sz="850" dirty="0"/>
          </a:p>
        </p:txBody>
      </p:sp>
      <p:sp>
        <p:nvSpPr>
          <p:cNvPr id="23" name="Shape 21"/>
          <p:cNvSpPr/>
          <p:nvPr/>
        </p:nvSpPr>
        <p:spPr>
          <a:xfrm>
            <a:off x="4617720" y="3703320"/>
            <a:ext cx="1988820" cy="914400"/>
          </a:xfrm>
          <a:prstGeom prst="rect">
            <a:avLst/>
          </a:prstGeom>
          <a:solidFill>
            <a:srgbClr val="FFFFFF"/>
          </a:solidFill>
          <a:ln w="9525">
            <a:solidFill>
              <a:srgbClr val="E3DDD4"/>
            </a:solidFill>
            <a:prstDash val="solid"/>
          </a:ln>
        </p:spPr>
      </p:sp>
      <p:sp>
        <p:nvSpPr>
          <p:cNvPr id="24" name="Shape 22"/>
          <p:cNvSpPr/>
          <p:nvPr/>
        </p:nvSpPr>
        <p:spPr>
          <a:xfrm>
            <a:off x="4754880" y="3831336"/>
            <a:ext cx="128016" cy="128016"/>
          </a:xfrm>
          <a:prstGeom prst="rect">
            <a:avLst/>
          </a:prstGeom>
          <a:solidFill>
            <a:srgbClr val="F26A1B"/>
          </a:solidFill>
          <a:ln w="12700">
            <a:solidFill>
              <a:srgbClr val="F26A1B"/>
            </a:solidFill>
            <a:prstDash val="solid"/>
          </a:ln>
        </p:spPr>
      </p:sp>
      <p:sp>
        <p:nvSpPr>
          <p:cNvPr id="25" name="Text 23"/>
          <p:cNvSpPr txBox="1"/>
          <p:nvPr/>
        </p:nvSpPr>
        <p:spPr>
          <a:xfrm>
            <a:off x="494690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Zug</a:t>
            </a:r>
            <a:endParaRPr lang="en-US" sz="1100" dirty="0"/>
          </a:p>
        </p:txBody>
      </p:sp>
      <p:sp>
        <p:nvSpPr>
          <p:cNvPr id="26" name="Text 24"/>
          <p:cNvSpPr txBox="1"/>
          <p:nvPr/>
        </p:nvSpPr>
        <p:spPr>
          <a:xfrm>
            <a:off x="475488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Kein Gesetz. Herti: Veto, 68 Wohnungen werden bewohnt saniert.</a:t>
            </a:r>
            <a:endParaRPr lang="en-US" sz="850" dirty="0"/>
          </a:p>
        </p:txBody>
      </p:sp>
      <p:sp>
        <p:nvSpPr>
          <p:cNvPr id="27" name="Shape 25"/>
          <p:cNvSpPr/>
          <p:nvPr/>
        </p:nvSpPr>
        <p:spPr>
          <a:xfrm>
            <a:off x="6697980" y="3703320"/>
            <a:ext cx="1988820" cy="914400"/>
          </a:xfrm>
          <a:prstGeom prst="rect">
            <a:avLst/>
          </a:prstGeom>
          <a:solidFill>
            <a:srgbClr val="FFFFFF"/>
          </a:solidFill>
          <a:ln w="9525">
            <a:solidFill>
              <a:srgbClr val="E3DDD4"/>
            </a:solidFill>
            <a:prstDash val="solid"/>
          </a:ln>
        </p:spPr>
      </p:sp>
      <p:sp>
        <p:nvSpPr>
          <p:cNvPr id="28" name="Shape 26"/>
          <p:cNvSpPr/>
          <p:nvPr/>
        </p:nvSpPr>
        <p:spPr>
          <a:xfrm>
            <a:off x="6835140" y="3831336"/>
            <a:ext cx="128016" cy="128016"/>
          </a:xfrm>
          <a:prstGeom prst="rect">
            <a:avLst/>
          </a:prstGeom>
          <a:solidFill>
            <a:srgbClr val="8A8178"/>
          </a:solidFill>
          <a:ln w="12700">
            <a:solidFill>
              <a:srgbClr val="8A8178"/>
            </a:solidFill>
            <a:prstDash val="solid"/>
          </a:ln>
        </p:spPr>
      </p:sp>
      <p:sp>
        <p:nvSpPr>
          <p:cNvPr id="29" name="Text 27"/>
          <p:cNvSpPr txBox="1"/>
          <p:nvPr/>
        </p:nvSpPr>
        <p:spPr>
          <a:xfrm>
            <a:off x="702716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Schwyz</a:t>
            </a:r>
            <a:endParaRPr lang="en-US" sz="1100" dirty="0"/>
          </a:p>
        </p:txBody>
      </p:sp>
      <p:sp>
        <p:nvSpPr>
          <p:cNvPr id="30" name="Text 28"/>
          <p:cNvSpPr txBox="1"/>
          <p:nvPr/>
        </p:nvSpPr>
        <p:spPr>
          <a:xfrm>
            <a:off x="683514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Nur Bundesrecht. Mieten +10,5 % in einem Jahr.</a:t>
            </a:r>
            <a:endParaRPr lang="en-US" sz="8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Fünf Parteien, ein Plan. So hält die Rochade rechtlich.</a:t>
            </a:r>
            <a:endParaRPr lang="en-US" sz="3000" dirty="0"/>
          </a:p>
        </p:txBody>
      </p:sp>
      <p:sp>
        <p:nvSpPr>
          <p:cNvPr id="3" name="Shape 1"/>
          <p:cNvSpPr/>
          <p:nvPr/>
        </p:nvSpPr>
        <p:spPr>
          <a:xfrm>
            <a:off x="457200" y="1280160"/>
            <a:ext cx="4023360" cy="530352"/>
          </a:xfrm>
          <a:prstGeom prst="rect">
            <a:avLst/>
          </a:prstGeom>
          <a:solidFill>
            <a:srgbClr val="FFFFFF"/>
          </a:solidFill>
          <a:ln w="9525">
            <a:solidFill>
              <a:srgbClr val="E3DDD4"/>
            </a:solidFill>
            <a:prstDash val="solid"/>
          </a:ln>
        </p:spPr>
      </p:sp>
      <p:sp>
        <p:nvSpPr>
          <p:cNvPr id="4" name="Shape 2"/>
          <p:cNvSpPr/>
          <p:nvPr/>
        </p:nvSpPr>
        <p:spPr>
          <a:xfrm>
            <a:off x="457200" y="1280160"/>
            <a:ext cx="64008" cy="530352"/>
          </a:xfrm>
          <a:prstGeom prst="rect">
            <a:avLst/>
          </a:prstGeom>
          <a:solidFill>
            <a:srgbClr val="24414A"/>
          </a:solidFill>
          <a:ln w="12700">
            <a:solidFill>
              <a:srgbClr val="24414A"/>
            </a:solidFill>
            <a:prstDash val="solid"/>
          </a:ln>
        </p:spPr>
      </p:sp>
      <p:sp>
        <p:nvSpPr>
          <p:cNvPr id="5" name="Text 3"/>
          <p:cNvSpPr txBox="1"/>
          <p:nvPr/>
        </p:nvSpPr>
        <p:spPr>
          <a:xfrm>
            <a:off x="658368" y="1280160"/>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Eigentümerschaft</a:t>
            </a:r>
            <a:endParaRPr lang="en-US" sz="1100" dirty="0"/>
          </a:p>
        </p:txBody>
      </p:sp>
      <p:sp>
        <p:nvSpPr>
          <p:cNvPr id="6" name="Text 4"/>
          <p:cNvSpPr txBox="1"/>
          <p:nvPr/>
        </p:nvSpPr>
        <p:spPr>
          <a:xfrm>
            <a:off x="1892808" y="1280160"/>
            <a:ext cx="2496312"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Genossenschaft, Pensionskasse, Stadt. Entscheidet, zahlt, trägt das Reputationsrisiko.</a:t>
            </a:r>
            <a:endParaRPr lang="en-US" sz="900" dirty="0"/>
          </a:p>
        </p:txBody>
      </p:sp>
      <p:sp>
        <p:nvSpPr>
          <p:cNvPr id="7" name="Shape 5"/>
          <p:cNvSpPr/>
          <p:nvPr/>
        </p:nvSpPr>
        <p:spPr>
          <a:xfrm>
            <a:off x="457200" y="1883664"/>
            <a:ext cx="4023360" cy="530352"/>
          </a:xfrm>
          <a:prstGeom prst="rect">
            <a:avLst/>
          </a:prstGeom>
          <a:solidFill>
            <a:srgbClr val="FFFFFF"/>
          </a:solidFill>
          <a:ln w="9525">
            <a:solidFill>
              <a:srgbClr val="E3DDD4"/>
            </a:solidFill>
            <a:prstDash val="solid"/>
          </a:ln>
        </p:spPr>
      </p:sp>
      <p:sp>
        <p:nvSpPr>
          <p:cNvPr id="8" name="Shape 6"/>
          <p:cNvSpPr/>
          <p:nvPr/>
        </p:nvSpPr>
        <p:spPr>
          <a:xfrm>
            <a:off x="457200" y="1883664"/>
            <a:ext cx="64008" cy="530352"/>
          </a:xfrm>
          <a:prstGeom prst="rect">
            <a:avLst/>
          </a:prstGeom>
          <a:solidFill>
            <a:srgbClr val="24414A"/>
          </a:solidFill>
          <a:ln w="12700">
            <a:solidFill>
              <a:srgbClr val="24414A"/>
            </a:solidFill>
            <a:prstDash val="solid"/>
          </a:ln>
        </p:spPr>
      </p:sp>
      <p:sp>
        <p:nvSpPr>
          <p:cNvPr id="9" name="Text 7"/>
          <p:cNvSpPr txBox="1"/>
          <p:nvPr/>
        </p:nvSpPr>
        <p:spPr>
          <a:xfrm>
            <a:off x="658368" y="1883664"/>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Bewirtschaftung</a:t>
            </a:r>
            <a:endParaRPr lang="en-US" sz="1100" dirty="0"/>
          </a:p>
        </p:txBody>
      </p:sp>
      <p:sp>
        <p:nvSpPr>
          <p:cNvPr id="10" name="Text 8"/>
          <p:cNvSpPr txBox="1"/>
          <p:nvPr/>
        </p:nvSpPr>
        <p:spPr>
          <a:xfrm>
            <a:off x="1892808" y="1883664"/>
            <a:ext cx="2496312"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Zuteilung, Übergaben, Information. Heute vierfacher Aufwand.</a:t>
            </a:r>
            <a:endParaRPr lang="en-US" sz="900" dirty="0"/>
          </a:p>
        </p:txBody>
      </p:sp>
      <p:sp>
        <p:nvSpPr>
          <p:cNvPr id="11" name="Shape 9"/>
          <p:cNvSpPr/>
          <p:nvPr/>
        </p:nvSpPr>
        <p:spPr>
          <a:xfrm>
            <a:off x="457200" y="2487168"/>
            <a:ext cx="4023360" cy="530352"/>
          </a:xfrm>
          <a:prstGeom prst="rect">
            <a:avLst/>
          </a:prstGeom>
          <a:solidFill>
            <a:srgbClr val="FFFFFF"/>
          </a:solidFill>
          <a:ln w="9525">
            <a:solidFill>
              <a:srgbClr val="E3DDD4"/>
            </a:solidFill>
            <a:prstDash val="solid"/>
          </a:ln>
        </p:spPr>
      </p:sp>
      <p:sp>
        <p:nvSpPr>
          <p:cNvPr id="12" name="Shape 10"/>
          <p:cNvSpPr/>
          <p:nvPr/>
        </p:nvSpPr>
        <p:spPr>
          <a:xfrm>
            <a:off x="457200" y="2487168"/>
            <a:ext cx="64008" cy="530352"/>
          </a:xfrm>
          <a:prstGeom prst="rect">
            <a:avLst/>
          </a:prstGeom>
          <a:solidFill>
            <a:srgbClr val="24414A"/>
          </a:solidFill>
          <a:ln w="12700">
            <a:solidFill>
              <a:srgbClr val="24414A"/>
            </a:solidFill>
            <a:prstDash val="solid"/>
          </a:ln>
        </p:spPr>
      </p:sp>
      <p:sp>
        <p:nvSpPr>
          <p:cNvPr id="13" name="Text 11"/>
          <p:cNvSpPr txBox="1"/>
          <p:nvPr/>
        </p:nvSpPr>
        <p:spPr>
          <a:xfrm>
            <a:off x="658368" y="2487168"/>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Bauleitung</a:t>
            </a:r>
            <a:endParaRPr lang="en-US" sz="1100" dirty="0"/>
          </a:p>
        </p:txBody>
      </p:sp>
      <p:sp>
        <p:nvSpPr>
          <p:cNvPr id="14" name="Text 12"/>
          <p:cNvSpPr txBox="1"/>
          <p:nvPr/>
        </p:nvSpPr>
        <p:spPr>
          <a:xfrm>
            <a:off x="1892808" y="2487168"/>
            <a:ext cx="2496312"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Braucht leere Etappen zum Termin. Verzug kostet.</a:t>
            </a:r>
            <a:endParaRPr lang="en-US" sz="900" dirty="0"/>
          </a:p>
        </p:txBody>
      </p:sp>
      <p:sp>
        <p:nvSpPr>
          <p:cNvPr id="15" name="Shape 13"/>
          <p:cNvSpPr/>
          <p:nvPr/>
        </p:nvSpPr>
        <p:spPr>
          <a:xfrm>
            <a:off x="457200" y="3090672"/>
            <a:ext cx="4023360" cy="530352"/>
          </a:xfrm>
          <a:prstGeom prst="rect">
            <a:avLst/>
          </a:prstGeom>
          <a:solidFill>
            <a:srgbClr val="FFFFFF"/>
          </a:solidFill>
          <a:ln w="9525">
            <a:solidFill>
              <a:srgbClr val="E3DDD4"/>
            </a:solidFill>
            <a:prstDash val="solid"/>
          </a:ln>
        </p:spPr>
      </p:sp>
      <p:sp>
        <p:nvSpPr>
          <p:cNvPr id="16" name="Shape 14"/>
          <p:cNvSpPr/>
          <p:nvPr/>
        </p:nvSpPr>
        <p:spPr>
          <a:xfrm>
            <a:off x="457200" y="3090672"/>
            <a:ext cx="64008" cy="530352"/>
          </a:xfrm>
          <a:prstGeom prst="rect">
            <a:avLst/>
          </a:prstGeom>
          <a:solidFill>
            <a:srgbClr val="F26A1B"/>
          </a:solidFill>
          <a:ln w="12700">
            <a:solidFill>
              <a:srgbClr val="F26A1B"/>
            </a:solidFill>
            <a:prstDash val="solid"/>
          </a:ln>
        </p:spPr>
      </p:sp>
      <p:sp>
        <p:nvSpPr>
          <p:cNvPr id="17" name="Text 15"/>
          <p:cNvSpPr txBox="1"/>
          <p:nvPr/>
        </p:nvSpPr>
        <p:spPr>
          <a:xfrm>
            <a:off x="658368" y="3090672"/>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Mietende</a:t>
            </a:r>
            <a:endParaRPr lang="en-US" sz="1100" dirty="0"/>
          </a:p>
        </p:txBody>
      </p:sp>
      <p:sp>
        <p:nvSpPr>
          <p:cNvPr id="18" name="Text 16"/>
          <p:cNvSpPr txBox="1"/>
          <p:nvPr/>
        </p:nvSpPr>
        <p:spPr>
          <a:xfrm>
            <a:off x="1892808" y="3090672"/>
            <a:ext cx="2496312"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Ziehen freiwillig um, brauchen Klarheit. Mieterverband berät.</a:t>
            </a:r>
            <a:endParaRPr lang="en-US" sz="900" dirty="0"/>
          </a:p>
        </p:txBody>
      </p:sp>
      <p:sp>
        <p:nvSpPr>
          <p:cNvPr id="19" name="Shape 17"/>
          <p:cNvSpPr/>
          <p:nvPr/>
        </p:nvSpPr>
        <p:spPr>
          <a:xfrm>
            <a:off x="457200" y="3694176"/>
            <a:ext cx="4023360" cy="530352"/>
          </a:xfrm>
          <a:prstGeom prst="rect">
            <a:avLst/>
          </a:prstGeom>
          <a:solidFill>
            <a:srgbClr val="FFFFFF"/>
          </a:solidFill>
          <a:ln w="9525">
            <a:solidFill>
              <a:srgbClr val="E3DDD4"/>
            </a:solidFill>
            <a:prstDash val="solid"/>
          </a:ln>
        </p:spPr>
      </p:sp>
      <p:sp>
        <p:nvSpPr>
          <p:cNvPr id="20" name="Shape 18"/>
          <p:cNvSpPr/>
          <p:nvPr/>
        </p:nvSpPr>
        <p:spPr>
          <a:xfrm>
            <a:off x="457200" y="3694176"/>
            <a:ext cx="64008" cy="530352"/>
          </a:xfrm>
          <a:prstGeom prst="rect">
            <a:avLst/>
          </a:prstGeom>
          <a:solidFill>
            <a:srgbClr val="24414A"/>
          </a:solidFill>
          <a:ln w="12700">
            <a:solidFill>
              <a:srgbClr val="24414A"/>
            </a:solidFill>
            <a:prstDash val="solid"/>
          </a:ln>
        </p:spPr>
      </p:sp>
      <p:sp>
        <p:nvSpPr>
          <p:cNvPr id="21" name="Text 19"/>
          <p:cNvSpPr txBox="1"/>
          <p:nvPr/>
        </p:nvSpPr>
        <p:spPr>
          <a:xfrm>
            <a:off x="658368" y="3694176"/>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Gemeinde</a:t>
            </a:r>
            <a:endParaRPr lang="en-US" sz="1100" dirty="0"/>
          </a:p>
        </p:txBody>
      </p:sp>
      <p:sp>
        <p:nvSpPr>
          <p:cNvPr id="22" name="Text 20"/>
          <p:cNvSpPr txBox="1"/>
          <p:nvPr/>
        </p:nvSpPr>
        <p:spPr>
          <a:xfrm>
            <a:off x="1892808" y="3694176"/>
            <a:ext cx="2496312"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Erteilt die Baubewilligung. Zürich prüft neu den Nachweis.</a:t>
            </a:r>
            <a:endParaRPr lang="en-US" sz="900" dirty="0"/>
          </a:p>
        </p:txBody>
      </p:sp>
      <p:sp>
        <p:nvSpPr>
          <p:cNvPr id="23" name="Shape 21"/>
          <p:cNvSpPr/>
          <p:nvPr/>
        </p:nvSpPr>
        <p:spPr>
          <a:xfrm>
            <a:off x="4663440" y="1280160"/>
            <a:ext cx="4023360" cy="3291840"/>
          </a:xfrm>
          <a:prstGeom prst="rect">
            <a:avLst/>
          </a:prstGeom>
          <a:solidFill>
            <a:srgbClr val="24414A"/>
          </a:solidFill>
          <a:ln w="12700">
            <a:solidFill>
              <a:srgbClr val="24414A"/>
            </a:solidFill>
            <a:prstDash val="solid"/>
          </a:ln>
        </p:spPr>
      </p:sp>
      <p:sp>
        <p:nvSpPr>
          <p:cNvPr id="24" name="Text 22"/>
          <p:cNvSpPr txBox="1"/>
          <p:nvPr/>
        </p:nvSpPr>
        <p:spPr>
          <a:xfrm>
            <a:off x="4892040" y="1371600"/>
            <a:ext cx="3566160" cy="274320"/>
          </a:xfrm>
          <a:prstGeom prst="rect">
            <a:avLst/>
          </a:prstGeom>
          <a:noFill/>
          <a:ln/>
        </p:spPr>
        <p:txBody>
          <a:bodyPr wrap="square" lIns="0" tIns="0" rIns="0" bIns="0" rtlCol="0" anchor="ctr"/>
          <a:lstStyle/>
          <a:p>
            <a:pPr indent="0" marL="0">
              <a:buNone/>
            </a:pPr>
            <a:r>
              <a:rPr lang="en-US" sz="1100" b="1" dirty="0">
                <a:solidFill>
                  <a:srgbClr val="B5C9CE"/>
                </a:solidFill>
                <a:latin typeface="Arial" pitchFamily="34" charset="0"/>
                <a:ea typeface="Arial" pitchFamily="34" charset="-122"/>
                <a:cs typeface="Arial" pitchFamily="34" charset="-120"/>
              </a:rPr>
              <a:t>So hält die Rochade</a:t>
            </a:r>
            <a:endParaRPr lang="en-US" sz="1100" dirty="0"/>
          </a:p>
        </p:txBody>
      </p:sp>
      <p:sp>
        <p:nvSpPr>
          <p:cNvPr id="25" name="Shape 23"/>
          <p:cNvSpPr/>
          <p:nvPr/>
        </p:nvSpPr>
        <p:spPr>
          <a:xfrm>
            <a:off x="4892040" y="1755648"/>
            <a:ext cx="310896" cy="310896"/>
          </a:xfrm>
          <a:prstGeom prst="rect">
            <a:avLst/>
          </a:prstGeom>
          <a:solidFill>
            <a:srgbClr val="F26A1B"/>
          </a:solidFill>
          <a:ln w="12700">
            <a:solidFill>
              <a:srgbClr val="F26A1B"/>
            </a:solidFill>
            <a:prstDash val="solid"/>
          </a:ln>
        </p:spPr>
      </p:sp>
      <p:sp>
        <p:nvSpPr>
          <p:cNvPr id="26" name="Text 24"/>
          <p:cNvSpPr txBox="1"/>
          <p:nvPr/>
        </p:nvSpPr>
        <p:spPr>
          <a:xfrm>
            <a:off x="4892040" y="1755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7" name="Text 25"/>
          <p:cNvSpPr txBox="1"/>
          <p:nvPr/>
        </p:nvSpPr>
        <p:spPr>
          <a:xfrm>
            <a:off x="5321808" y="1719072"/>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Der Mietvertrag bleibt.</a:t>
            </a:r>
            <a:endParaRPr lang="en-US" sz="1200" dirty="0"/>
          </a:p>
        </p:txBody>
      </p:sp>
      <p:sp>
        <p:nvSpPr>
          <p:cNvPr id="28" name="Text 26"/>
          <p:cNvSpPr txBox="1"/>
          <p:nvPr/>
        </p:nvSpPr>
        <p:spPr>
          <a:xfrm>
            <a:off x="5321808" y="1993392"/>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Keine Kündigung, keine Anfechtung, keine Erstreckung.</a:t>
            </a:r>
            <a:endParaRPr lang="en-US" sz="900" dirty="0"/>
          </a:p>
        </p:txBody>
      </p:sp>
      <p:sp>
        <p:nvSpPr>
          <p:cNvPr id="29" name="Shape 27"/>
          <p:cNvSpPr/>
          <p:nvPr/>
        </p:nvSpPr>
        <p:spPr>
          <a:xfrm>
            <a:off x="4892040" y="2450592"/>
            <a:ext cx="310896" cy="310896"/>
          </a:xfrm>
          <a:prstGeom prst="rect">
            <a:avLst/>
          </a:prstGeom>
          <a:solidFill>
            <a:srgbClr val="F26A1B"/>
          </a:solidFill>
          <a:ln w="12700">
            <a:solidFill>
              <a:srgbClr val="F26A1B"/>
            </a:solidFill>
            <a:prstDash val="solid"/>
          </a:ln>
        </p:spPr>
      </p:sp>
      <p:sp>
        <p:nvSpPr>
          <p:cNvPr id="30" name="Text 28"/>
          <p:cNvSpPr txBox="1"/>
          <p:nvPr/>
        </p:nvSpPr>
        <p:spPr>
          <a:xfrm>
            <a:off x="4892040" y="24505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31" name="Text 29"/>
          <p:cNvSpPr txBox="1"/>
          <p:nvPr/>
        </p:nvSpPr>
        <p:spPr>
          <a:xfrm>
            <a:off x="5321808" y="2414016"/>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Rochade-Vereinbarung.</a:t>
            </a:r>
            <a:endParaRPr lang="en-US" sz="1200" dirty="0"/>
          </a:p>
        </p:txBody>
      </p:sp>
      <p:sp>
        <p:nvSpPr>
          <p:cNvPr id="32" name="Text 30"/>
          <p:cNvSpPr txBox="1"/>
          <p:nvPr/>
        </p:nvSpPr>
        <p:spPr>
          <a:xfrm>
            <a:off x="5321808" y="2688336"/>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Ausweichwohnung befristet (OR 255), Termine, Umzugskosten, Rückkehr schriftlich.</a:t>
            </a:r>
            <a:endParaRPr lang="en-US" sz="900" dirty="0"/>
          </a:p>
        </p:txBody>
      </p:sp>
      <p:sp>
        <p:nvSpPr>
          <p:cNvPr id="33" name="Shape 31"/>
          <p:cNvSpPr/>
          <p:nvPr/>
        </p:nvSpPr>
        <p:spPr>
          <a:xfrm>
            <a:off x="4892040" y="3145536"/>
            <a:ext cx="310896" cy="310896"/>
          </a:xfrm>
          <a:prstGeom prst="rect">
            <a:avLst/>
          </a:prstGeom>
          <a:solidFill>
            <a:srgbClr val="F26A1B"/>
          </a:solidFill>
          <a:ln w="12700">
            <a:solidFill>
              <a:srgbClr val="F26A1B"/>
            </a:solidFill>
            <a:prstDash val="solid"/>
          </a:ln>
        </p:spPr>
      </p:sp>
      <p:sp>
        <p:nvSpPr>
          <p:cNvPr id="34" name="Text 32"/>
          <p:cNvSpPr txBox="1"/>
          <p:nvPr/>
        </p:nvSpPr>
        <p:spPr>
          <a:xfrm>
            <a:off x="4892040"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5" name="Text 33"/>
          <p:cNvSpPr txBox="1"/>
          <p:nvPr/>
        </p:nvSpPr>
        <p:spPr>
          <a:xfrm>
            <a:off x="5321808" y="3108960"/>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Gleichwertiges Ersatzangebot.</a:t>
            </a:r>
            <a:endParaRPr lang="en-US" sz="1200" dirty="0"/>
          </a:p>
        </p:txBody>
      </p:sp>
      <p:sp>
        <p:nvSpPr>
          <p:cNvPr id="36" name="Text 34"/>
          <p:cNvSpPr txBox="1"/>
          <p:nvPr/>
        </p:nvSpPr>
        <p:spPr>
          <a:xfrm>
            <a:off x="5321808" y="3383280"/>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Mängelrechte entfallen weitgehend (OR 259c, Obergericht Zürich 2025).</a:t>
            </a:r>
            <a:endParaRPr lang="en-US" sz="900" dirty="0"/>
          </a:p>
        </p:txBody>
      </p:sp>
      <p:sp>
        <p:nvSpPr>
          <p:cNvPr id="37" name="Shape 35"/>
          <p:cNvSpPr/>
          <p:nvPr/>
        </p:nvSpPr>
        <p:spPr>
          <a:xfrm>
            <a:off x="4892040" y="3840480"/>
            <a:ext cx="310896" cy="310896"/>
          </a:xfrm>
          <a:prstGeom prst="rect">
            <a:avLst/>
          </a:prstGeom>
          <a:solidFill>
            <a:srgbClr val="F26A1B"/>
          </a:solidFill>
          <a:ln w="12700">
            <a:solidFill>
              <a:srgbClr val="F26A1B"/>
            </a:solidFill>
            <a:prstDash val="solid"/>
          </a:ln>
        </p:spPr>
      </p:sp>
      <p:sp>
        <p:nvSpPr>
          <p:cNvPr id="38" name="Text 36"/>
          <p:cNvSpPr txBox="1"/>
          <p:nvPr/>
        </p:nvSpPr>
        <p:spPr>
          <a:xfrm>
            <a:off x="4892040" y="3840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9" name="Text 37"/>
          <p:cNvSpPr txBox="1"/>
          <p:nvPr/>
        </p:nvSpPr>
        <p:spPr>
          <a:xfrm>
            <a:off x="5321808" y="3803904"/>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Miete danach.</a:t>
            </a:r>
            <a:endParaRPr lang="en-US" sz="1200" dirty="0"/>
          </a:p>
        </p:txBody>
      </p:sp>
      <p:sp>
        <p:nvSpPr>
          <p:cNvPr id="40" name="Text 38"/>
          <p:cNvSpPr txBox="1"/>
          <p:nvPr/>
        </p:nvSpPr>
        <p:spPr>
          <a:xfrm>
            <a:off x="5321808" y="4078224"/>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Nur der wertvermehrende Anteil wird überwälzt, 50 bis 70 % bei umfassender Überholung (VMWG 14).</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ROCHADE plant die Rochade. Vier Regeln, jeder Konflikt mit Vorschlag.</a:t>
            </a:r>
            <a:endParaRPr lang="en-US" sz="3000" dirty="0"/>
          </a:p>
        </p:txBody>
      </p:sp>
      <p:sp>
        <p:nvSpPr>
          <p:cNvPr id="3" name="Shape 1"/>
          <p:cNvSpPr/>
          <p:nvPr/>
        </p:nvSpPr>
        <p:spPr>
          <a:xfrm>
            <a:off x="457200" y="1280160"/>
            <a:ext cx="5760720" cy="2788920"/>
          </a:xfrm>
          <a:prstGeom prst="rect">
            <a:avLst/>
          </a:prstGeom>
          <a:solidFill>
            <a:srgbClr val="FFFFFF"/>
          </a:solidFill>
          <a:ln w="9525">
            <a:solidFill>
              <a:srgbClr val="E3DDD4"/>
            </a:solidFill>
            <a:prstDash val="solid"/>
          </a:ln>
        </p:spPr>
      </p:sp>
      <p:pic>
        <p:nvPicPr>
          <p:cNvPr id="4" name="Image 0" descr="/private/tmp/claude-501/-Users-francescorocca--claude-spares-spare-pTP7p5/c9c54887-e9ac-44ae-bd9c-ebf5f8016333/scratchpad/deck/img/stage-square-crop.png">    </p:cNvPr>
          <p:cNvPicPr>
            <a:picLocks noChangeAspect="1"/>
          </p:cNvPicPr>
          <p:nvPr/>
        </p:nvPicPr>
        <p:blipFill>
          <a:blip r:embed="rId1"/>
          <a:srcRect l="0" r="0" t="0" b="0"/>
          <a:stretch/>
        </p:blipFill>
        <p:spPr>
          <a:xfrm>
            <a:off x="566928" y="1371600"/>
            <a:ext cx="5541264" cy="2606040"/>
          </a:xfrm>
          <a:prstGeom prst="rect">
            <a:avLst/>
          </a:prstGeom>
        </p:spPr>
      </p:pic>
      <p:sp>
        <p:nvSpPr>
          <p:cNvPr id="5" name="Shape 2"/>
          <p:cNvSpPr/>
          <p:nvPr/>
        </p:nvSpPr>
        <p:spPr>
          <a:xfrm>
            <a:off x="457200" y="4160520"/>
            <a:ext cx="274320" cy="274320"/>
          </a:xfrm>
          <a:prstGeom prst="rect">
            <a:avLst/>
          </a:prstGeom>
          <a:solidFill>
            <a:srgbClr val="1C2326"/>
          </a:solidFill>
          <a:ln w="12700">
            <a:solidFill>
              <a:srgbClr val="1C2326"/>
            </a:solidFill>
            <a:prstDash val="solid"/>
          </a:ln>
        </p:spPr>
      </p:sp>
      <p:sp>
        <p:nvSpPr>
          <p:cNvPr id="6" name="Text 3"/>
          <p:cNvSpPr txBox="1"/>
          <p:nvPr/>
        </p:nvSpPr>
        <p:spPr>
          <a:xfrm>
            <a:off x="45720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7" name="Text 4"/>
          <p:cNvSpPr txBox="1"/>
          <p:nvPr/>
        </p:nvSpPr>
        <p:spPr>
          <a:xfrm>
            <a:off x="78638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Zimmerzahl</a:t>
            </a:r>
            <a:endParaRPr lang="en-US" sz="950" dirty="0"/>
          </a:p>
        </p:txBody>
      </p:sp>
      <p:sp>
        <p:nvSpPr>
          <p:cNvPr id="8" name="Shape 5"/>
          <p:cNvSpPr/>
          <p:nvPr/>
        </p:nvSpPr>
        <p:spPr>
          <a:xfrm>
            <a:off x="1920240" y="4160520"/>
            <a:ext cx="274320" cy="274320"/>
          </a:xfrm>
          <a:prstGeom prst="rect">
            <a:avLst/>
          </a:prstGeom>
          <a:solidFill>
            <a:srgbClr val="1C2326"/>
          </a:solidFill>
          <a:ln w="12700">
            <a:solidFill>
              <a:srgbClr val="1C2326"/>
            </a:solidFill>
            <a:prstDash val="solid"/>
          </a:ln>
        </p:spPr>
      </p:sp>
      <p:sp>
        <p:nvSpPr>
          <p:cNvPr id="9" name="Text 6"/>
          <p:cNvSpPr txBox="1"/>
          <p:nvPr/>
        </p:nvSpPr>
        <p:spPr>
          <a:xfrm>
            <a:off x="192024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0" name="Text 7"/>
          <p:cNvSpPr txBox="1"/>
          <p:nvPr/>
        </p:nvSpPr>
        <p:spPr>
          <a:xfrm>
            <a:off x="224942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Hindernisfrei</a:t>
            </a:r>
            <a:endParaRPr lang="en-US" sz="950" dirty="0"/>
          </a:p>
        </p:txBody>
      </p:sp>
      <p:sp>
        <p:nvSpPr>
          <p:cNvPr id="11" name="Shape 8"/>
          <p:cNvSpPr/>
          <p:nvPr/>
        </p:nvSpPr>
        <p:spPr>
          <a:xfrm>
            <a:off x="3383280" y="4160520"/>
            <a:ext cx="274320" cy="274320"/>
          </a:xfrm>
          <a:prstGeom prst="rect">
            <a:avLst/>
          </a:prstGeom>
          <a:solidFill>
            <a:srgbClr val="1C2326"/>
          </a:solidFill>
          <a:ln w="12700">
            <a:solidFill>
              <a:srgbClr val="1C2326"/>
            </a:solidFill>
            <a:prstDash val="solid"/>
          </a:ln>
        </p:spPr>
      </p:sp>
      <p:sp>
        <p:nvSpPr>
          <p:cNvPr id="12" name="Text 9"/>
          <p:cNvSpPr txBox="1"/>
          <p:nvPr/>
        </p:nvSpPr>
        <p:spPr>
          <a:xfrm>
            <a:off x="338328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Text 10"/>
          <p:cNvSpPr txBox="1"/>
          <p:nvPr/>
        </p:nvSpPr>
        <p:spPr>
          <a:xfrm>
            <a:off x="371246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Zeitfenster</a:t>
            </a:r>
            <a:endParaRPr lang="en-US" sz="950" dirty="0"/>
          </a:p>
        </p:txBody>
      </p:sp>
      <p:sp>
        <p:nvSpPr>
          <p:cNvPr id="14" name="Shape 11"/>
          <p:cNvSpPr/>
          <p:nvPr/>
        </p:nvSpPr>
        <p:spPr>
          <a:xfrm>
            <a:off x="4846320" y="4160520"/>
            <a:ext cx="274320" cy="274320"/>
          </a:xfrm>
          <a:prstGeom prst="rect">
            <a:avLst/>
          </a:prstGeom>
          <a:solidFill>
            <a:srgbClr val="1C2326"/>
          </a:solidFill>
          <a:ln w="12700">
            <a:solidFill>
              <a:srgbClr val="1C2326"/>
            </a:solidFill>
            <a:prstDash val="solid"/>
          </a:ln>
        </p:spPr>
      </p:sp>
      <p:sp>
        <p:nvSpPr>
          <p:cNvPr id="15" name="Text 12"/>
          <p:cNvSpPr txBox="1"/>
          <p:nvPr/>
        </p:nvSpPr>
        <p:spPr>
          <a:xfrm>
            <a:off x="484632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6" name="Text 13"/>
          <p:cNvSpPr txBox="1"/>
          <p:nvPr/>
        </p:nvSpPr>
        <p:spPr>
          <a:xfrm>
            <a:off x="517550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Keine Doppelbelegung</a:t>
            </a:r>
            <a:endParaRPr lang="en-US" sz="950" dirty="0"/>
          </a:p>
        </p:txBody>
      </p:sp>
      <p:sp>
        <p:nvSpPr>
          <p:cNvPr id="17" name="Text 14"/>
          <p:cNvSpPr txBox="1"/>
          <p:nvPr/>
        </p:nvSpPr>
        <p:spPr>
          <a:xfrm>
            <a:off x="457200" y="4480560"/>
            <a:ext cx="5760720" cy="292608"/>
          </a:xfrm>
          <a:prstGeom prst="rect">
            <a:avLst/>
          </a:prstGeom>
          <a:noFill/>
          <a:ln/>
        </p:spPr>
        <p:txBody>
          <a:bodyPr wrap="square" lIns="0" tIns="0" rIns="0" bIns="0" rtlCol="0" anchor="t"/>
          <a:lstStyle/>
          <a:p>
            <a:pPr indent="0" marL="0">
              <a:buNone/>
            </a:pPr>
            <a:r>
              <a:rPr lang="en-US" sz="900" dirty="0">
                <a:solidFill>
                  <a:srgbClr val="5B6468"/>
                </a:solidFill>
                <a:latin typeface="Arial" pitchFamily="34" charset="0"/>
                <a:ea typeface="Arial" pitchFamily="34" charset="-122"/>
                <a:cs typeface="Arial" pitchFamily="34" charset="-120"/>
              </a:rPr>
              <a:t>Nie gebrochen. Verzögert sich Etappe 1 um zwei Monate: 11 Konflikte mit Namen und Grund, Vorschlag Etappe 2 ab November 2027. Ein Klick.</a:t>
            </a:r>
            <a:endParaRPr lang="en-US" sz="900" dirty="0"/>
          </a:p>
        </p:txBody>
      </p:sp>
      <p:sp>
        <p:nvSpPr>
          <p:cNvPr id="18" name="Shape 15"/>
          <p:cNvSpPr/>
          <p:nvPr/>
        </p:nvSpPr>
        <p:spPr>
          <a:xfrm rot="-360000">
            <a:off x="6446520" y="1417320"/>
            <a:ext cx="1370228" cy="2819485"/>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19" name="Image 1" descr="/private/tmp/claude-501/-Users-francescorocca--claude-spares-spare-pTP7p5/c9c54887-e9ac-44ae-bd9c-ebf5f8016333/scratchpad/deck/img/app-siedlung-round.png">    </p:cNvPr>
          <p:cNvPicPr>
            <a:picLocks noChangeAspect="1"/>
          </p:cNvPicPr>
          <p:nvPr/>
        </p:nvPicPr>
        <p:blipFill>
          <a:blip r:embed="rId2">
            <a:alphaModFix amt="85000"/>
          </a:blip>
          <a:stretch>
            <a:fillRect/>
          </a:stretch>
        </p:blipFill>
        <p:spPr>
          <a:xfrm rot="-360000">
            <a:off x="6514414" y="1485214"/>
            <a:ext cx="1234440" cy="2683697"/>
          </a:xfrm>
          <a:prstGeom prst="rect">
            <a:avLst/>
          </a:prstGeom>
        </p:spPr>
      </p:pic>
      <p:sp>
        <p:nvSpPr>
          <p:cNvPr id="20" name="Shape 16"/>
          <p:cNvSpPr/>
          <p:nvPr/>
        </p:nvSpPr>
        <p:spPr>
          <a:xfrm>
            <a:off x="7086600" y="1188720"/>
            <a:ext cx="1522476" cy="3132761"/>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1" name="Image 2" descr="/private/tmp/claude-501/-Users-francescorocca--claude-spares-spare-pTP7p5/c9c54887-e9ac-44ae-bd9c-ebf5f8016333/scratchpad/deck/img/app-mein-umzug-round.png">    </p:cNvPr>
          <p:cNvPicPr>
            <a:picLocks noChangeAspect="1"/>
          </p:cNvPicPr>
          <p:nvPr/>
        </p:nvPicPr>
        <p:blipFill>
          <a:blip r:embed="rId3"/>
          <a:stretch>
            <a:fillRect/>
          </a:stretch>
        </p:blipFill>
        <p:spPr>
          <a:xfrm>
            <a:off x="7162038" y="1264158"/>
            <a:ext cx="1371600" cy="2981885"/>
          </a:xfrm>
          <a:prstGeom prst="rect">
            <a:avLst/>
          </a:prstGeom>
        </p:spPr>
      </p:pic>
      <p:sp>
        <p:nvSpPr>
          <p:cNvPr id="22" name="Text 17"/>
          <p:cNvSpPr txBox="1"/>
          <p:nvPr/>
        </p:nvSpPr>
        <p:spPr>
          <a:xfrm>
            <a:off x="6400800" y="4498848"/>
            <a:ext cx="2286000" cy="320040"/>
          </a:xfrm>
          <a:prstGeom prst="rect">
            <a:avLst/>
          </a:prstGeom>
          <a:noFill/>
          <a:ln/>
        </p:spPr>
        <p:txBody>
          <a:bodyPr wrap="square" lIns="0" tIns="0" rIns="0" bIns="0" rtlCol="0" anchor="ctr"/>
          <a:lstStyle/>
          <a:p>
            <a:pPr algn="ctr" indent="0" marL="0">
              <a:buNone/>
            </a:pPr>
            <a:r>
              <a:rPr lang="en-US" sz="1000" dirty="0">
                <a:solidFill>
                  <a:srgbClr val="5B6468"/>
                </a:solidFill>
                <a:latin typeface="Arial" pitchFamily="34" charset="0"/>
                <a:ea typeface="Arial" pitchFamily="34" charset="-122"/>
                <a:cs typeface="Arial" pitchFamily="34" charset="-120"/>
              </a:rPr>
              <a:t>Bewohnende: Auszug, Wohnung, Rückkehr. Live auf dem Handy.</a:t>
            </a:r>
            <a:endParaRPr lang="en-US" sz="1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Wie wir Geld verdienen: pro Sanierungsprojekt, von der Eigentümerschaft.</a:t>
            </a:r>
            <a:endParaRPr lang="en-US" sz="3000" dirty="0"/>
          </a:p>
        </p:txBody>
      </p:sp>
      <p:sp>
        <p:nvSpPr>
          <p:cNvPr id="3" name="Shape 1"/>
          <p:cNvSpPr/>
          <p:nvPr/>
        </p:nvSpPr>
        <p:spPr>
          <a:xfrm>
            <a:off x="457200" y="1280160"/>
            <a:ext cx="1783080" cy="2240280"/>
          </a:xfrm>
          <a:prstGeom prst="rect">
            <a:avLst/>
          </a:prstGeom>
          <a:solidFill>
            <a:srgbClr val="FDEBDD"/>
          </a:solidFill>
          <a:ln w="12700">
            <a:solidFill>
              <a:srgbClr val="FDEBDD"/>
            </a:solidFill>
            <a:prstDash val="solid"/>
          </a:ln>
        </p:spPr>
      </p:sp>
      <p:sp>
        <p:nvSpPr>
          <p:cNvPr id="4" name="Shape 2"/>
          <p:cNvSpPr/>
          <p:nvPr/>
        </p:nvSpPr>
        <p:spPr>
          <a:xfrm>
            <a:off x="594360" y="1389888"/>
            <a:ext cx="274320" cy="274320"/>
          </a:xfrm>
          <a:prstGeom prst="rect">
            <a:avLst/>
          </a:prstGeom>
          <a:solidFill>
            <a:srgbClr val="B8460E"/>
          </a:solidFill>
          <a:ln w="12700">
            <a:solidFill>
              <a:srgbClr val="B8460E"/>
            </a:solidFill>
            <a:prstDash val="solid"/>
          </a:ln>
        </p:spPr>
      </p:sp>
      <p:sp>
        <p:nvSpPr>
          <p:cNvPr id="5" name="Text 3"/>
          <p:cNvSpPr txBox="1"/>
          <p:nvPr/>
        </p:nvSpPr>
        <p:spPr>
          <a:xfrm>
            <a:off x="59436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6" name="Text 4"/>
          <p:cNvSpPr txBox="1"/>
          <p:nvPr/>
        </p:nvSpPr>
        <p:spPr>
          <a:xfrm>
            <a:off x="96012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Projektlizenz</a:t>
            </a:r>
            <a:endParaRPr lang="en-US" sz="1100" dirty="0"/>
          </a:p>
        </p:txBody>
      </p:sp>
      <p:sp>
        <p:nvSpPr>
          <p:cNvPr id="7" name="Text 5"/>
          <p:cNvSpPr txBox="1"/>
          <p:nvPr/>
        </p:nvSpPr>
        <p:spPr>
          <a:xfrm>
            <a:off x="594360" y="1783080"/>
            <a:ext cx="1554480" cy="502920"/>
          </a:xfrm>
          <a:prstGeom prst="rect">
            <a:avLst/>
          </a:prstGeom>
          <a:noFill/>
          <a:ln/>
        </p:spPr>
        <p:txBody>
          <a:bodyPr wrap="square" lIns="0" tIns="0" rIns="0" bIns="0" rtlCol="0" anchor="t"/>
          <a:lstStyle/>
          <a:p>
            <a:pPr indent="0" marL="0">
              <a:buNone/>
            </a:pPr>
            <a:r>
              <a:rPr lang="en-US" sz="1300" b="1" dirty="0">
                <a:solidFill>
                  <a:srgbClr val="B8460E"/>
                </a:solidFill>
                <a:latin typeface="Arial" pitchFamily="34" charset="0"/>
                <a:ea typeface="Arial" pitchFamily="34" charset="-122"/>
                <a:cs typeface="Arial" pitchFamily="34" charset="-120"/>
              </a:rPr>
              <a:t>1 ‰ der Sanierungssumme</a:t>
            </a:r>
            <a:endParaRPr lang="en-US" sz="1300" dirty="0"/>
          </a:p>
        </p:txBody>
      </p:sp>
      <p:sp>
        <p:nvSpPr>
          <p:cNvPr id="8" name="Text 6"/>
          <p:cNvSpPr txBox="1"/>
          <p:nvPr/>
        </p:nvSpPr>
        <p:spPr>
          <a:xfrm>
            <a:off x="59436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mindestens CHF 5'000. Enthält Planung, Bewohner-App und Live-Updates. 10 Mio. → CHF 10'000.</a:t>
            </a:r>
            <a:endParaRPr lang="en-US" sz="850" dirty="0"/>
          </a:p>
        </p:txBody>
      </p:sp>
      <p:sp>
        <p:nvSpPr>
          <p:cNvPr id="9" name="Text 7"/>
          <p:cNvSpPr txBox="1"/>
          <p:nvPr/>
        </p:nvSpPr>
        <p:spPr>
          <a:xfrm>
            <a:off x="59436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heute</a:t>
            </a:r>
            <a:endParaRPr lang="en-US" sz="750" dirty="0"/>
          </a:p>
        </p:txBody>
      </p:sp>
      <p:sp>
        <p:nvSpPr>
          <p:cNvPr id="10" name="Shape 8"/>
          <p:cNvSpPr/>
          <p:nvPr/>
        </p:nvSpPr>
        <p:spPr>
          <a:xfrm>
            <a:off x="2331720" y="1280160"/>
            <a:ext cx="1783080" cy="2240280"/>
          </a:xfrm>
          <a:prstGeom prst="rect">
            <a:avLst/>
          </a:prstGeom>
          <a:solidFill>
            <a:srgbClr val="E2ECEE"/>
          </a:solidFill>
          <a:ln w="12700">
            <a:solidFill>
              <a:srgbClr val="E2ECEE"/>
            </a:solidFill>
            <a:prstDash val="solid"/>
          </a:ln>
        </p:spPr>
      </p:sp>
      <p:sp>
        <p:nvSpPr>
          <p:cNvPr id="11" name="Shape 9"/>
          <p:cNvSpPr/>
          <p:nvPr/>
        </p:nvSpPr>
        <p:spPr>
          <a:xfrm>
            <a:off x="2468880" y="1389888"/>
            <a:ext cx="274320" cy="274320"/>
          </a:xfrm>
          <a:prstGeom prst="rect">
            <a:avLst/>
          </a:prstGeom>
          <a:solidFill>
            <a:srgbClr val="24414A"/>
          </a:solidFill>
          <a:ln w="12700">
            <a:solidFill>
              <a:srgbClr val="24414A"/>
            </a:solidFill>
            <a:prstDash val="solid"/>
          </a:ln>
        </p:spPr>
      </p:sp>
      <p:sp>
        <p:nvSpPr>
          <p:cNvPr id="12" name="Text 10"/>
          <p:cNvSpPr txBox="1"/>
          <p:nvPr/>
        </p:nvSpPr>
        <p:spPr>
          <a:xfrm>
            <a:off x="246888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txBox="1"/>
          <p:nvPr/>
        </p:nvSpPr>
        <p:spPr>
          <a:xfrm>
            <a:off x="283464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Nachweis-Dossier</a:t>
            </a:r>
            <a:endParaRPr lang="en-US" sz="1100" dirty="0"/>
          </a:p>
        </p:txBody>
      </p:sp>
      <p:sp>
        <p:nvSpPr>
          <p:cNvPr id="14" name="Text 12"/>
          <p:cNvSpPr txBox="1"/>
          <p:nvPr/>
        </p:nvSpPr>
        <p:spPr>
          <a:xfrm>
            <a:off x="2468880" y="1783080"/>
            <a:ext cx="1554480" cy="502920"/>
          </a:xfrm>
          <a:prstGeom prst="rect">
            <a:avLst/>
          </a:prstGeom>
          <a:noFill/>
          <a:ln/>
        </p:spPr>
        <p:txBody>
          <a:bodyPr wrap="square" lIns="0" tIns="0" rIns="0" bIns="0" rtlCol="0" anchor="t"/>
          <a:lstStyle/>
          <a:p>
            <a:pPr indent="0" marL="0">
              <a:buNone/>
            </a:pPr>
            <a:r>
              <a:rPr lang="en-US" sz="1300" b="1" dirty="0">
                <a:solidFill>
                  <a:srgbClr val="24414A"/>
                </a:solidFill>
                <a:latin typeface="Arial" pitchFamily="34" charset="0"/>
                <a:ea typeface="Arial" pitchFamily="34" charset="-122"/>
                <a:cs typeface="Arial" pitchFamily="34" charset="-120"/>
              </a:rPr>
              <a:t>im Preis enthalten</a:t>
            </a:r>
            <a:endParaRPr lang="en-US" sz="1300" dirty="0"/>
          </a:p>
        </p:txBody>
      </p:sp>
      <p:sp>
        <p:nvSpPr>
          <p:cNvPr id="15" name="Text 13"/>
          <p:cNvSpPr txBox="1"/>
          <p:nvPr/>
        </p:nvSpPr>
        <p:spPr>
          <a:xfrm>
            <a:off x="246888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Export für das Baugesuch: bewohnt oder etappiert geprüft. In Zürich ab 20 Mietverhältnissen Pflicht, unser Türöffner.</a:t>
            </a:r>
            <a:endParaRPr lang="en-US" sz="850" dirty="0"/>
          </a:p>
        </p:txBody>
      </p:sp>
      <p:sp>
        <p:nvSpPr>
          <p:cNvPr id="16" name="Text 14"/>
          <p:cNvSpPr txBox="1"/>
          <p:nvPr/>
        </p:nvSpPr>
        <p:spPr>
          <a:xfrm>
            <a:off x="246888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heute</a:t>
            </a:r>
            <a:endParaRPr lang="en-US" sz="750" dirty="0"/>
          </a:p>
        </p:txBody>
      </p:sp>
      <p:sp>
        <p:nvSpPr>
          <p:cNvPr id="17" name="Shape 15"/>
          <p:cNvSpPr/>
          <p:nvPr/>
        </p:nvSpPr>
        <p:spPr>
          <a:xfrm>
            <a:off x="4206240" y="1280160"/>
            <a:ext cx="1783080" cy="2240280"/>
          </a:xfrm>
          <a:prstGeom prst="rect">
            <a:avLst/>
          </a:prstGeom>
          <a:solidFill>
            <a:srgbClr val="F1EDE6"/>
          </a:solidFill>
          <a:ln w="12700">
            <a:solidFill>
              <a:srgbClr val="F1EDE6"/>
            </a:solidFill>
            <a:prstDash val="solid"/>
          </a:ln>
        </p:spPr>
      </p:sp>
      <p:sp>
        <p:nvSpPr>
          <p:cNvPr id="18" name="Shape 16"/>
          <p:cNvSpPr/>
          <p:nvPr/>
        </p:nvSpPr>
        <p:spPr>
          <a:xfrm>
            <a:off x="4343400" y="1389888"/>
            <a:ext cx="274320" cy="274320"/>
          </a:xfrm>
          <a:prstGeom prst="rect">
            <a:avLst/>
          </a:prstGeom>
          <a:solidFill>
            <a:srgbClr val="1C2326"/>
          </a:solidFill>
          <a:ln w="12700">
            <a:solidFill>
              <a:srgbClr val="1C2326"/>
            </a:solidFill>
            <a:prstDash val="solid"/>
          </a:ln>
        </p:spPr>
      </p:sp>
      <p:sp>
        <p:nvSpPr>
          <p:cNvPr id="19" name="Text 17"/>
          <p:cNvSpPr txBox="1"/>
          <p:nvPr/>
        </p:nvSpPr>
        <p:spPr>
          <a:xfrm>
            <a:off x="434340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470916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Portfolio-Abo</a:t>
            </a:r>
            <a:endParaRPr lang="en-US" sz="1100" dirty="0"/>
          </a:p>
        </p:txBody>
      </p:sp>
      <p:sp>
        <p:nvSpPr>
          <p:cNvPr id="21" name="Text 19"/>
          <p:cNvSpPr txBox="1"/>
          <p:nvPr/>
        </p:nvSpPr>
        <p:spPr>
          <a:xfrm>
            <a:off x="4343400" y="1783080"/>
            <a:ext cx="1554480" cy="502920"/>
          </a:xfrm>
          <a:prstGeom prst="rect">
            <a:avLst/>
          </a:prstGeom>
          <a:noFill/>
          <a:ln/>
        </p:spPr>
        <p:txBody>
          <a:bodyPr wrap="square" lIns="0" tIns="0" rIns="0" bIns="0" rtlCol="0" anchor="t"/>
          <a:lstStyle/>
          <a:p>
            <a:pPr indent="0" marL="0">
              <a:buNone/>
            </a:pPr>
            <a:r>
              <a:rPr lang="en-US" sz="1300" b="1" dirty="0">
                <a:solidFill>
                  <a:srgbClr val="1C2326"/>
                </a:solidFill>
                <a:latin typeface="Arial" pitchFamily="34" charset="0"/>
                <a:ea typeface="Arial" pitchFamily="34" charset="-122"/>
                <a:cs typeface="Arial" pitchFamily="34" charset="-120"/>
              </a:rPr>
              <a:t>CHF 2'000 pro Monat</a:t>
            </a:r>
            <a:endParaRPr lang="en-US" sz="1300" dirty="0"/>
          </a:p>
        </p:txBody>
      </p:sp>
      <p:sp>
        <p:nvSpPr>
          <p:cNvPr id="22" name="Text 20"/>
          <p:cNvSpPr txBox="1"/>
          <p:nvPr/>
        </p:nvSpPr>
        <p:spPr>
          <a:xfrm>
            <a:off x="434340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für Pensionskassen und grosse Genossenschaften mit mehreren Sanierungen pro Jahr. Annahme, ab 2028.</a:t>
            </a:r>
            <a:endParaRPr lang="en-US" sz="850" dirty="0"/>
          </a:p>
        </p:txBody>
      </p:sp>
      <p:sp>
        <p:nvSpPr>
          <p:cNvPr id="23" name="Text 21"/>
          <p:cNvSpPr txBox="1"/>
          <p:nvPr/>
        </p:nvSpPr>
        <p:spPr>
          <a:xfrm>
            <a:off x="434340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später</a:t>
            </a:r>
            <a:endParaRPr lang="en-US" sz="750" dirty="0"/>
          </a:p>
        </p:txBody>
      </p:sp>
      <p:sp>
        <p:nvSpPr>
          <p:cNvPr id="24" name="Shape 22"/>
          <p:cNvSpPr/>
          <p:nvPr/>
        </p:nvSpPr>
        <p:spPr>
          <a:xfrm>
            <a:off x="6172200" y="1280160"/>
            <a:ext cx="2514600" cy="2240280"/>
          </a:xfrm>
          <a:prstGeom prst="rect">
            <a:avLst/>
          </a:prstGeom>
          <a:solidFill>
            <a:srgbClr val="24414A"/>
          </a:solidFill>
          <a:ln w="12700">
            <a:solidFill>
              <a:srgbClr val="24414A"/>
            </a:solidFill>
            <a:prstDash val="solid"/>
          </a:ln>
        </p:spPr>
      </p:sp>
      <p:sp>
        <p:nvSpPr>
          <p:cNvPr id="25" name="Text 23"/>
          <p:cNvSpPr txBox="1"/>
          <p:nvPr/>
        </p:nvSpPr>
        <p:spPr>
          <a:xfrm>
            <a:off x="6355080" y="1371600"/>
            <a:ext cx="2194560" cy="274320"/>
          </a:xfrm>
          <a:prstGeom prst="rect">
            <a:avLst/>
          </a:prstGeom>
          <a:noFill/>
          <a:ln/>
        </p:spPr>
        <p:txBody>
          <a:bodyPr wrap="square" lIns="0" tIns="0" rIns="0" bIns="0" rtlCol="0" anchor="ctr"/>
          <a:lstStyle/>
          <a:p>
            <a:pPr indent="0" marL="0">
              <a:buNone/>
            </a:pPr>
            <a:r>
              <a:rPr lang="en-US" sz="900" b="1" dirty="0">
                <a:solidFill>
                  <a:srgbClr val="B5C9CE"/>
                </a:solidFill>
                <a:latin typeface="Arial" pitchFamily="34" charset="0"/>
                <a:ea typeface="Arial" pitchFamily="34" charset="-122"/>
                <a:cs typeface="Arial" pitchFamily="34" charset="-120"/>
              </a:rPr>
              <a:t>Rechenbeispiel für den Kunden</a:t>
            </a:r>
            <a:endParaRPr lang="en-US" sz="900" dirty="0"/>
          </a:p>
        </p:txBody>
      </p:sp>
      <p:sp>
        <p:nvSpPr>
          <p:cNvPr id="26" name="Text 24"/>
          <p:cNvSpPr txBox="1"/>
          <p:nvPr/>
        </p:nvSpPr>
        <p:spPr>
          <a:xfrm>
            <a:off x="6355080" y="1645920"/>
            <a:ext cx="2194560" cy="457200"/>
          </a:xfrm>
          <a:prstGeom prst="rect">
            <a:avLst/>
          </a:prstGeom>
          <a:noFill/>
          <a:ln/>
        </p:spPr>
        <p:txBody>
          <a:bodyPr wrap="square" lIns="0" tIns="0" rIns="0" bIns="0" rtlCol="0" anchor="ctr"/>
          <a:lstStyle/>
          <a:p>
            <a:pPr indent="0" marL="0">
              <a:buNone/>
            </a:pPr>
            <a:r>
              <a:rPr lang="en-US" sz="2400" b="1" dirty="0">
                <a:solidFill>
                  <a:srgbClr val="F26A1B"/>
                </a:solidFill>
                <a:latin typeface="Arial" pitchFamily="34" charset="0"/>
                <a:ea typeface="Arial" pitchFamily="34" charset="-122"/>
                <a:cs typeface="Arial" pitchFamily="34" charset="-120"/>
              </a:rPr>
              <a:t>CHF 216'000</a:t>
            </a:r>
            <a:endParaRPr lang="en-US" sz="2400" dirty="0"/>
          </a:p>
        </p:txBody>
      </p:sp>
      <p:sp>
        <p:nvSpPr>
          <p:cNvPr id="27" name="Text 25"/>
          <p:cNvSpPr txBox="1"/>
          <p:nvPr/>
        </p:nvSpPr>
        <p:spPr>
          <a:xfrm>
            <a:off x="6355080" y="2148840"/>
            <a:ext cx="2194560" cy="777240"/>
          </a:xfrm>
          <a:prstGeom prst="rect">
            <a:avLst/>
          </a:prstGeom>
          <a:noFill/>
          <a:ln/>
        </p:spPr>
        <p:txBody>
          <a:bodyPr wrap="square" lIns="0" tIns="0" rIns="0" bIns="0" rtlCol="0" anchor="t"/>
          <a:lstStyle/>
          <a:p>
            <a:pPr indent="0" marL="0">
              <a:buNone/>
            </a:pPr>
            <a:r>
              <a:rPr lang="en-US" sz="900" dirty="0">
                <a:solidFill>
                  <a:srgbClr val="FFFFFF"/>
                </a:solidFill>
                <a:latin typeface="Arial" pitchFamily="34" charset="0"/>
                <a:ea typeface="Arial" pitchFamily="34" charset="-122"/>
                <a:cs typeface="Arial" pitchFamily="34" charset="-120"/>
              </a:rPr>
              <a:t>Mietzinsausfall bei Leerkündigung: 24 Wohnungen × CHF 1'500 × 6 Monate Bauzeit. Die Rochade hält die Mieten am Laufen.</a:t>
            </a:r>
            <a:endParaRPr lang="en-US" sz="900" dirty="0"/>
          </a:p>
        </p:txBody>
      </p:sp>
      <p:sp>
        <p:nvSpPr>
          <p:cNvPr id="28" name="Text 26"/>
          <p:cNvSpPr txBox="1"/>
          <p:nvPr/>
        </p:nvSpPr>
        <p:spPr>
          <a:xfrm>
            <a:off x="6355080" y="2971800"/>
            <a:ext cx="2194560" cy="457200"/>
          </a:xfrm>
          <a:prstGeom prst="rect">
            <a:avLst/>
          </a:prstGeom>
          <a:noFill/>
          <a:ln/>
        </p:spPr>
        <p:txBody>
          <a:bodyPr wrap="square" lIns="0" tIns="0" rIns="0" bIns="0" rtlCol="0" anchor="t"/>
          <a:lstStyle/>
          <a:p>
            <a:pPr indent="0" marL="0">
              <a:buNone/>
            </a:pPr>
            <a:r>
              <a:rPr lang="en-US" sz="900" b="1" dirty="0">
                <a:solidFill>
                  <a:srgbClr val="D4E1E5"/>
                </a:solidFill>
                <a:latin typeface="Arial" pitchFamily="34" charset="0"/>
                <a:ea typeface="Arial" pitchFamily="34" charset="-122"/>
                <a:cs typeface="Arial" pitchFamily="34" charset="-120"/>
              </a:rPr>
              <a:t>Lizenz dafür: CHF 10'000. Eine Woche Bauverzug kostet mehr.</a:t>
            </a:r>
            <a:endParaRPr lang="en-US" sz="900" dirty="0"/>
          </a:p>
        </p:txBody>
      </p:sp>
      <p:sp>
        <p:nvSpPr>
          <p:cNvPr id="29" name="Shape 27"/>
          <p:cNvSpPr/>
          <p:nvPr/>
        </p:nvSpPr>
        <p:spPr>
          <a:xfrm>
            <a:off x="457200" y="3657600"/>
            <a:ext cx="2651760" cy="960120"/>
          </a:xfrm>
          <a:prstGeom prst="rect">
            <a:avLst/>
          </a:prstGeom>
          <a:solidFill>
            <a:srgbClr val="FFFFFF"/>
          </a:solidFill>
          <a:ln w="9525">
            <a:solidFill>
              <a:srgbClr val="E3DDD4"/>
            </a:solidFill>
            <a:prstDash val="solid"/>
          </a:ln>
        </p:spPr>
      </p:sp>
      <p:sp>
        <p:nvSpPr>
          <p:cNvPr id="30" name="Text 28"/>
          <p:cNvSpPr txBox="1"/>
          <p:nvPr/>
        </p:nvSpPr>
        <p:spPr>
          <a:xfrm>
            <a:off x="64008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Kosten pro Projekt</a:t>
            </a:r>
            <a:endParaRPr lang="en-US" sz="850" dirty="0"/>
          </a:p>
        </p:txBody>
      </p:sp>
      <p:sp>
        <p:nvSpPr>
          <p:cNvPr id="31" name="Text 29"/>
          <p:cNvSpPr txBox="1"/>
          <p:nvPr/>
        </p:nvSpPr>
        <p:spPr>
          <a:xfrm>
            <a:off x="64008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rund CHF 2'000</a:t>
            </a:r>
            <a:endParaRPr lang="en-US" sz="1500" dirty="0"/>
          </a:p>
        </p:txBody>
      </p:sp>
      <p:sp>
        <p:nvSpPr>
          <p:cNvPr id="32" name="Text 30"/>
          <p:cNvSpPr txBox="1"/>
          <p:nvPr/>
        </p:nvSpPr>
        <p:spPr>
          <a:xfrm>
            <a:off x="64008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zwei Tage Onboarding und Support</a:t>
            </a:r>
            <a:endParaRPr lang="en-US" sz="850" dirty="0"/>
          </a:p>
        </p:txBody>
      </p:sp>
      <p:sp>
        <p:nvSpPr>
          <p:cNvPr id="33" name="Shape 31"/>
          <p:cNvSpPr/>
          <p:nvPr/>
        </p:nvSpPr>
        <p:spPr>
          <a:xfrm>
            <a:off x="3246120" y="3657600"/>
            <a:ext cx="2651760" cy="960120"/>
          </a:xfrm>
          <a:prstGeom prst="rect">
            <a:avLst/>
          </a:prstGeom>
          <a:solidFill>
            <a:srgbClr val="FFFFFF"/>
          </a:solidFill>
          <a:ln w="9525">
            <a:solidFill>
              <a:srgbClr val="E3DDD4"/>
            </a:solidFill>
            <a:prstDash val="solid"/>
          </a:ln>
        </p:spPr>
      </p:sp>
      <p:sp>
        <p:nvSpPr>
          <p:cNvPr id="34" name="Text 32"/>
          <p:cNvSpPr txBox="1"/>
          <p:nvPr/>
        </p:nvSpPr>
        <p:spPr>
          <a:xfrm>
            <a:off x="342900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Fixkosten Jahr 1</a:t>
            </a:r>
            <a:endParaRPr lang="en-US" sz="850" dirty="0"/>
          </a:p>
        </p:txBody>
      </p:sp>
      <p:sp>
        <p:nvSpPr>
          <p:cNvPr id="35" name="Text 33"/>
          <p:cNvSpPr txBox="1"/>
          <p:nvPr/>
        </p:nvSpPr>
        <p:spPr>
          <a:xfrm>
            <a:off x="342900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CHF 120'000</a:t>
            </a:r>
            <a:endParaRPr lang="en-US" sz="1500" dirty="0"/>
          </a:p>
        </p:txBody>
      </p:sp>
      <p:sp>
        <p:nvSpPr>
          <p:cNvPr id="36" name="Text 34"/>
          <p:cNvSpPr txBox="1"/>
          <p:nvPr/>
        </p:nvSpPr>
        <p:spPr>
          <a:xfrm>
            <a:off x="342900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1,5 Stellen, Hosting, Vertrieb</a:t>
            </a:r>
            <a:endParaRPr lang="en-US" sz="850" dirty="0"/>
          </a:p>
        </p:txBody>
      </p:sp>
      <p:sp>
        <p:nvSpPr>
          <p:cNvPr id="37" name="Shape 35"/>
          <p:cNvSpPr/>
          <p:nvPr/>
        </p:nvSpPr>
        <p:spPr>
          <a:xfrm>
            <a:off x="6035040" y="3657600"/>
            <a:ext cx="2651760" cy="960120"/>
          </a:xfrm>
          <a:prstGeom prst="rect">
            <a:avLst/>
          </a:prstGeom>
          <a:solidFill>
            <a:srgbClr val="FFFFFF"/>
          </a:solidFill>
          <a:ln w="9525">
            <a:solidFill>
              <a:srgbClr val="E3DDD4"/>
            </a:solidFill>
            <a:prstDash val="solid"/>
          </a:ln>
        </p:spPr>
      </p:sp>
      <p:sp>
        <p:nvSpPr>
          <p:cNvPr id="38" name="Text 36"/>
          <p:cNvSpPr txBox="1"/>
          <p:nvPr/>
        </p:nvSpPr>
        <p:spPr>
          <a:xfrm>
            <a:off x="621792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Break-even</a:t>
            </a:r>
            <a:endParaRPr lang="en-US" sz="850" dirty="0"/>
          </a:p>
        </p:txBody>
      </p:sp>
      <p:sp>
        <p:nvSpPr>
          <p:cNvPr id="39" name="Text 37"/>
          <p:cNvSpPr txBox="1"/>
          <p:nvPr/>
        </p:nvSpPr>
        <p:spPr>
          <a:xfrm>
            <a:off x="621792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12 Projekte pro Jahr</a:t>
            </a:r>
            <a:endParaRPr lang="en-US" sz="1500" dirty="0"/>
          </a:p>
        </p:txBody>
      </p:sp>
      <p:sp>
        <p:nvSpPr>
          <p:cNvPr id="40" name="Text 38"/>
          <p:cNvSpPr txBox="1"/>
          <p:nvPr/>
        </p:nvSpPr>
        <p:spPr>
          <a:xfrm>
            <a:off x="621792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danach rund 80 % Marge pro Projekt</a:t>
            </a:r>
            <a:endParaRPr lang="en-US" sz="850" dirty="0"/>
          </a:p>
        </p:txBody>
      </p:sp>
      <p:sp>
        <p:nvSpPr>
          <p:cNvPr id="41" name="Text 39"/>
          <p:cNvSpPr txBox="1"/>
          <p:nvPr/>
        </p:nvSpPr>
        <p:spPr>
          <a:xfrm>
            <a:off x="457200" y="4626864"/>
            <a:ext cx="822960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Preise, Kosten und Rechenbeispiel sind Annahmen, die wir in den Pilotgesprächen prüfen.</a:t>
            </a:r>
            <a:endParaRPr lang="en-US" sz="7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Der Markt: jede Sanierung ab 20 Wohnungen. Ein Rochade-Werkzeug fehlt.</a:t>
            </a:r>
            <a:endParaRPr lang="en-US" sz="3000" dirty="0"/>
          </a:p>
        </p:txBody>
      </p:sp>
      <p:sp>
        <p:nvSpPr>
          <p:cNvPr id="3" name="Shape 1"/>
          <p:cNvSpPr/>
          <p:nvPr/>
        </p:nvSpPr>
        <p:spPr>
          <a:xfrm>
            <a:off x="457200" y="1280160"/>
            <a:ext cx="3474720" cy="1005840"/>
          </a:xfrm>
          <a:prstGeom prst="rect">
            <a:avLst/>
          </a:prstGeom>
          <a:solidFill>
            <a:srgbClr val="E2ECEE"/>
          </a:solidFill>
          <a:ln w="12700">
            <a:solidFill>
              <a:srgbClr val="E2ECEE"/>
            </a:solidFill>
            <a:prstDash val="solid"/>
          </a:ln>
        </p:spPr>
      </p:sp>
      <p:sp>
        <p:nvSpPr>
          <p:cNvPr id="4" name="Text 2"/>
          <p:cNvSpPr txBox="1"/>
          <p:nvPr/>
        </p:nvSpPr>
        <p:spPr>
          <a:xfrm>
            <a:off x="640080" y="1353312"/>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Markt Schweiz</a:t>
            </a:r>
            <a:endParaRPr lang="en-US" sz="900" dirty="0"/>
          </a:p>
        </p:txBody>
      </p:sp>
      <p:sp>
        <p:nvSpPr>
          <p:cNvPr id="5" name="Text 3"/>
          <p:cNvSpPr txBox="1"/>
          <p:nvPr/>
        </p:nvSpPr>
        <p:spPr>
          <a:xfrm>
            <a:off x="640080" y="1572768"/>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&gt; 2'000 Häuser pro Jahr</a:t>
            </a:r>
            <a:endParaRPr lang="en-US" sz="1300" dirty="0"/>
          </a:p>
        </p:txBody>
      </p:sp>
      <p:sp>
        <p:nvSpPr>
          <p:cNvPr id="6" name="Text 4"/>
          <p:cNvSpPr txBox="1"/>
          <p:nvPr/>
        </p:nvSpPr>
        <p:spPr>
          <a:xfrm>
            <a:off x="640080" y="1883664"/>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werden komplett leergekündigt; über 1 Mio. Wohngebäude sind sanierungsbedürftig, saniert wird 1 % pro Jahr.</a:t>
            </a:r>
            <a:endParaRPr lang="en-US" sz="850" dirty="0"/>
          </a:p>
        </p:txBody>
      </p:sp>
      <p:sp>
        <p:nvSpPr>
          <p:cNvPr id="7" name="Shape 5"/>
          <p:cNvSpPr/>
          <p:nvPr/>
        </p:nvSpPr>
        <p:spPr>
          <a:xfrm>
            <a:off x="457200" y="2395728"/>
            <a:ext cx="3474720" cy="1005840"/>
          </a:xfrm>
          <a:prstGeom prst="rect">
            <a:avLst/>
          </a:prstGeom>
          <a:solidFill>
            <a:srgbClr val="FDEBDD"/>
          </a:solidFill>
          <a:ln w="12700">
            <a:solidFill>
              <a:srgbClr val="FDEBDD"/>
            </a:solidFill>
            <a:prstDash val="solid"/>
          </a:ln>
        </p:spPr>
      </p:sp>
      <p:sp>
        <p:nvSpPr>
          <p:cNvPr id="8" name="Text 6"/>
          <p:cNvSpPr txBox="1"/>
          <p:nvPr/>
        </p:nvSpPr>
        <p:spPr>
          <a:xfrm>
            <a:off x="640080" y="2468880"/>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Erster Markt Zürich</a:t>
            </a:r>
            <a:endParaRPr lang="en-US" sz="900" dirty="0"/>
          </a:p>
        </p:txBody>
      </p:sp>
      <p:sp>
        <p:nvSpPr>
          <p:cNvPr id="9" name="Text 7"/>
          <p:cNvSpPr txBox="1"/>
          <p:nvPr/>
        </p:nvSpPr>
        <p:spPr>
          <a:xfrm>
            <a:off x="640080" y="2688336"/>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58'100 gemeinnützige Wohnungen</a:t>
            </a:r>
            <a:endParaRPr lang="en-US" sz="1300" dirty="0"/>
          </a:p>
        </p:txBody>
      </p:sp>
      <p:sp>
        <p:nvSpPr>
          <p:cNvPr id="10" name="Text 8"/>
          <p:cNvSpPr txBox="1"/>
          <p:nvPr/>
        </p:nvSpPr>
        <p:spPr>
          <a:xfrm>
            <a:off x="640080" y="2999232"/>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27 % der Mietwohnungen, Ziel 2050 ein Drittel. Genossenschaften dürfen nicht kündigen und sanieren in Etappen.</a:t>
            </a:r>
            <a:endParaRPr lang="en-US" sz="850" dirty="0"/>
          </a:p>
        </p:txBody>
      </p:sp>
      <p:sp>
        <p:nvSpPr>
          <p:cNvPr id="11" name="Shape 9"/>
          <p:cNvSpPr/>
          <p:nvPr/>
        </p:nvSpPr>
        <p:spPr>
          <a:xfrm>
            <a:off x="457200" y="3511296"/>
            <a:ext cx="3474720" cy="1005840"/>
          </a:xfrm>
          <a:prstGeom prst="rect">
            <a:avLst/>
          </a:prstGeom>
          <a:solidFill>
            <a:srgbClr val="F1EDE6"/>
          </a:solidFill>
          <a:ln w="12700">
            <a:solidFill>
              <a:srgbClr val="F1EDE6"/>
            </a:solidFill>
            <a:prstDash val="solid"/>
          </a:ln>
        </p:spPr>
      </p:sp>
      <p:sp>
        <p:nvSpPr>
          <p:cNvPr id="12" name="Text 10"/>
          <p:cNvSpPr txBox="1"/>
          <p:nvPr/>
        </p:nvSpPr>
        <p:spPr>
          <a:xfrm>
            <a:off x="640080" y="3584448"/>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Einstieg</a:t>
            </a:r>
            <a:endParaRPr lang="en-US" sz="900" dirty="0"/>
          </a:p>
        </p:txBody>
      </p:sp>
      <p:sp>
        <p:nvSpPr>
          <p:cNvPr id="13" name="Text 11"/>
          <p:cNvSpPr txBox="1"/>
          <p:nvPr/>
        </p:nvSpPr>
        <p:spPr>
          <a:xfrm>
            <a:off x="640080" y="3803904"/>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Pilot 2027, zwei Genossenschaften</a:t>
            </a:r>
            <a:endParaRPr lang="en-US" sz="1300" dirty="0"/>
          </a:p>
        </p:txBody>
      </p:sp>
      <p:sp>
        <p:nvSpPr>
          <p:cNvPr id="14" name="Text 12"/>
          <p:cNvSpPr txBox="1"/>
          <p:nvPr/>
        </p:nvSpPr>
        <p:spPr>
          <a:xfrm>
            <a:off x="640080" y="4114800"/>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gratis gegen echte Daten. Dann über die Verbände. Hebel: die Zürcher Prüfpflicht.</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0" y="1280160"/>
          <a:ext cx="4572000" cy="914400"/>
        </p:xfrm>
        <a:graphic>
          <a:graphicData uri="http://schemas.openxmlformats.org/drawingml/2006/table">
            <a:tbl>
              <a:tblPr/>
              <a:tblGrid>
                <a:gridCol w="1554480"/>
                <a:gridCol w="1005840"/>
                <a:gridCol w="1051560"/>
                <a:gridCol w="96012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Werkzeug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Verträge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Vermietung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Garaio REM</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Abacus AbaImmo</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Rimo R5</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emonitor, Flatfox</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Excel</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von Hand</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r>
            </a:tbl>
          </a:graphicData>
        </a:graphic>
      </p:graphicFrame>
      <p:sp>
        <p:nvSpPr>
          <p:cNvPr id="16" name="Text 13"/>
          <p:cNvSpPr txBox="1"/>
          <p:nvPr/>
        </p:nvSpPr>
        <p:spPr>
          <a:xfrm>
            <a:off x="4114800" y="4023360"/>
            <a:ext cx="4572000" cy="54864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Produktseiten, 24. Oktober 2026. Die Bewirtschaftungs-Software kennt Verträge, die Vermietungsplattformen die Interessenten. Die Rochade plant niemand. In Grossbritannien existiert «Decant» für Mieterumzüge.</a:t>
            </a:r>
            <a:endParaRPr lang="en-US" sz="8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457200" y="1280160"/>
            <a:ext cx="8229600" cy="12801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Jede Rochade, die gelingt, ist eine Kündigung, die nicht geschrieben wird.</a:t>
            </a:r>
            <a:endParaRPr lang="en-US" sz="3200" dirty="0"/>
          </a:p>
        </p:txBody>
      </p:sp>
      <p:sp>
        <p:nvSpPr>
          <p:cNvPr id="9" name="Shape 7"/>
          <p:cNvSpPr/>
          <p:nvPr/>
        </p:nvSpPr>
        <p:spPr>
          <a:xfrm>
            <a:off x="457200" y="2743200"/>
            <a:ext cx="2651760" cy="868680"/>
          </a:xfrm>
          <a:prstGeom prst="rect">
            <a:avLst/>
          </a:prstGeom>
          <a:solidFill>
            <a:srgbClr val="2F525C"/>
          </a:solidFill>
          <a:ln w="12700">
            <a:solidFill>
              <a:srgbClr val="2F525C"/>
            </a:solidFill>
            <a:prstDash val="solid"/>
          </a:ln>
        </p:spPr>
      </p:sp>
      <p:sp>
        <p:nvSpPr>
          <p:cNvPr id="10" name="Text 8"/>
          <p:cNvSpPr txBox="1"/>
          <p:nvPr/>
        </p:nvSpPr>
        <p:spPr>
          <a:xfrm>
            <a:off x="64008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Zwei Pilot-Genossenschaften</a:t>
            </a:r>
            <a:endParaRPr lang="en-US" sz="1300" dirty="0"/>
          </a:p>
        </p:txBody>
      </p:sp>
      <p:sp>
        <p:nvSpPr>
          <p:cNvPr id="11" name="Text 9"/>
          <p:cNvSpPr txBox="1"/>
          <p:nvPr/>
        </p:nvSpPr>
        <p:spPr>
          <a:xfrm>
            <a:off x="64008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Etappensanierung 2027</a:t>
            </a:r>
            <a:endParaRPr lang="en-US" sz="1100" dirty="0"/>
          </a:p>
        </p:txBody>
      </p:sp>
      <p:sp>
        <p:nvSpPr>
          <p:cNvPr id="12" name="Shape 10"/>
          <p:cNvSpPr/>
          <p:nvPr/>
        </p:nvSpPr>
        <p:spPr>
          <a:xfrm>
            <a:off x="3246120" y="2743200"/>
            <a:ext cx="2651760" cy="868680"/>
          </a:xfrm>
          <a:prstGeom prst="rect">
            <a:avLst/>
          </a:prstGeom>
          <a:solidFill>
            <a:srgbClr val="2F525C"/>
          </a:solidFill>
          <a:ln w="12700">
            <a:solidFill>
              <a:srgbClr val="2F525C"/>
            </a:solidFill>
            <a:prstDash val="solid"/>
          </a:ln>
        </p:spPr>
      </p:sp>
      <p:sp>
        <p:nvSpPr>
          <p:cNvPr id="13" name="Text 11"/>
          <p:cNvSpPr txBox="1"/>
          <p:nvPr/>
        </p:nvSpPr>
        <p:spPr>
          <a:xfrm>
            <a:off x="342900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Ein Gespräch</a:t>
            </a:r>
            <a:endParaRPr lang="en-US" sz="1300" dirty="0"/>
          </a:p>
        </p:txBody>
      </p:sp>
      <p:sp>
        <p:nvSpPr>
          <p:cNvPr id="14" name="Text 12"/>
          <p:cNvSpPr txBox="1"/>
          <p:nvPr/>
        </p:nvSpPr>
        <p:spPr>
          <a:xfrm>
            <a:off x="342900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mit einer Bewirtschaftung</a:t>
            </a:r>
            <a:endParaRPr lang="en-US" sz="1100" dirty="0"/>
          </a:p>
        </p:txBody>
      </p:sp>
      <p:sp>
        <p:nvSpPr>
          <p:cNvPr id="15" name="Shape 13"/>
          <p:cNvSpPr/>
          <p:nvPr/>
        </p:nvSpPr>
        <p:spPr>
          <a:xfrm>
            <a:off x="6035040" y="2743200"/>
            <a:ext cx="2651760" cy="868680"/>
          </a:xfrm>
          <a:prstGeom prst="rect">
            <a:avLst/>
          </a:prstGeom>
          <a:solidFill>
            <a:srgbClr val="2F525C"/>
          </a:solidFill>
          <a:ln w="12700">
            <a:solidFill>
              <a:srgbClr val="2F525C"/>
            </a:solidFill>
            <a:prstDash val="solid"/>
          </a:ln>
        </p:spPr>
      </p:sp>
      <p:sp>
        <p:nvSpPr>
          <p:cNvPr id="16" name="Text 14"/>
          <p:cNvSpPr txBox="1"/>
          <p:nvPr/>
        </p:nvSpPr>
        <p:spPr>
          <a:xfrm>
            <a:off x="621792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Euer Feedback</a:t>
            </a:r>
            <a:endParaRPr lang="en-US" sz="1300" dirty="0"/>
          </a:p>
        </p:txBody>
      </p:sp>
      <p:sp>
        <p:nvSpPr>
          <p:cNvPr id="17" name="Text 15"/>
          <p:cNvSpPr txBox="1"/>
          <p:nvPr/>
        </p:nvSpPr>
        <p:spPr>
          <a:xfrm>
            <a:off x="621792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heute</a:t>
            </a:r>
            <a:endParaRPr lang="en-US" sz="1100" dirty="0"/>
          </a:p>
        </p:txBody>
      </p:sp>
      <p:sp>
        <p:nvSpPr>
          <p:cNvPr id="18" name="Text 16"/>
          <p:cNvSpPr txBox="1"/>
          <p:nvPr/>
        </p:nvSpPr>
        <p:spPr>
          <a:xfrm>
            <a:off x="457200" y="3794760"/>
            <a:ext cx="8229600" cy="457200"/>
          </a:xfrm>
          <a:prstGeom prst="rect">
            <a:avLst/>
          </a:prstGeom>
          <a:noFill/>
          <a:ln/>
        </p:spPr>
        <p:txBody>
          <a:bodyPr wrap="square" lIns="0" tIns="0" rIns="0" bIns="0" rtlCol="0" anchor="t"/>
          <a:lstStyle/>
          <a:p>
            <a:pPr indent="0" marL="0">
              <a:buNone/>
            </a:pPr>
            <a:r>
              <a:rPr lang="en-US" sz="1100" dirty="0">
                <a:solidFill>
                  <a:srgbClr val="D4E1E5"/>
                </a:solidFill>
                <a:latin typeface="Arial" pitchFamily="34" charset="0"/>
                <a:ea typeface="Arial" pitchFamily="34" charset="-122"/>
                <a:cs typeface="Arial" pitchFamily="34" charset="-120"/>
              </a:rPr>
              <a:t>Nach 24 Stunden: Website mit belegten Zahlen · Prototyp mit 24 Haushalten und Regel-Planer · App für Bewohnende mit Live-Update · Rechtslage und Parteien in vier Kantonen geklärt</a:t>
            </a:r>
            <a:endParaRPr lang="en-US" sz="1100" dirty="0"/>
          </a:p>
        </p:txBody>
      </p:sp>
      <p:sp>
        <p:nvSpPr>
          <p:cNvPr id="19"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100" dirty="0">
                <a:solidFill>
                  <a:srgbClr val="B5C9CE"/>
                </a:solidFill>
                <a:latin typeface="Arial" pitchFamily="34" charset="0"/>
                <a:ea typeface="Arial" pitchFamily="34" charset="-122"/>
                <a:cs typeface="Arial" pitchFamily="34" charset="-120"/>
              </a:rPr>
              <a:t>Team ROCHADE · Francesco (Website, Pitch) · Alex (App, Solver, Design) · [weitere eintragen]</a:t>
            </a:r>
            <a:endParaRPr lang="en-US" sz="1100" dirty="0"/>
          </a:p>
        </p:txBody>
      </p:sp>
      <p:sp>
        <p:nvSpPr>
          <p:cNvPr id="21"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2026-10-24T06:05:57Z</dcterms:created>
  <dcterms:modified xsi:type="dcterms:W3CDTF">2026-10-24T06:05:57Z</dcterms:modified>
</cp:coreProperties>
</file>