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a865eb49-ba47-eb03-8b30-9db74dc192df}">
          <p14:sldIdLst>
            <p14:sldId id="256"/>
            <p14:sldId id="257"/>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Häuser</c:v>
                </c:pt>
              </c:strCache>
            </c:strRef>
          </c:tx>
          <c:spPr>
            <a:solidFill>
              <a:srgbClr val="F26A1B"/>
            </a:solidFill>
            <a:effectLst/>
          </c:spPr>
          <c:invertIfNegative val="0"/>
          <c:dLbls>
            <c:numFmt formatCode="#,##0" sourceLinked="0"/>
            <c:txPr>
              <a:bodyPr/>
              <a:lstStyle/>
              <a:p>
                <a:pPr>
                  <a:defRPr b="1" i="0" strike="noStrike" sz="1300" u="none">
                    <a:solidFill>
                      <a:srgbClr val="1C2326"/>
                    </a:solidFill>
                    <a:latin typeface="+mn-lt"/>
                  </a:defRPr>
                </a:pPr>
              </a:p>
            </c:txPr>
            <c:showLegendKey val="0"/>
            <c:showVal val="1"/>
            <c:showCatName val="0"/>
            <c:showSerName val="0"/>
            <c:showPercent val="0"/>
            <c:showBubbleSize val="0"/>
            <c:showLeaderLines val="0"/>
          </c:dLbls>
          <c:dPt>
            <c:idx val="0"/>
            <c:invertIfNegative val="0"/>
            <c:bubble3D val="0"/>
            <c:spPr>
              <a:solidFill>
                <a:srgbClr val="F26A1B"/>
              </a:solidFill>
              <a:effectLst/>
            </c:spPr>
          </c:dPt>
          <c:dPt>
            <c:idx val="1"/>
            <c:invertIfNegative val="0"/>
            <c:bubble3D val="0"/>
            <c:spPr>
              <a:solidFill>
                <a:srgbClr val="24414A"/>
              </a:solidFill>
              <a:effectLst/>
            </c:spPr>
          </c:dPt>
          <c:dPt>
            <c:idx val="2"/>
            <c:invertIfNegative val="0"/>
            <c:bubble3D val="0"/>
            <c:spPr>
              <a:solidFill>
                <a:srgbClr val="8A8178"/>
              </a:solidFill>
              <a:effectLst/>
            </c:spPr>
          </c:dPt>
          <c:cat>
            <c:multiLvlStrRef>
              <c:f>Sheet1!$A$2:$A$4</c:f>
              <c:multiLvlStrCache>
                <c:ptCount val="3"/>
                <c:lvl>
                  <c:pt idx="0">
                    <c:v>Zürich</c:v>
                  </c:pt>
                  <c:pt idx="1">
                    <c:v>Basel</c:v>
                  </c:pt>
                  <c:pt idx="2">
                    <c:v>Genf</c:v>
                  </c:pt>
                </c:lvl>
              </c:multiLvlStrCache>
            </c:multiLvlStrRef>
          </c:cat>
          <c:val>
            <c:numRef>
              <c:f>Sheet1!$B$2:$B$4</c:f>
              <c:numCache>
                <c:formatCode>General</c:formatCode>
                <c:ptCount val="3"/>
                <c:pt idx="0">
                  <c:v>1270</c:v>
                </c:pt>
                <c:pt idx="1">
                  <c:v>380</c:v>
                </c:pt>
                <c:pt idx="2">
                  <c:v>100</c:v>
                </c:pt>
              </c:numCache>
            </c:numRef>
          </c:val>
        </c:ser>
        <c:dLbls>
          <c:numFmt formatCode="#,##0" sourceLinked="0"/>
          <c:txPr>
            <a:bodyPr/>
            <a:lstStyle/>
            <a:p>
              <a:pPr>
                <a:defRPr b="1" i="0" strike="noStrike" sz="1300" u="none">
                  <a:solidFill>
                    <a:srgbClr val="1C23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C2326"/>
                </a:solidFill>
                <a:latin typeface="+mn-lt"/>
              </a:defRPr>
            </a:pPr>
            <a:endParaRPr lang="en-US"/>
          </a:p>
        </c:txPr>
        <c:crossAx val="2094734552"/>
        <c:crosses val="autoZero"/>
        <c:auto val="1"/>
        <c:lblAlgn val="ctr"/>
        <c:noMultiLvlLbl val="1"/>
      </c:catAx>
      <c:valAx>
        <c:axId val="2094734552"/>
        <c:scaling>
          <c:orientation val="minMax"/>
          <c:max val="15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Frau Meier, 78, wohnt seit 1994 in Höngg. Dann kommt der Brief: Sanierung, alle müssen raus. Wir sind ROCHADE. Wir sorgen dafür, dass dieser Brief nicht mehr geschrieben werden muss.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Das ist kein Einzelfall. 2018 bis 2022 wurden in der Schweiz 10'900 Mehrfamilienhäuser komplett leergekündigt, knapp 30'000 Menschen pro Jahr. 1'270 Häuser allein in der Stadt Zürich, Basel 380, Genf mit seinen strengen Regeln rund 100. Und jedes vierte geleerte Haus in Zürich gehörte einer Genossenschaft, also genau denen, die niemanden rauswerfen wollen.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[0:45–1:10] Wer raus muss, findet bei 0,11 Prozent Leerstand nichts und zahlt im Neubau rund 30 Prozent mehr. Die Fachstelle Zürich im Alter schätzt: Jede zehnte Anmeldung fürs Altersheim hat eine Kündigung oder Sanierung als Grund. Und für Eigentümer ist es ein Risiko: Bei den Sugus-Häusern im Kreis 5 haben rund 100 Haushalte sich gewehrt, Schlichtungsbehörde und Mietgericht haben die Kündigungen für ungültig erklärt.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[1:10–1:35] Es geht anders: die Rochade. Frau Meier zieht für fünf Monate in eine freie Wohnung in der Siedlung, ihre eigene wird saniert, dann kommt sie zurück, zur gleichen Miete. Die Uni Zürich nennt das die mit Abstand effektivste Massnahme. Aber: Die Genossenschaft bgnzwo macht es gerade in Höngg mit 49 Mietparteien und hat den vierfachen Aufwand, weil alles von Hand geplant wird.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[1:35–2:10] Darum bauen wir ROCHADE. Die Verwaltung sieht die ganze Siedlung: Haus A wird saniert, die acht Haushalte sitzen in freien Wohnungen von Haus B, Haus C und zwei externen. Die Bewohnenden sehen auf dem Handy nur, was sie betrifft: Auszug, Wohnung, Rückkehr. Ändert die Verwaltung einen Termin, ist er in unter einer Sekunde auf dem Handy.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[2:10–2:35] Vier Regeln, die nie gebrochen werden: Zimmerzahl, Hindernisfreiheit, Zeitfenster, keine Doppelbelegung. Verzögert sich Etappe 1 um zwei Monate, sagt ROCHADE: 11 Konflikte. Für Hr. Aydin fehlt ab Juni 2027 eine 2,5-Zimmer-Wohnung. Und: Etappe 2 ab November 2027 löst alles. Ein Klick. In Excel wäre das ein Wochenende.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[2:35–2:55] Bezahlt wird pro Sanierungsprojekt von der Eigentümerschaft: ein Promille der Sanierungssumme, mindestens 5'000 Franken. Bei 10 Millionen sind das 10'000 Franken, eine Woche Bauverzögerung kostet mehr. Mit zwölf Projekten im Jahr sind wir kostendeckend. Das sind Annahmen, die wir in den Pilotgesprächen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[2:55–3:20] In Zürich sind 58'100 Wohnungen gemeinnützig, über eine Million Gebäude in der Schweiz sind sanierungsbedürftig. Und das Recht zieht nach: Seit dem Ja zum Gegenvorschlag im Juni müssen Zürcher Eigentümer zuerst prüfen, ob bewohnt oder etappenweise saniert werden kann. Das ist genau unser Nachweis. In Luzern wird um das Wohnraum-Erhaltungsgesetz gekämpft, in Zug ist die Leerkündigung von 68 Wohnungen gescheitert, Schwyz hat nur Bundesrecht, aber die am stärksten steigenden Mieten.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[3:20–3:40] Wir starten mit zwei Pilot-Genossenschaften in Zürich, gratis gegen echte Daten, dann über die Verbände. Konkurrenz: Garaio, Abacus und Rimo kennen Verträge, emonitor und Flatfox die Vermietung. Die Rochade plant niemand, ausser Excel, von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[3:40–4:00] Nach 24 Stunden stehen Website, Prototyp und App. Was wir jetzt brauchen: zwei Pilot-Genossenschaften, die 2027 eine Etappensanierung planen, ein Gespräch mit einer Bewirtschaftung, und euer Feedback. Jede Rochade, die gelingt, ist eine Kündigung, die nicht geschrieben wird. Danke.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457200" y="4818888"/>
            <a:ext cx="7315200" cy="201168"/>
          </a:xfrm>
          <a:prstGeom prst="rect">
            <a:avLst/>
          </a:prstGeom>
          <a:noFill/>
          <a:ln/>
        </p:spPr>
        <p:txBody>
          <a:bodyPr wrap="square" lIns="0" tIns="0" rIns="0" bIns="0" rtlCol="0" anchor="ctr"/>
          <a:lstStyle/>
          <a:p>
            <a:pPr indent="0" marL="0">
              <a:buNone/>
            </a:pPr>
            <a:r>
              <a:rPr lang="en-US" sz="800" dirty="0">
                <a:solidFill>
                  <a:schemeClr val="tx1">
                    <a:alpha val="45000"/>
                  </a:schemeClr>
                </a:solidFill>
              </a:rPr>
              <a:t>ROCHADE · ZentralHack 2026 · Quellen: ROCHADE_Quellen_und_Fakten.md</a:t>
            </a:r>
            <a:endParaRPr lang="en-US" sz="800" dirty="0"/>
          </a:p>
        </p:txBody>
      </p:sp>
      <p:sp>
        <p:nvSpPr>
          <p:cNvPr id="3" name="Text 1"/>
          <p:cNvSpPr/>
          <p:nvPr>
            <p:ph idx="101" type="title" hasCustomPrompt="1"/>
          </p:nvPr>
        </p:nvSpPr>
        <p:spPr>
          <a:xfrm>
            <a:off x="457200" y="320040"/>
            <a:ext cx="8229600"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82296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05206" y="505206"/>
            <a:ext cx="96012" cy="96012"/>
          </a:xfrm>
          <a:prstGeom prst="rect">
            <a:avLst/>
          </a:prstGeom>
          <a:ln w="48006">
            <a:solidFill>
              <a:srgbClr val="FFFFFF"/>
            </a:solidFill>
            <a:prstDash val="solid"/>
          </a:ln>
        </p:spPr>
      </p:sp>
      <p:sp>
        <p:nvSpPr>
          <p:cNvPr id="3" name="Shape 1"/>
          <p:cNvSpPr/>
          <p:nvPr/>
        </p:nvSpPr>
        <p:spPr>
          <a:xfrm>
            <a:off x="625221" y="529209"/>
            <a:ext cx="48006" cy="48006"/>
          </a:xfrm>
          <a:prstGeom prst="rect">
            <a:avLst/>
          </a:prstGeom>
          <a:solidFill>
            <a:srgbClr val="FFFFFF"/>
          </a:solidFill>
          <a:ln w="12700">
            <a:solidFill>
              <a:srgbClr val="FFFFFF"/>
            </a:solidFill>
            <a:prstDash val="solid"/>
          </a:ln>
        </p:spPr>
      </p:sp>
      <p:sp>
        <p:nvSpPr>
          <p:cNvPr id="4" name="Shape 2"/>
          <p:cNvSpPr/>
          <p:nvPr/>
        </p:nvSpPr>
        <p:spPr>
          <a:xfrm>
            <a:off x="673227" y="481203"/>
            <a:ext cx="144018" cy="144018"/>
          </a:xfrm>
          <a:prstGeom prst="rect">
            <a:avLst/>
          </a:prstGeom>
          <a:solidFill>
            <a:srgbClr val="FFFFFF"/>
          </a:solidFill>
          <a:ln w="12700">
            <a:solidFill>
              <a:srgbClr val="FFFFFF"/>
            </a:solidFill>
            <a:prstDash val="solid"/>
          </a:ln>
        </p:spPr>
      </p:sp>
      <p:sp>
        <p:nvSpPr>
          <p:cNvPr id="5" name="Shape 3"/>
          <p:cNvSpPr/>
          <p:nvPr/>
        </p:nvSpPr>
        <p:spPr>
          <a:xfrm>
            <a:off x="481203" y="673227"/>
            <a:ext cx="144018" cy="144018"/>
          </a:xfrm>
          <a:prstGeom prst="rect">
            <a:avLst/>
          </a:prstGeom>
          <a:solidFill>
            <a:srgbClr val="FFFFFF"/>
          </a:solidFill>
          <a:ln w="12700">
            <a:solidFill>
              <a:srgbClr val="FFFFFF"/>
            </a:solidFill>
            <a:prstDash val="solid"/>
          </a:ln>
        </p:spPr>
      </p:sp>
      <p:sp>
        <p:nvSpPr>
          <p:cNvPr id="6" name="Shape 4"/>
          <p:cNvSpPr/>
          <p:nvPr/>
        </p:nvSpPr>
        <p:spPr>
          <a:xfrm>
            <a:off x="625221" y="721233"/>
            <a:ext cx="48006" cy="48006"/>
          </a:xfrm>
          <a:prstGeom prst="rect">
            <a:avLst/>
          </a:prstGeom>
          <a:solidFill>
            <a:srgbClr val="FFFFFF"/>
          </a:solidFill>
          <a:ln w="12700">
            <a:solidFill>
              <a:srgbClr val="FFFFFF"/>
            </a:solidFill>
            <a:prstDash val="solid"/>
          </a:ln>
        </p:spPr>
      </p:sp>
      <p:sp>
        <p:nvSpPr>
          <p:cNvPr id="7" name="Shape 5"/>
          <p:cNvSpPr/>
          <p:nvPr/>
        </p:nvSpPr>
        <p:spPr>
          <a:xfrm>
            <a:off x="697230" y="697230"/>
            <a:ext cx="96012" cy="96012"/>
          </a:xfrm>
          <a:prstGeom prst="rect">
            <a:avLst/>
          </a:prstGeom>
          <a:ln w="48006">
            <a:solidFill>
              <a:srgbClr val="FFFFFF"/>
            </a:solidFill>
            <a:prstDash val="solid"/>
          </a:ln>
        </p:spPr>
      </p:sp>
      <p:sp>
        <p:nvSpPr>
          <p:cNvPr id="8" name="Text 6"/>
          <p:cNvSpPr txBox="1"/>
          <p:nvPr/>
        </p:nvSpPr>
        <p:spPr>
          <a:xfrm>
            <a:off x="975665" y="449519"/>
            <a:ext cx="2743200" cy="384048"/>
          </a:xfrm>
          <a:prstGeom prst="rect">
            <a:avLst/>
          </a:prstGeom>
          <a:noFill/>
          <a:ln/>
        </p:spPr>
        <p:txBody>
          <a:bodyPr wrap="square" lIns="0" tIns="0" rIns="0" bIns="0" rtlCol="0" anchor="ctr"/>
          <a:lstStyle/>
          <a:p>
            <a:pPr indent="0" marL="0">
              <a:buNone/>
            </a:pPr>
            <a:r>
              <a:rPr lang="en-US" sz="1680" b="1" spc="400" kern="0" dirty="0">
                <a:solidFill>
                  <a:srgbClr val="FFFFFF"/>
                </a:solidFill>
                <a:latin typeface="Arial" pitchFamily="34" charset="0"/>
                <a:ea typeface="Arial" pitchFamily="34" charset="-122"/>
                <a:cs typeface="Arial" pitchFamily="34" charset="-120"/>
              </a:rPr>
              <a:t>ROCHADE</a:t>
            </a:r>
            <a:endParaRPr lang="en-US" sz="1680" dirty="0"/>
          </a:p>
        </p:txBody>
      </p:sp>
      <p:sp>
        <p:nvSpPr>
          <p:cNvPr id="9" name="Text 7"/>
          <p:cNvSpPr txBox="1"/>
          <p:nvPr/>
        </p:nvSpPr>
        <p:spPr>
          <a:xfrm>
            <a:off x="457200" y="1371600"/>
            <a:ext cx="7863840" cy="1737360"/>
          </a:xfrm>
          <a:prstGeom prst="rect">
            <a:avLst/>
          </a:prstGeom>
          <a:noFill/>
          <a:ln/>
        </p:spPr>
        <p:txBody>
          <a:bodyPr wrap="square" lIns="0" tIns="0" rIns="0" bIns="0" rtlCol="0" anchor="t"/>
          <a:lstStyle/>
          <a:p>
            <a:pPr indent="0" marL="0">
              <a:buNone/>
            </a:pPr>
            <a:r>
              <a:rPr lang="en-US" sz="5200" b="1" dirty="0">
                <a:solidFill>
                  <a:srgbClr val="FFFFFF"/>
                </a:solidFill>
                <a:latin typeface="Arial" pitchFamily="34" charset="0"/>
                <a:ea typeface="Arial" pitchFamily="34" charset="-122"/>
                <a:cs typeface="Arial" pitchFamily="34" charset="-120"/>
              </a:rPr>
              <a:t>Sanieren, ohne jemanden rauszuwerfen.</a:t>
            </a:r>
            <a:endParaRPr lang="en-US" sz="5200" dirty="0"/>
          </a:p>
        </p:txBody>
      </p:sp>
      <p:sp>
        <p:nvSpPr>
          <p:cNvPr id="10" name="Text 8"/>
          <p:cNvSpPr txBox="1"/>
          <p:nvPr/>
        </p:nvSpPr>
        <p:spPr>
          <a:xfrm>
            <a:off x="457200" y="3154680"/>
            <a:ext cx="6035040" cy="731520"/>
          </a:xfrm>
          <a:prstGeom prst="rect">
            <a:avLst/>
          </a:prstGeom>
          <a:noFill/>
          <a:ln/>
        </p:spPr>
        <p:txBody>
          <a:bodyPr wrap="square" lIns="0" tIns="0" rIns="0" bIns="0" rtlCol="0" anchor="t"/>
          <a:lstStyle/>
          <a:p>
            <a:pPr indent="0" marL="0">
              <a:buNone/>
            </a:pPr>
            <a:r>
              <a:rPr lang="en-US" sz="1800" dirty="0">
                <a:solidFill>
                  <a:srgbClr val="D4E1E5"/>
                </a:solidFill>
                <a:latin typeface="Arial" pitchFamily="34" charset="0"/>
                <a:ea typeface="Arial" pitchFamily="34" charset="-122"/>
                <a:cs typeface="Arial" pitchFamily="34" charset="-120"/>
              </a:rPr>
              <a:t>ROCHADE plant, wer während einer Sanierung wann in welche freie Wohnung zieht. Und wann zurück.</a:t>
            </a:r>
            <a:endParaRPr lang="en-US" sz="1800" dirty="0"/>
          </a:p>
        </p:txBody>
      </p:sp>
      <p:sp>
        <p:nvSpPr>
          <p:cNvPr id="11" name="Shape 9"/>
          <p:cNvSpPr/>
          <p:nvPr/>
        </p:nvSpPr>
        <p:spPr>
          <a:xfrm>
            <a:off x="7246620" y="2994660"/>
            <a:ext cx="411480" cy="411480"/>
          </a:xfrm>
          <a:prstGeom prst="rect">
            <a:avLst/>
          </a:prstGeom>
          <a:ln w="205740">
            <a:solidFill>
              <a:srgbClr val="2F525C"/>
            </a:solidFill>
            <a:prstDash val="solid"/>
          </a:ln>
        </p:spPr>
      </p:sp>
      <p:sp>
        <p:nvSpPr>
          <p:cNvPr id="12" name="Shape 10"/>
          <p:cNvSpPr/>
          <p:nvPr/>
        </p:nvSpPr>
        <p:spPr>
          <a:xfrm>
            <a:off x="7760970" y="3097530"/>
            <a:ext cx="205740" cy="205740"/>
          </a:xfrm>
          <a:prstGeom prst="rect">
            <a:avLst/>
          </a:prstGeom>
          <a:solidFill>
            <a:srgbClr val="2F525C"/>
          </a:solidFill>
          <a:ln w="12700">
            <a:solidFill>
              <a:srgbClr val="2F525C"/>
            </a:solidFill>
            <a:prstDash val="solid"/>
          </a:ln>
        </p:spPr>
      </p:sp>
      <p:sp>
        <p:nvSpPr>
          <p:cNvPr id="13" name="Shape 11"/>
          <p:cNvSpPr/>
          <p:nvPr/>
        </p:nvSpPr>
        <p:spPr>
          <a:xfrm>
            <a:off x="7966710" y="2891790"/>
            <a:ext cx="617220" cy="617220"/>
          </a:xfrm>
          <a:prstGeom prst="rect">
            <a:avLst/>
          </a:prstGeom>
          <a:solidFill>
            <a:srgbClr val="2F525C"/>
          </a:solidFill>
          <a:ln w="12700">
            <a:solidFill>
              <a:srgbClr val="2F525C"/>
            </a:solidFill>
            <a:prstDash val="solid"/>
          </a:ln>
        </p:spPr>
      </p:sp>
      <p:sp>
        <p:nvSpPr>
          <p:cNvPr id="14" name="Shape 12"/>
          <p:cNvSpPr/>
          <p:nvPr/>
        </p:nvSpPr>
        <p:spPr>
          <a:xfrm>
            <a:off x="7143750" y="3714750"/>
            <a:ext cx="617220" cy="617220"/>
          </a:xfrm>
          <a:prstGeom prst="rect">
            <a:avLst/>
          </a:prstGeom>
          <a:solidFill>
            <a:srgbClr val="2F525C"/>
          </a:solidFill>
          <a:ln w="12700">
            <a:solidFill>
              <a:srgbClr val="2F525C"/>
            </a:solidFill>
            <a:prstDash val="solid"/>
          </a:ln>
        </p:spPr>
      </p:sp>
      <p:sp>
        <p:nvSpPr>
          <p:cNvPr id="15" name="Shape 13"/>
          <p:cNvSpPr/>
          <p:nvPr/>
        </p:nvSpPr>
        <p:spPr>
          <a:xfrm>
            <a:off x="7760970" y="3920490"/>
            <a:ext cx="205740" cy="205740"/>
          </a:xfrm>
          <a:prstGeom prst="rect">
            <a:avLst/>
          </a:prstGeom>
          <a:solidFill>
            <a:srgbClr val="2F525C"/>
          </a:solidFill>
          <a:ln w="12700">
            <a:solidFill>
              <a:srgbClr val="2F525C"/>
            </a:solidFill>
            <a:prstDash val="solid"/>
          </a:ln>
        </p:spPr>
      </p:sp>
      <p:sp>
        <p:nvSpPr>
          <p:cNvPr id="16" name="Shape 14"/>
          <p:cNvSpPr/>
          <p:nvPr/>
        </p:nvSpPr>
        <p:spPr>
          <a:xfrm>
            <a:off x="8069580" y="3817620"/>
            <a:ext cx="411480" cy="411480"/>
          </a:xfrm>
          <a:prstGeom prst="rect">
            <a:avLst/>
          </a:prstGeom>
          <a:ln w="205740">
            <a:solidFill>
              <a:srgbClr val="2F525C"/>
            </a:solidFill>
            <a:prstDash val="solid"/>
          </a:ln>
        </p:spPr>
      </p:sp>
      <p:sp>
        <p:nvSpPr>
          <p:cNvPr id="17" name="Text 15"/>
          <p:cNvSpPr txBox="1"/>
          <p:nvPr/>
        </p:nvSpPr>
        <p:spPr>
          <a:xfrm>
            <a:off x="457200" y="4389120"/>
            <a:ext cx="4572000" cy="274320"/>
          </a:xfrm>
          <a:prstGeom prst="rect">
            <a:avLst/>
          </a:prstGeom>
          <a:noFill/>
          <a:ln/>
        </p:spPr>
        <p:txBody>
          <a:bodyPr wrap="square" lIns="0" tIns="0" rIns="0" bIns="0" rtlCol="0" anchor="ctr"/>
          <a:lstStyle/>
          <a:p>
            <a:pPr indent="0" marL="0">
              <a:buNone/>
            </a:pPr>
            <a:r>
              <a:rPr lang="en-US" sz="1200" dirty="0">
                <a:solidFill>
                  <a:srgbClr val="B5C9CE"/>
                </a:solidFill>
                <a:latin typeface="Arial" pitchFamily="34" charset="0"/>
                <a:ea typeface="Arial" pitchFamily="34" charset="-122"/>
                <a:cs typeface="Arial" pitchFamily="34" charset="-120"/>
              </a:rPr>
              <a:t>Team ROCHADE · Francesco · Alex</a:t>
            </a:r>
            <a:endParaRPr lang="en-US" sz="1200" dirty="0"/>
          </a:p>
        </p:txBody>
      </p:sp>
      <p:sp>
        <p:nvSpPr>
          <p:cNvPr id="18" name="Text 16"/>
          <p:cNvSpPr txBox="1"/>
          <p:nvPr/>
        </p:nvSpPr>
        <p:spPr>
          <a:xfrm>
            <a:off x="4572000" y="4389120"/>
            <a:ext cx="4114800" cy="274320"/>
          </a:xfrm>
          <a:prstGeom prst="rect">
            <a:avLst/>
          </a:prstGeom>
          <a:noFill/>
          <a:ln/>
        </p:spPr>
        <p:txBody>
          <a:bodyPr wrap="square" lIns="0" tIns="0" rIns="0" bIns="0" rtlCol="0" anchor="ctr"/>
          <a:lstStyle/>
          <a:p>
            <a:pPr algn="r" indent="0" marL="0">
              <a:buNone/>
            </a:pPr>
            <a:r>
              <a:rPr lang="en-US" sz="1200" dirty="0">
                <a:solidFill>
                  <a:srgbClr val="B5C9CE"/>
                </a:solidFill>
                <a:latin typeface="Arial" pitchFamily="34" charset="0"/>
                <a:ea typeface="Arial" pitchFamily="34" charset="-122"/>
                <a:cs typeface="Arial" pitchFamily="34" charset="-120"/>
              </a:rPr>
              <a:t>ZentralHack 2026 · SDG 11.1 Bezahlbarer Wohnraum</a:t>
            </a:r>
            <a:endParaRPr lang="en-US" sz="1200" dirty="0"/>
          </a:p>
        </p:txBody>
      </p:sp>
      <p:sp>
        <p:nvSpPr>
          <p:cNvPr id="20" name="Text 0"/>
          <p:cNvSpPr/>
          <p:nvPr>
            <p:ph idx="100" type="title" hasCustomPrompt="1"/>
          </p:nvPr>
        </p:nvSpPr>
        <p:spPr>
          <a:xfrm>
            <a:off x="457200" y="320040"/>
            <a:ext cx="8229600" cy="822960"/>
          </a:xfrm>
          <a:prstGeom prst="rect">
            <a:avLst/>
          </a:prstGeom>
          <a:noFill/>
          <a:ln/>
        </p:spPr>
        <p:txBody>
          <a:bodyPr wrap="square" lIns="0" tIns="0" rIns="0" bIns="0" rtlCol="0" anchor="t"/>
          <a:lstStyle/>
          <a:p>
            <a:pPr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Wer saniert, kündigt. Allen.</a:t>
            </a:r>
            <a:endParaRPr lang="en-US" sz="3000" dirty="0"/>
          </a:p>
        </p:txBody>
      </p:sp>
      <p:sp>
        <p:nvSpPr>
          <p:cNvPr id="3" name="Shape 1"/>
          <p:cNvSpPr/>
          <p:nvPr/>
        </p:nvSpPr>
        <p:spPr>
          <a:xfrm>
            <a:off x="457200" y="1280160"/>
            <a:ext cx="3383280" cy="3291840"/>
          </a:xfrm>
          <a:prstGeom prst="roundRect">
            <a:avLst>
              <a:gd name="adj" fmla="val 3889"/>
            </a:avLst>
          </a:prstGeom>
          <a:solidFill>
            <a:srgbClr val="24414A"/>
          </a:solidFill>
          <a:ln w="12700">
            <a:solidFill>
              <a:srgbClr val="24414A"/>
            </a:solidFill>
            <a:prstDash val="solid"/>
          </a:ln>
        </p:spPr>
      </p:sp>
      <p:sp>
        <p:nvSpPr>
          <p:cNvPr id="4" name="Text 2"/>
          <p:cNvSpPr txBox="1"/>
          <p:nvPr/>
        </p:nvSpPr>
        <p:spPr>
          <a:xfrm>
            <a:off x="731520" y="1463040"/>
            <a:ext cx="2926080" cy="822960"/>
          </a:xfrm>
          <a:prstGeom prst="rect">
            <a:avLst/>
          </a:prstGeom>
          <a:noFill/>
          <a:ln/>
        </p:spPr>
        <p:txBody>
          <a:bodyPr wrap="square" lIns="0" tIns="0" rIns="0" bIns="0" rtlCol="0" anchor="ctr"/>
          <a:lstStyle/>
          <a:p>
            <a:pPr indent="0" marL="0">
              <a:buNone/>
            </a:pPr>
            <a:r>
              <a:rPr lang="en-US" sz="5800" b="1" dirty="0">
                <a:solidFill>
                  <a:srgbClr val="FFFFFF"/>
                </a:solidFill>
                <a:latin typeface="Arial" pitchFamily="34" charset="0"/>
                <a:ea typeface="Arial" pitchFamily="34" charset="-122"/>
                <a:cs typeface="Arial" pitchFamily="34" charset="-120"/>
              </a:rPr>
              <a:t>10'900</a:t>
            </a:r>
            <a:endParaRPr lang="en-US" sz="5800" dirty="0"/>
          </a:p>
        </p:txBody>
      </p:sp>
      <p:sp>
        <p:nvSpPr>
          <p:cNvPr id="5" name="Text 3"/>
          <p:cNvSpPr txBox="1"/>
          <p:nvPr/>
        </p:nvSpPr>
        <p:spPr>
          <a:xfrm>
            <a:off x="731520" y="2331720"/>
            <a:ext cx="2834640" cy="82296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Mehrfamilienhäuser in der Schweiz komplett leergekündigt, 2018 bis 2022.</a:t>
            </a:r>
            <a:endParaRPr lang="en-US" sz="1500" dirty="0"/>
          </a:p>
        </p:txBody>
      </p:sp>
      <p:sp>
        <p:nvSpPr>
          <p:cNvPr id="6" name="Text 4"/>
          <p:cNvSpPr txBox="1"/>
          <p:nvPr/>
        </p:nvSpPr>
        <p:spPr>
          <a:xfrm>
            <a:off x="731520" y="3200400"/>
            <a:ext cx="2834640" cy="365760"/>
          </a:xfrm>
          <a:prstGeom prst="rect">
            <a:avLst/>
          </a:prstGeom>
          <a:noFill/>
          <a:ln/>
        </p:spPr>
        <p:txBody>
          <a:bodyPr wrap="square" lIns="0" tIns="0" rIns="0" bIns="0" rtlCol="0" anchor="ctr"/>
          <a:lstStyle/>
          <a:p>
            <a:pPr indent="0" marL="0">
              <a:buNone/>
            </a:pPr>
            <a:r>
              <a:rPr lang="en-US" sz="1800" b="1" dirty="0">
                <a:solidFill>
                  <a:srgbClr val="F26A1B"/>
                </a:solidFill>
                <a:latin typeface="Arial" pitchFamily="34" charset="0"/>
                <a:ea typeface="Arial" pitchFamily="34" charset="-122"/>
                <a:cs typeface="Arial" pitchFamily="34" charset="-120"/>
              </a:rPr>
              <a:t>30'000 Menschen pro Jahr</a:t>
            </a:r>
            <a:endParaRPr lang="en-US" sz="1800" dirty="0"/>
          </a:p>
        </p:txBody>
      </p:sp>
      <p:sp>
        <p:nvSpPr>
          <p:cNvPr id="7" name="Text 5"/>
          <p:cNvSpPr txBox="1"/>
          <p:nvPr/>
        </p:nvSpPr>
        <p:spPr>
          <a:xfrm>
            <a:off x="731520" y="3611880"/>
            <a:ext cx="2834640" cy="548640"/>
          </a:xfrm>
          <a:prstGeom prst="rect">
            <a:avLst/>
          </a:prstGeom>
          <a:noFill/>
          <a:ln/>
        </p:spPr>
        <p:txBody>
          <a:bodyPr wrap="square" lIns="0" tIns="0" rIns="0" bIns="0" rtlCol="0" anchor="t"/>
          <a:lstStyle/>
          <a:p>
            <a:pPr indent="0" marL="0">
              <a:buNone/>
            </a:pPr>
            <a:r>
              <a:rPr lang="en-US" sz="1200" dirty="0">
                <a:solidFill>
                  <a:srgbClr val="D4E1E5"/>
                </a:solidFill>
                <a:latin typeface="Arial" pitchFamily="34" charset="0"/>
                <a:ea typeface="Arial" pitchFamily="34" charset="-122"/>
                <a:cs typeface="Arial" pitchFamily="34" charset="-120"/>
              </a:rPr>
              <a:t>Jedes vierte geleerte Haus in Zürich gehörte einer Genossenschaft.</a:t>
            </a:r>
            <a:endParaRPr lang="en-US" sz="1200" dirty="0"/>
          </a:p>
        </p:txBody>
      </p:sp>
      <p:sp>
        <p:nvSpPr>
          <p:cNvPr id="8" name="Text 6"/>
          <p:cNvSpPr txBox="1"/>
          <p:nvPr/>
        </p:nvSpPr>
        <p:spPr>
          <a:xfrm>
            <a:off x="731520" y="4251960"/>
            <a:ext cx="2834640" cy="228600"/>
          </a:xfrm>
          <a:prstGeom prst="rect">
            <a:avLst/>
          </a:prstGeom>
          <a:noFill/>
          <a:ln/>
        </p:spPr>
        <p:txBody>
          <a:bodyPr wrap="square" lIns="0" tIns="0" rIns="0" bIns="0" rtlCol="0" anchor="ctr"/>
          <a:lstStyle/>
          <a:p>
            <a:pPr indent="0" marL="0">
              <a:buNone/>
            </a:pPr>
            <a:r>
              <a:rPr lang="en-US" sz="800" dirty="0">
                <a:solidFill>
                  <a:srgbClr val="B5C9CE"/>
                </a:solidFill>
                <a:latin typeface="Arial" pitchFamily="34" charset="0"/>
                <a:ea typeface="Arial" pitchFamily="34" charset="-122"/>
                <a:cs typeface="Arial" pitchFamily="34" charset="-120"/>
              </a:rPr>
              <a:t>Zürcher Kantonalbank auf Basis BFS, 2024</a:t>
            </a:r>
            <a:endParaRPr lang="en-US" sz="800" dirty="0"/>
          </a:p>
        </p:txBody>
      </p:sp>
      <p:sp>
        <p:nvSpPr>
          <p:cNvPr id="9" name="Text 7"/>
          <p:cNvSpPr txBox="1"/>
          <p:nvPr/>
        </p:nvSpPr>
        <p:spPr>
          <a:xfrm>
            <a:off x="4114800" y="1280160"/>
            <a:ext cx="4572000" cy="320040"/>
          </a:xfrm>
          <a:prstGeom prst="rect">
            <a:avLst/>
          </a:prstGeom>
          <a:noFill/>
          <a:ln/>
        </p:spPr>
        <p:txBody>
          <a:bodyPr wrap="square" lIns="0" tIns="0" rIns="0" bIns="0" rtlCol="0" anchor="ctr"/>
          <a:lstStyle/>
          <a:p>
            <a:pPr indent="0" marL="0">
              <a:buNone/>
            </a:pPr>
            <a:r>
              <a:rPr lang="en-US" sz="1400" b="1" dirty="0">
                <a:solidFill>
                  <a:srgbClr val="1C2326"/>
                </a:solidFill>
                <a:latin typeface="Arial" pitchFamily="34" charset="0"/>
                <a:ea typeface="Arial" pitchFamily="34" charset="-122"/>
                <a:cs typeface="Arial" pitchFamily="34" charset="-120"/>
              </a:rPr>
              <a:t>Leergekündigte Häuser 2018 bis 2022, nach Stadt</a:t>
            </a:r>
            <a:endParaRPr lang="en-US" sz="1400" dirty="0"/>
          </a:p>
        </p:txBody>
      </p:sp>
      <p:graphicFrame>
        <p:nvGraphicFramePr>
          <p:cNvPr id="10" name="Chart 0" descr=""/>
          <p:cNvGraphicFramePr/>
          <p:nvPr/>
        </p:nvGraphicFramePr>
        <p:xfrm>
          <a:off x="4023360" y="1600200"/>
          <a:ext cx="4663440" cy="27432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4114800" y="4343400"/>
            <a:ext cx="4572000" cy="274320"/>
          </a:xfrm>
          <a:prstGeom prst="rect">
            <a:avLst/>
          </a:prstGeom>
          <a:noFill/>
          <a:ln/>
        </p:spPr>
        <p:txBody>
          <a:bodyPr wrap="square" lIns="0" tIns="0" rIns="0" bIns="0" rtlCol="0" anchor="ctr"/>
          <a:lstStyle/>
          <a:p>
            <a:pPr indent="0" marL="0">
              <a:buNone/>
            </a:pPr>
            <a:r>
              <a:rPr lang="en-US" sz="1000" dirty="0">
                <a:solidFill>
                  <a:srgbClr val="5B6468"/>
                </a:solidFill>
                <a:latin typeface="Arial" pitchFamily="34" charset="0"/>
                <a:ea typeface="Arial" pitchFamily="34" charset="-122"/>
                <a:cs typeface="Arial" pitchFamily="34" charset="-120"/>
              </a:rPr>
              <a:t>Genf: rund 20 Häuser pro Jahr, weil strenge Regeln gelten. Zürich: rund 250.</a:t>
            </a:r>
            <a:endParaRPr lang="en-US" sz="10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Wer raus muss, findet nichts und zahlt mehr.</a:t>
            </a:r>
            <a:endParaRPr lang="en-US" sz="3000" dirty="0"/>
          </a:p>
        </p:txBody>
      </p:sp>
      <p:sp>
        <p:nvSpPr>
          <p:cNvPr id="3" name="Shape 1"/>
          <p:cNvSpPr/>
          <p:nvPr/>
        </p:nvSpPr>
        <p:spPr>
          <a:xfrm>
            <a:off x="457200" y="1280160"/>
            <a:ext cx="2651760" cy="2240280"/>
          </a:xfrm>
          <a:prstGeom prst="roundRect">
            <a:avLst>
              <a:gd name="adj" fmla="val 5714"/>
            </a:avLst>
          </a:prstGeom>
          <a:solidFill>
            <a:srgbClr val="FFFFFF"/>
          </a:solidFill>
          <a:ln w="9525">
            <a:solidFill>
              <a:srgbClr val="E3DDD4"/>
            </a:solidFill>
            <a:prstDash val="solid"/>
          </a:ln>
        </p:spPr>
      </p:sp>
      <p:sp>
        <p:nvSpPr>
          <p:cNvPr id="4" name="Text 2"/>
          <p:cNvSpPr txBox="1"/>
          <p:nvPr/>
        </p:nvSpPr>
        <p:spPr>
          <a:xfrm>
            <a:off x="685800" y="1426464"/>
            <a:ext cx="2194560" cy="857250"/>
          </a:xfrm>
          <a:prstGeom prst="rect">
            <a:avLst/>
          </a:prstGeom>
          <a:noFill/>
          <a:ln/>
        </p:spPr>
        <p:txBody>
          <a:bodyPr wrap="square" lIns="0" tIns="0" rIns="0" bIns="0" rtlCol="0" anchor="ctr"/>
          <a:lstStyle/>
          <a:p>
            <a:pPr indent="0" marL="0">
              <a:buNone/>
            </a:pPr>
            <a:r>
              <a:rPr lang="en-US" sz="5400" b="1" dirty="0">
                <a:solidFill>
                  <a:srgbClr val="1C2326"/>
                </a:solidFill>
                <a:latin typeface="Arial" pitchFamily="34" charset="0"/>
                <a:ea typeface="Arial" pitchFamily="34" charset="-122"/>
                <a:cs typeface="Arial" pitchFamily="34" charset="-120"/>
              </a:rPr>
              <a:t>0,11 %</a:t>
            </a:r>
            <a:endParaRPr lang="en-US" sz="5400" dirty="0"/>
          </a:p>
        </p:txBody>
      </p:sp>
      <p:sp>
        <p:nvSpPr>
          <p:cNvPr id="5" name="Text 3"/>
          <p:cNvSpPr txBox="1"/>
          <p:nvPr/>
        </p:nvSpPr>
        <p:spPr>
          <a:xfrm>
            <a:off x="685800" y="2320290"/>
            <a:ext cx="2194560" cy="816102"/>
          </a:xfrm>
          <a:prstGeom prst="rect">
            <a:avLst/>
          </a:prstGeom>
          <a:noFill/>
          <a:ln/>
        </p:spPr>
        <p:txBody>
          <a:bodyPr wrap="square" lIns="0" tIns="0" rIns="0" bIns="0" rtlCol="0" anchor="t"/>
          <a:lstStyle/>
          <a:p>
            <a:pPr indent="0" marL="0">
              <a:buNone/>
            </a:pPr>
            <a:r>
              <a:rPr lang="en-US" sz="1400" dirty="0">
                <a:solidFill>
                  <a:srgbClr val="1C2326"/>
                </a:solidFill>
                <a:latin typeface="Arial" pitchFamily="34" charset="0"/>
                <a:ea typeface="Arial" pitchFamily="34" charset="-122"/>
                <a:cs typeface="Arial" pitchFamily="34" charset="-120"/>
              </a:rPr>
              <a:t>Leerstand in der Stadt Zürich: 252 freie Wohnungen.</a:t>
            </a:r>
            <a:endParaRPr lang="en-US" sz="1400" dirty="0"/>
          </a:p>
        </p:txBody>
      </p:sp>
      <p:sp>
        <p:nvSpPr>
          <p:cNvPr id="6" name="Text 4"/>
          <p:cNvSpPr txBox="1"/>
          <p:nvPr/>
        </p:nvSpPr>
        <p:spPr>
          <a:xfrm>
            <a:off x="685800" y="3191256"/>
            <a:ext cx="219456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Statistik Stadt Zürich, 1. Juni 2026</a:t>
            </a:r>
            <a:endParaRPr lang="en-US" sz="800" dirty="0"/>
          </a:p>
        </p:txBody>
      </p:sp>
      <p:sp>
        <p:nvSpPr>
          <p:cNvPr id="7" name="Shape 5"/>
          <p:cNvSpPr/>
          <p:nvPr/>
        </p:nvSpPr>
        <p:spPr>
          <a:xfrm>
            <a:off x="3246120" y="1280160"/>
            <a:ext cx="2651760" cy="2240280"/>
          </a:xfrm>
          <a:prstGeom prst="roundRect">
            <a:avLst>
              <a:gd name="adj" fmla="val 5714"/>
            </a:avLst>
          </a:prstGeom>
          <a:solidFill>
            <a:srgbClr val="FDEBDD"/>
          </a:solidFill>
          <a:ln w="9525">
            <a:solidFill>
              <a:srgbClr val="FDEBDD"/>
            </a:solidFill>
            <a:prstDash val="solid"/>
          </a:ln>
        </p:spPr>
      </p:sp>
      <p:sp>
        <p:nvSpPr>
          <p:cNvPr id="8" name="Text 6"/>
          <p:cNvSpPr txBox="1"/>
          <p:nvPr/>
        </p:nvSpPr>
        <p:spPr>
          <a:xfrm>
            <a:off x="3474720" y="1426464"/>
            <a:ext cx="2194560" cy="857250"/>
          </a:xfrm>
          <a:prstGeom prst="rect">
            <a:avLst/>
          </a:prstGeom>
          <a:noFill/>
          <a:ln/>
        </p:spPr>
        <p:txBody>
          <a:bodyPr wrap="square" lIns="0" tIns="0" rIns="0" bIns="0" rtlCol="0" anchor="ctr"/>
          <a:lstStyle/>
          <a:p>
            <a:pPr indent="0" marL="0">
              <a:buNone/>
            </a:pPr>
            <a:r>
              <a:rPr lang="en-US" sz="5400" b="1" dirty="0">
                <a:solidFill>
                  <a:srgbClr val="B8460E"/>
                </a:solidFill>
                <a:latin typeface="Arial" pitchFamily="34" charset="0"/>
                <a:ea typeface="Arial" pitchFamily="34" charset="-122"/>
                <a:cs typeface="Arial" pitchFamily="34" charset="-120"/>
              </a:rPr>
              <a:t>+30 %</a:t>
            </a:r>
            <a:endParaRPr lang="en-US" sz="5400" dirty="0"/>
          </a:p>
        </p:txBody>
      </p:sp>
      <p:sp>
        <p:nvSpPr>
          <p:cNvPr id="9" name="Text 7"/>
          <p:cNvSpPr txBox="1"/>
          <p:nvPr/>
        </p:nvSpPr>
        <p:spPr>
          <a:xfrm>
            <a:off x="3474720" y="2320290"/>
            <a:ext cx="2194560" cy="816102"/>
          </a:xfrm>
          <a:prstGeom prst="rect">
            <a:avLst/>
          </a:prstGeom>
          <a:noFill/>
          <a:ln/>
        </p:spPr>
        <p:txBody>
          <a:bodyPr wrap="square" lIns="0" tIns="0" rIns="0" bIns="0" rtlCol="0" anchor="t"/>
          <a:lstStyle/>
          <a:p>
            <a:pPr indent="0" marL="0">
              <a:buNone/>
            </a:pPr>
            <a:r>
              <a:rPr lang="en-US" sz="1400" dirty="0">
                <a:solidFill>
                  <a:srgbClr val="1C2326"/>
                </a:solidFill>
                <a:latin typeface="Arial" pitchFamily="34" charset="0"/>
                <a:ea typeface="Arial" pitchFamily="34" charset="-122"/>
                <a:cs typeface="Arial" pitchFamily="34" charset="-120"/>
              </a:rPr>
              <a:t>Miete im Neubau gegenüber langjährigen Mietenden.</a:t>
            </a:r>
            <a:endParaRPr lang="en-US" sz="1400" dirty="0"/>
          </a:p>
        </p:txBody>
      </p:sp>
      <p:sp>
        <p:nvSpPr>
          <p:cNvPr id="10" name="Text 8"/>
          <p:cNvSpPr txBox="1"/>
          <p:nvPr/>
        </p:nvSpPr>
        <p:spPr>
          <a:xfrm>
            <a:off x="3474720" y="3191256"/>
            <a:ext cx="219456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Statistik Stadt Zürich, via 20 Minuten</a:t>
            </a:r>
            <a:endParaRPr lang="en-US" sz="800" dirty="0"/>
          </a:p>
        </p:txBody>
      </p:sp>
      <p:sp>
        <p:nvSpPr>
          <p:cNvPr id="11" name="Shape 9"/>
          <p:cNvSpPr/>
          <p:nvPr/>
        </p:nvSpPr>
        <p:spPr>
          <a:xfrm>
            <a:off x="6035040" y="1280160"/>
            <a:ext cx="2651760" cy="2240280"/>
          </a:xfrm>
          <a:prstGeom prst="roundRect">
            <a:avLst>
              <a:gd name="adj" fmla="val 5714"/>
            </a:avLst>
          </a:prstGeom>
          <a:solidFill>
            <a:srgbClr val="FFFFFF"/>
          </a:solidFill>
          <a:ln w="9525">
            <a:solidFill>
              <a:srgbClr val="E3DDD4"/>
            </a:solidFill>
            <a:prstDash val="solid"/>
          </a:ln>
        </p:spPr>
      </p:sp>
      <p:sp>
        <p:nvSpPr>
          <p:cNvPr id="12" name="Text 10"/>
          <p:cNvSpPr txBox="1"/>
          <p:nvPr/>
        </p:nvSpPr>
        <p:spPr>
          <a:xfrm>
            <a:off x="6263640" y="1426464"/>
            <a:ext cx="2194560" cy="635000"/>
          </a:xfrm>
          <a:prstGeom prst="rect">
            <a:avLst/>
          </a:prstGeom>
          <a:noFill/>
          <a:ln/>
        </p:spPr>
        <p:txBody>
          <a:bodyPr wrap="square" lIns="0" tIns="0" rIns="0" bIns="0" rtlCol="0" anchor="ctr"/>
          <a:lstStyle/>
          <a:p>
            <a:pPr indent="0" marL="0">
              <a:buNone/>
            </a:pPr>
            <a:r>
              <a:rPr lang="en-US" sz="4000" b="1" dirty="0">
                <a:solidFill>
                  <a:srgbClr val="1C2326"/>
                </a:solidFill>
                <a:latin typeface="Arial" pitchFamily="34" charset="0"/>
                <a:ea typeface="Arial" pitchFamily="34" charset="-122"/>
                <a:cs typeface="Arial" pitchFamily="34" charset="-120"/>
              </a:rPr>
              <a:t>1 von 10</a:t>
            </a:r>
            <a:endParaRPr lang="en-US" sz="4000" dirty="0"/>
          </a:p>
        </p:txBody>
      </p:sp>
      <p:sp>
        <p:nvSpPr>
          <p:cNvPr id="13" name="Text 11"/>
          <p:cNvSpPr txBox="1"/>
          <p:nvPr/>
        </p:nvSpPr>
        <p:spPr>
          <a:xfrm>
            <a:off x="6263640" y="2098040"/>
            <a:ext cx="2194560" cy="1038352"/>
          </a:xfrm>
          <a:prstGeom prst="rect">
            <a:avLst/>
          </a:prstGeom>
          <a:noFill/>
          <a:ln/>
        </p:spPr>
        <p:txBody>
          <a:bodyPr wrap="square" lIns="0" tIns="0" rIns="0" bIns="0" rtlCol="0" anchor="t"/>
          <a:lstStyle/>
          <a:p>
            <a:pPr indent="0" marL="0">
              <a:buNone/>
            </a:pPr>
            <a:r>
              <a:rPr lang="en-US" sz="1400" dirty="0">
                <a:solidFill>
                  <a:srgbClr val="1C2326"/>
                </a:solidFill>
                <a:latin typeface="Arial" pitchFamily="34" charset="0"/>
                <a:ea typeface="Arial" pitchFamily="34" charset="-122"/>
                <a:cs typeface="Arial" pitchFamily="34" charset="-120"/>
              </a:rPr>
              <a:t>Altersheim-Anmeldungen in Zürich wegen Kündigung oder Sanierung.</a:t>
            </a:r>
            <a:endParaRPr lang="en-US" sz="1400" dirty="0"/>
          </a:p>
        </p:txBody>
      </p:sp>
      <p:sp>
        <p:nvSpPr>
          <p:cNvPr id="14" name="Text 12"/>
          <p:cNvSpPr txBox="1"/>
          <p:nvPr/>
        </p:nvSpPr>
        <p:spPr>
          <a:xfrm>
            <a:off x="6263640" y="3191256"/>
            <a:ext cx="219456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Fachstelle Zürich im Alter, Schätzung 2022</a:t>
            </a:r>
            <a:endParaRPr lang="en-US" sz="800" dirty="0"/>
          </a:p>
        </p:txBody>
      </p:sp>
      <p:sp>
        <p:nvSpPr>
          <p:cNvPr id="15" name="Shape 13"/>
          <p:cNvSpPr/>
          <p:nvPr/>
        </p:nvSpPr>
        <p:spPr>
          <a:xfrm>
            <a:off x="457200" y="3657600"/>
            <a:ext cx="8229600" cy="914400"/>
          </a:xfrm>
          <a:prstGeom prst="roundRect">
            <a:avLst>
              <a:gd name="adj" fmla="val 14000"/>
            </a:avLst>
          </a:prstGeom>
          <a:solidFill>
            <a:srgbClr val="E2ECEE"/>
          </a:solidFill>
          <a:ln w="12700">
            <a:solidFill>
              <a:srgbClr val="E2ECEE"/>
            </a:solidFill>
            <a:prstDash val="solid"/>
          </a:ln>
        </p:spPr>
      </p:sp>
      <p:sp>
        <p:nvSpPr>
          <p:cNvPr id="16" name="Text 14"/>
          <p:cNvSpPr txBox="1"/>
          <p:nvPr/>
        </p:nvSpPr>
        <p:spPr>
          <a:xfrm>
            <a:off x="731520" y="3767328"/>
            <a:ext cx="2926080" cy="3200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Sugus-Häuser, Zürich Kreis 5</a:t>
            </a:r>
            <a:endParaRPr lang="en-US" sz="1500" dirty="0"/>
          </a:p>
        </p:txBody>
      </p:sp>
      <p:sp>
        <p:nvSpPr>
          <p:cNvPr id="17" name="Text 15"/>
          <p:cNvSpPr txBox="1"/>
          <p:nvPr/>
        </p:nvSpPr>
        <p:spPr>
          <a:xfrm>
            <a:off x="3657600" y="3730752"/>
            <a:ext cx="4846320" cy="777240"/>
          </a:xfrm>
          <a:prstGeom prst="rect">
            <a:avLst/>
          </a:prstGeom>
          <a:noFill/>
          <a:ln/>
        </p:spPr>
        <p:txBody>
          <a:bodyPr wrap="square" lIns="0" tIns="0" rIns="0" bIns="0" rtlCol="0" anchor="ctr"/>
          <a:lstStyle/>
          <a:p>
            <a:pPr indent="0" marL="0">
              <a:buNone/>
            </a:pPr>
            <a:r>
              <a:rPr lang="en-US" sz="1100" dirty="0">
                <a:solidFill>
                  <a:srgbClr val="1C2326"/>
                </a:solidFill>
                <a:latin typeface="Arial" pitchFamily="34" charset="0"/>
                <a:ea typeface="Arial" pitchFamily="34" charset="-122"/>
                <a:cs typeface="Arial" pitchFamily="34" charset="-120"/>
              </a:rPr>
              <a:t>Rund 100 Haushalte leergekündigt. Monatelanger Widerstand, Schlichtungsbehörde und Mietgericht erklären die Kündigungen für ungültig. Leerkündigung ist auch für Eigentümer ein Risiko.</a:t>
            </a:r>
            <a:endParaRPr lang="en-US" sz="11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Es geht anders. Die Rochade.</a:t>
            </a:r>
            <a:endParaRPr lang="en-US" sz="3000" dirty="0"/>
          </a:p>
        </p:txBody>
      </p:sp>
      <p:sp>
        <p:nvSpPr>
          <p:cNvPr id="3" name="Shape 1"/>
          <p:cNvSpPr/>
          <p:nvPr/>
        </p:nvSpPr>
        <p:spPr>
          <a:xfrm>
            <a:off x="457200" y="1280160"/>
            <a:ext cx="4846320" cy="3291840"/>
          </a:xfrm>
          <a:prstGeom prst="roundRect">
            <a:avLst>
              <a:gd name="adj" fmla="val 3889"/>
            </a:avLst>
          </a:prstGeom>
          <a:solidFill>
            <a:srgbClr val="FFFFFF"/>
          </a:solidFill>
          <a:ln w="9525">
            <a:solidFill>
              <a:srgbClr val="E3DDD4"/>
            </a:solidFill>
            <a:prstDash val="solid"/>
          </a:ln>
        </p:spPr>
      </p:sp>
      <p:sp>
        <p:nvSpPr>
          <p:cNvPr id="4" name="Shape 2"/>
          <p:cNvSpPr/>
          <p:nvPr/>
        </p:nvSpPr>
        <p:spPr>
          <a:xfrm>
            <a:off x="731520" y="1828800"/>
            <a:ext cx="1280160" cy="502920"/>
          </a:xfrm>
          <a:prstGeom prst="roundRect">
            <a:avLst>
              <a:gd name="adj" fmla="val 14545"/>
            </a:avLst>
          </a:prstGeom>
          <a:solidFill>
            <a:srgbClr val="1C2326"/>
          </a:solidFill>
          <a:ln w="12700">
            <a:solidFill>
              <a:srgbClr val="1C2326"/>
            </a:solidFill>
            <a:prstDash val="solid"/>
          </a:ln>
        </p:spPr>
      </p:sp>
      <p:sp>
        <p:nvSpPr>
          <p:cNvPr id="5" name="Text 3"/>
          <p:cNvSpPr txBox="1"/>
          <p:nvPr/>
        </p:nvSpPr>
        <p:spPr>
          <a:xfrm>
            <a:off x="73152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6" name="Text 4"/>
          <p:cNvSpPr txBox="1"/>
          <p:nvPr/>
        </p:nvSpPr>
        <p:spPr>
          <a:xfrm>
            <a:off x="64008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Zu Hause</a:t>
            </a:r>
            <a:endParaRPr lang="en-US" sz="1100" dirty="0"/>
          </a:p>
        </p:txBody>
      </p:sp>
      <p:sp>
        <p:nvSpPr>
          <p:cNvPr id="7" name="Text 5"/>
          <p:cNvSpPr txBox="1"/>
          <p:nvPr/>
        </p:nvSpPr>
        <p:spPr>
          <a:xfrm>
            <a:off x="2011680" y="1828800"/>
            <a:ext cx="228600" cy="502920"/>
          </a:xfrm>
          <a:prstGeom prst="rect">
            <a:avLst/>
          </a:prstGeom>
          <a:noFill/>
          <a:ln/>
        </p:spPr>
        <p:txBody>
          <a:bodyPr wrap="square" lIns="0" tIns="0" rIns="0" bIns="0" rtlCol="0" anchor="ctr"/>
          <a:lstStyle/>
          <a:p>
            <a:pPr algn="ctr" indent="0" marL="0">
              <a:buNone/>
            </a:pPr>
            <a:r>
              <a:rPr lang="en-US" sz="1800" b="1" dirty="0">
                <a:solidFill>
                  <a:srgbClr val="F26A1B"/>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240280" y="1828800"/>
            <a:ext cx="1280160" cy="502920"/>
          </a:xfrm>
          <a:prstGeom prst="roundRect">
            <a:avLst>
              <a:gd name="adj" fmla="val 14545"/>
            </a:avLst>
          </a:prstGeom>
          <a:solidFill>
            <a:srgbClr val="24414A"/>
          </a:solidFill>
          <a:ln w="12700">
            <a:solidFill>
              <a:srgbClr val="24414A"/>
            </a:solidFill>
            <a:prstDash val="solid"/>
          </a:ln>
        </p:spPr>
      </p:sp>
      <p:sp>
        <p:nvSpPr>
          <p:cNvPr id="9" name="Text 7"/>
          <p:cNvSpPr txBox="1"/>
          <p:nvPr/>
        </p:nvSpPr>
        <p:spPr>
          <a:xfrm>
            <a:off x="224028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10" name="Text 8"/>
          <p:cNvSpPr txBox="1"/>
          <p:nvPr/>
        </p:nvSpPr>
        <p:spPr>
          <a:xfrm>
            <a:off x="214884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Rochade-Wohnung</a:t>
            </a:r>
            <a:endParaRPr lang="en-US" sz="1100" dirty="0"/>
          </a:p>
        </p:txBody>
      </p:sp>
      <p:sp>
        <p:nvSpPr>
          <p:cNvPr id="11" name="Text 9"/>
          <p:cNvSpPr txBox="1"/>
          <p:nvPr/>
        </p:nvSpPr>
        <p:spPr>
          <a:xfrm>
            <a:off x="3520440" y="1828800"/>
            <a:ext cx="228600" cy="502920"/>
          </a:xfrm>
          <a:prstGeom prst="rect">
            <a:avLst/>
          </a:prstGeom>
          <a:noFill/>
          <a:ln/>
        </p:spPr>
        <p:txBody>
          <a:bodyPr wrap="square" lIns="0" tIns="0" rIns="0" bIns="0" rtlCol="0" anchor="ctr"/>
          <a:lstStyle/>
          <a:p>
            <a:pPr algn="ctr" indent="0" marL="0">
              <a:buNone/>
            </a:pPr>
            <a:r>
              <a:rPr lang="en-US" sz="1800" b="1" dirty="0">
                <a:solidFill>
                  <a:srgbClr val="F26A1B"/>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3749040" y="1828800"/>
            <a:ext cx="1280160" cy="502920"/>
          </a:xfrm>
          <a:prstGeom prst="roundRect">
            <a:avLst>
              <a:gd name="adj" fmla="val 14545"/>
            </a:avLst>
          </a:prstGeom>
          <a:solidFill>
            <a:srgbClr val="1C2326"/>
          </a:solidFill>
          <a:ln w="12700">
            <a:solidFill>
              <a:srgbClr val="1C2326"/>
            </a:solidFill>
            <a:prstDash val="solid"/>
          </a:ln>
        </p:spPr>
      </p:sp>
      <p:sp>
        <p:nvSpPr>
          <p:cNvPr id="13" name="Text 11"/>
          <p:cNvSpPr txBox="1"/>
          <p:nvPr/>
        </p:nvSpPr>
        <p:spPr>
          <a:xfrm>
            <a:off x="374904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14" name="Text 12"/>
          <p:cNvSpPr txBox="1"/>
          <p:nvPr/>
        </p:nvSpPr>
        <p:spPr>
          <a:xfrm>
            <a:off x="365760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Zurück, saniert</a:t>
            </a:r>
            <a:endParaRPr lang="en-US" sz="1100" dirty="0"/>
          </a:p>
        </p:txBody>
      </p:sp>
      <p:sp>
        <p:nvSpPr>
          <p:cNvPr id="15" name="Shape 13"/>
          <p:cNvSpPr/>
          <p:nvPr/>
        </p:nvSpPr>
        <p:spPr>
          <a:xfrm>
            <a:off x="731520" y="2926080"/>
            <a:ext cx="1280160" cy="502920"/>
          </a:xfrm>
          <a:prstGeom prst="roundRect">
            <a:avLst>
              <a:gd name="adj" fmla="val 14545"/>
            </a:avLst>
          </a:prstGeom>
          <a:solidFill>
            <a:srgbClr val="FDEBDD"/>
          </a:solidFill>
          <a:ln w="9525">
            <a:solidFill>
              <a:srgbClr val="F26A1B"/>
            </a:solidFill>
            <a:prstDash val="dash"/>
          </a:ln>
        </p:spPr>
      </p:sp>
      <p:sp>
        <p:nvSpPr>
          <p:cNvPr id="16" name="Text 14"/>
          <p:cNvSpPr txBox="1"/>
          <p:nvPr/>
        </p:nvSpPr>
        <p:spPr>
          <a:xfrm>
            <a:off x="731520" y="2926080"/>
            <a:ext cx="1280160" cy="502920"/>
          </a:xfrm>
          <a:prstGeom prst="rect">
            <a:avLst/>
          </a:prstGeom>
          <a:noFill/>
          <a:ln/>
        </p:spPr>
        <p:txBody>
          <a:bodyPr wrap="square" lIns="0" tIns="0" rIns="0" bIns="0" rtlCol="0" anchor="ctr"/>
          <a:lstStyle/>
          <a:p>
            <a:pPr algn="ctr" indent="0" marL="0">
              <a:buNone/>
            </a:pPr>
            <a:r>
              <a:rPr lang="en-US" sz="1000" b="1" dirty="0">
                <a:solidFill>
                  <a:srgbClr val="B8460E"/>
                </a:solidFill>
                <a:latin typeface="Arial" pitchFamily="34" charset="0"/>
                <a:ea typeface="Arial" pitchFamily="34" charset="-122"/>
                <a:cs typeface="Arial" pitchFamily="34" charset="-120"/>
              </a:rPr>
              <a:t>Whg. A-02</a:t>
            </a:r>
            <a:endParaRPr lang="en-US" sz="1000" dirty="0"/>
          </a:p>
        </p:txBody>
      </p:sp>
      <p:sp>
        <p:nvSpPr>
          <p:cNvPr id="17" name="Text 15"/>
          <p:cNvSpPr txBox="1"/>
          <p:nvPr/>
        </p:nvSpPr>
        <p:spPr>
          <a:xfrm>
            <a:off x="640080" y="3520440"/>
            <a:ext cx="146304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in Sanierung</a:t>
            </a:r>
            <a:endParaRPr lang="en-US" sz="1100" dirty="0"/>
          </a:p>
        </p:txBody>
      </p:sp>
      <p:sp>
        <p:nvSpPr>
          <p:cNvPr id="18" name="Shape 16"/>
          <p:cNvSpPr/>
          <p:nvPr/>
        </p:nvSpPr>
        <p:spPr>
          <a:xfrm>
            <a:off x="2240280" y="2926080"/>
            <a:ext cx="1280160" cy="502920"/>
          </a:xfrm>
          <a:prstGeom prst="roundRect">
            <a:avLst>
              <a:gd name="adj" fmla="val 14545"/>
            </a:avLst>
          </a:prstGeom>
          <a:solidFill>
            <a:srgbClr val="FAF8F5"/>
          </a:solidFill>
          <a:ln w="9525">
            <a:solidFill>
              <a:srgbClr val="8A8178"/>
            </a:solidFill>
            <a:prstDash val="dash"/>
          </a:ln>
        </p:spPr>
      </p:sp>
      <p:sp>
        <p:nvSpPr>
          <p:cNvPr id="19" name="Text 17"/>
          <p:cNvSpPr txBox="1"/>
          <p:nvPr/>
        </p:nvSpPr>
        <p:spPr>
          <a:xfrm>
            <a:off x="2240280" y="2926080"/>
            <a:ext cx="1280160" cy="502920"/>
          </a:xfrm>
          <a:prstGeom prst="rect">
            <a:avLst/>
          </a:prstGeom>
          <a:noFill/>
          <a:ln/>
        </p:spPr>
        <p:txBody>
          <a:bodyPr wrap="square" lIns="0" tIns="0" rIns="0" bIns="0" rtlCol="0" anchor="ctr"/>
          <a:lstStyle/>
          <a:p>
            <a:pPr algn="ctr" indent="0" marL="0">
              <a:buNone/>
            </a:pPr>
            <a:r>
              <a:rPr lang="en-US" sz="1000" b="1" dirty="0">
                <a:solidFill>
                  <a:srgbClr val="5B6468"/>
                </a:solidFill>
                <a:latin typeface="Arial" pitchFamily="34" charset="0"/>
                <a:ea typeface="Arial" pitchFamily="34" charset="-122"/>
                <a:cs typeface="Arial" pitchFamily="34" charset="-120"/>
              </a:rPr>
              <a:t>Whg. C-01</a:t>
            </a:r>
            <a:endParaRPr lang="en-US" sz="1000" dirty="0"/>
          </a:p>
        </p:txBody>
      </p:sp>
      <p:sp>
        <p:nvSpPr>
          <p:cNvPr id="20" name="Text 18"/>
          <p:cNvSpPr txBox="1"/>
          <p:nvPr/>
        </p:nvSpPr>
        <p:spPr>
          <a:xfrm>
            <a:off x="2148840" y="3520440"/>
            <a:ext cx="146304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frei, 5 Monate</a:t>
            </a:r>
            <a:endParaRPr lang="en-US" sz="1100" dirty="0"/>
          </a:p>
        </p:txBody>
      </p:sp>
      <p:sp>
        <p:nvSpPr>
          <p:cNvPr id="21" name="Shape 19"/>
          <p:cNvSpPr/>
          <p:nvPr/>
        </p:nvSpPr>
        <p:spPr>
          <a:xfrm>
            <a:off x="3749040" y="2926080"/>
            <a:ext cx="1280160" cy="502920"/>
          </a:xfrm>
          <a:prstGeom prst="roundRect">
            <a:avLst>
              <a:gd name="adj" fmla="val 14545"/>
            </a:avLst>
          </a:prstGeom>
          <a:solidFill>
            <a:srgbClr val="276B43"/>
          </a:solidFill>
          <a:ln w="12700">
            <a:solidFill>
              <a:srgbClr val="276B43"/>
            </a:solidFill>
            <a:prstDash val="solid"/>
          </a:ln>
        </p:spPr>
      </p:sp>
      <p:sp>
        <p:nvSpPr>
          <p:cNvPr id="22" name="Text 20"/>
          <p:cNvSpPr txBox="1"/>
          <p:nvPr/>
        </p:nvSpPr>
        <p:spPr>
          <a:xfrm>
            <a:off x="3749040" y="2926080"/>
            <a:ext cx="128016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Whg. A-02</a:t>
            </a:r>
            <a:endParaRPr lang="en-US" sz="1000" dirty="0"/>
          </a:p>
        </p:txBody>
      </p:sp>
      <p:sp>
        <p:nvSpPr>
          <p:cNvPr id="23" name="Text 21"/>
          <p:cNvSpPr txBox="1"/>
          <p:nvPr/>
        </p:nvSpPr>
        <p:spPr>
          <a:xfrm>
            <a:off x="3611880" y="3520440"/>
            <a:ext cx="155448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saniert, zurück</a:t>
            </a:r>
            <a:endParaRPr lang="en-US" sz="1100" dirty="0"/>
          </a:p>
        </p:txBody>
      </p:sp>
      <p:sp>
        <p:nvSpPr>
          <p:cNvPr id="24" name="Text 22"/>
          <p:cNvSpPr txBox="1"/>
          <p:nvPr/>
        </p:nvSpPr>
        <p:spPr>
          <a:xfrm>
            <a:off x="731520" y="4023360"/>
            <a:ext cx="4297680" cy="365760"/>
          </a:xfrm>
          <a:prstGeom prst="rect">
            <a:avLst/>
          </a:prstGeom>
          <a:noFill/>
          <a:ln/>
        </p:spPr>
        <p:txBody>
          <a:bodyPr wrap="square" lIns="0" tIns="0" rIns="0" bIns="0" rtlCol="0" anchor="ctr"/>
          <a:lstStyle/>
          <a:p>
            <a:pPr indent="0" marL="0">
              <a:buNone/>
            </a:pPr>
            <a:r>
              <a:rPr lang="en-US" sz="1400" b="1" dirty="0">
                <a:solidFill>
                  <a:srgbClr val="1C2326"/>
                </a:solidFill>
                <a:latin typeface="Arial" pitchFamily="34" charset="0"/>
                <a:ea typeface="Arial" pitchFamily="34" charset="-122"/>
                <a:cs typeface="Arial" pitchFamily="34" charset="-120"/>
              </a:rPr>
              <a:t>Niemand wird gekündigt. Alle kommen zurück.</a:t>
            </a:r>
            <a:endParaRPr lang="en-US" sz="1400" dirty="0"/>
          </a:p>
        </p:txBody>
      </p:sp>
      <p:sp>
        <p:nvSpPr>
          <p:cNvPr id="25" name="Shape 23"/>
          <p:cNvSpPr/>
          <p:nvPr/>
        </p:nvSpPr>
        <p:spPr>
          <a:xfrm>
            <a:off x="5486400" y="1280160"/>
            <a:ext cx="3200400" cy="1554480"/>
          </a:xfrm>
          <a:prstGeom prst="roundRect">
            <a:avLst>
              <a:gd name="adj" fmla="val 8235"/>
            </a:avLst>
          </a:prstGeom>
          <a:solidFill>
            <a:srgbClr val="24414A"/>
          </a:solidFill>
          <a:ln w="12700">
            <a:solidFill>
              <a:srgbClr val="24414A"/>
            </a:solidFill>
            <a:prstDash val="solid"/>
          </a:ln>
        </p:spPr>
      </p:sp>
      <p:sp>
        <p:nvSpPr>
          <p:cNvPr id="26" name="Text 24"/>
          <p:cNvSpPr txBox="1"/>
          <p:nvPr/>
        </p:nvSpPr>
        <p:spPr>
          <a:xfrm>
            <a:off x="5715000" y="1417320"/>
            <a:ext cx="2743200" cy="8229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«Die mit Abstand effektivste Massnahme»</a:t>
            </a:r>
            <a:endParaRPr lang="en-US" sz="1600" dirty="0"/>
          </a:p>
        </p:txBody>
      </p:sp>
      <p:sp>
        <p:nvSpPr>
          <p:cNvPr id="27" name="Text 25"/>
          <p:cNvSpPr txBox="1"/>
          <p:nvPr/>
        </p:nvSpPr>
        <p:spPr>
          <a:xfrm>
            <a:off x="5715000" y="2286000"/>
            <a:ext cx="2743200" cy="457200"/>
          </a:xfrm>
          <a:prstGeom prst="rect">
            <a:avLst/>
          </a:prstGeom>
          <a:noFill/>
          <a:ln/>
        </p:spPr>
        <p:txBody>
          <a:bodyPr wrap="square" lIns="0" tIns="0" rIns="0" bIns="0" rtlCol="0" anchor="t"/>
          <a:lstStyle/>
          <a:p>
            <a:pPr indent="0" marL="0">
              <a:buNone/>
            </a:pPr>
            <a:r>
              <a:rPr lang="en-US" sz="900" dirty="0">
                <a:solidFill>
                  <a:srgbClr val="B5C9CE"/>
                </a:solidFill>
                <a:latin typeface="Arial" pitchFamily="34" charset="0"/>
                <a:ea typeface="Arial" pitchFamily="34" charset="-122"/>
                <a:cs typeface="Arial" pitchFamily="34" charset="-120"/>
              </a:rPr>
              <a:t>Universität Zürich, 12 Interviews mit Eigentümern und Genossenschaften, 2025</a:t>
            </a:r>
            <a:endParaRPr lang="en-US" sz="900" dirty="0"/>
          </a:p>
        </p:txBody>
      </p:sp>
      <p:sp>
        <p:nvSpPr>
          <p:cNvPr id="28" name="Shape 26"/>
          <p:cNvSpPr/>
          <p:nvPr/>
        </p:nvSpPr>
        <p:spPr>
          <a:xfrm>
            <a:off x="5486400" y="3017520"/>
            <a:ext cx="3200400" cy="1554480"/>
          </a:xfrm>
          <a:prstGeom prst="roundRect">
            <a:avLst>
              <a:gd name="adj" fmla="val 8235"/>
            </a:avLst>
          </a:prstGeom>
          <a:solidFill>
            <a:srgbClr val="FFFFFF"/>
          </a:solidFill>
          <a:ln w="9525">
            <a:solidFill>
              <a:srgbClr val="E3DDD4"/>
            </a:solidFill>
            <a:prstDash val="solid"/>
          </a:ln>
        </p:spPr>
      </p:sp>
      <p:sp>
        <p:nvSpPr>
          <p:cNvPr id="29" name="Text 27"/>
          <p:cNvSpPr txBox="1"/>
          <p:nvPr/>
        </p:nvSpPr>
        <p:spPr>
          <a:xfrm>
            <a:off x="5715000" y="3108960"/>
            <a:ext cx="2743200" cy="640080"/>
          </a:xfrm>
          <a:prstGeom prst="rect">
            <a:avLst/>
          </a:prstGeom>
          <a:noFill/>
          <a:ln/>
        </p:spPr>
        <p:txBody>
          <a:bodyPr wrap="square" lIns="0" tIns="0" rIns="0" bIns="0" rtlCol="0" anchor="ctr"/>
          <a:lstStyle/>
          <a:p>
            <a:pPr indent="0" marL="0">
              <a:buNone/>
            </a:pPr>
            <a:r>
              <a:rPr lang="en-US" sz="3600" b="1" dirty="0">
                <a:solidFill>
                  <a:srgbClr val="F26A1B"/>
                </a:solidFill>
                <a:latin typeface="Arial" pitchFamily="34" charset="0"/>
                <a:ea typeface="Arial" pitchFamily="34" charset="-122"/>
                <a:cs typeface="Arial" pitchFamily="34" charset="-120"/>
              </a:rPr>
              <a:t>49 · 4×</a:t>
            </a:r>
            <a:endParaRPr lang="en-US" sz="3600" dirty="0"/>
          </a:p>
        </p:txBody>
      </p:sp>
      <p:sp>
        <p:nvSpPr>
          <p:cNvPr id="30" name="Text 28"/>
          <p:cNvSpPr txBox="1"/>
          <p:nvPr/>
        </p:nvSpPr>
        <p:spPr>
          <a:xfrm>
            <a:off x="5715000" y="3749040"/>
            <a:ext cx="2743200" cy="54864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Mietparteien und vierfacher Aufwand in der Bewirtschaftung. Heute mit Tabellen und E-Mails.</a:t>
            </a:r>
            <a:endParaRPr lang="en-US" sz="1000" dirty="0"/>
          </a:p>
        </p:txBody>
      </p:sp>
      <p:sp>
        <p:nvSpPr>
          <p:cNvPr id="31" name="Text 29"/>
          <p:cNvSpPr txBox="1"/>
          <p:nvPr/>
        </p:nvSpPr>
        <p:spPr>
          <a:xfrm>
            <a:off x="5715000" y="4315968"/>
            <a:ext cx="274320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bgnzwo, Siedlung Hönggerberg, 2026</a:t>
            </a:r>
            <a:endParaRPr lang="en-US" sz="8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ROCHADE plant die Rochade. Für Verwaltung und Bewohnende.</a:t>
            </a:r>
            <a:endParaRPr lang="en-US" sz="3000" dirty="0"/>
          </a:p>
        </p:txBody>
      </p:sp>
      <p:sp>
        <p:nvSpPr>
          <p:cNvPr id="3" name="Shape 1"/>
          <p:cNvSpPr/>
          <p:nvPr/>
        </p:nvSpPr>
        <p:spPr>
          <a:xfrm>
            <a:off x="457200" y="1280160"/>
            <a:ext cx="5760720" cy="2880360"/>
          </a:xfrm>
          <a:prstGeom prst="roundRect">
            <a:avLst>
              <a:gd name="adj" fmla="val 4444"/>
            </a:avLst>
          </a:prstGeom>
          <a:solidFill>
            <a:srgbClr val="FFFFFF"/>
          </a:solidFill>
          <a:ln w="9525">
            <a:solidFill>
              <a:srgbClr val="E3DDD4"/>
            </a:solidFill>
            <a:prstDash val="solid"/>
          </a:ln>
        </p:spPr>
      </p:sp>
      <p:pic>
        <p:nvPicPr>
          <p:cNvPr id="4" name="Image 0" descr="/private/tmp/claude-501/-Users-francescorocca--claude-spares-spare-pTP7p5/c9c54887-e9ac-44ae-bd9c-ebf5f8016333/scratchpad/deck/img/stage-crop.png">    </p:cNvPr>
          <p:cNvPicPr>
            <a:picLocks noChangeAspect="1"/>
          </p:cNvPicPr>
          <p:nvPr/>
        </p:nvPicPr>
        <p:blipFill>
          <a:blip r:embed="rId1"/>
          <a:srcRect l="0" r="0" t="0" b="0"/>
          <a:stretch/>
        </p:blipFill>
        <p:spPr>
          <a:xfrm>
            <a:off x="566928" y="1371600"/>
            <a:ext cx="5541264" cy="2697480"/>
          </a:xfrm>
          <a:prstGeom prst="rect">
            <a:avLst/>
          </a:prstGeom>
        </p:spPr>
      </p:pic>
      <p:sp>
        <p:nvSpPr>
          <p:cNvPr id="5" name="Text 2"/>
          <p:cNvSpPr txBox="1"/>
          <p:nvPr/>
        </p:nvSpPr>
        <p:spPr>
          <a:xfrm>
            <a:off x="457200" y="4224528"/>
            <a:ext cx="5760720" cy="411480"/>
          </a:xfrm>
          <a:prstGeom prst="rect">
            <a:avLst/>
          </a:prstGeom>
          <a:noFill/>
          <a:ln/>
        </p:spPr>
        <p:txBody>
          <a:bodyPr wrap="square" lIns="0" tIns="0" rIns="0" bIns="0" rtlCol="0" anchor="t"/>
          <a:lstStyle/>
          <a:p>
            <a:pPr indent="0" marL="0">
              <a:buNone/>
            </a:pPr>
            <a:r>
              <a:rPr lang="en-US" sz="1200" dirty="0">
                <a:solidFill>
                  <a:srgbClr val="5B6468"/>
                </a:solidFill>
                <a:latin typeface="Arial" pitchFamily="34" charset="0"/>
                <a:ea typeface="Arial" pitchFamily="34" charset="-122"/>
                <a:cs typeface="Arial" pitchFamily="34" charset="-120"/>
              </a:rPr>
              <a:t>Verwaltung: die ganze Siedlung, jeder Haushalt, jede freie Wohnung. Ein Klick legt den Plan neu.</a:t>
            </a:r>
            <a:endParaRPr lang="en-US" sz="1200" dirty="0"/>
          </a:p>
        </p:txBody>
      </p:sp>
      <p:sp>
        <p:nvSpPr>
          <p:cNvPr id="6" name="Shape 3"/>
          <p:cNvSpPr/>
          <p:nvPr/>
        </p:nvSpPr>
        <p:spPr>
          <a:xfrm rot="-360000">
            <a:off x="6446520" y="1417320"/>
            <a:ext cx="1370228" cy="2819485"/>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10000"/>
              </a:srgbClr>
            </a:outerShdw>
          </a:effectLst>
        </p:spPr>
      </p:sp>
      <p:pic>
        <p:nvPicPr>
          <p:cNvPr id="7" name="Image 1" descr="/private/tmp/claude-501/-Users-francescorocca--claude-spares-spare-pTP7p5/c9c54887-e9ac-44ae-bd9c-ebf5f8016333/scratchpad/deck/img/app-siedlung-round.png">    </p:cNvPr>
          <p:cNvPicPr>
            <a:picLocks noChangeAspect="1"/>
          </p:cNvPicPr>
          <p:nvPr/>
        </p:nvPicPr>
        <p:blipFill>
          <a:blip r:embed="rId2">
            <a:alphaModFix amt="85000"/>
          </a:blip>
          <a:stretch>
            <a:fillRect/>
          </a:stretch>
        </p:blipFill>
        <p:spPr>
          <a:xfrm rot="-360000">
            <a:off x="6514414" y="1485214"/>
            <a:ext cx="1234440" cy="2683697"/>
          </a:xfrm>
          <a:prstGeom prst="rect">
            <a:avLst/>
          </a:prstGeom>
        </p:spPr>
      </p:pic>
      <p:sp>
        <p:nvSpPr>
          <p:cNvPr id="8" name="Shape 4"/>
          <p:cNvSpPr/>
          <p:nvPr/>
        </p:nvSpPr>
        <p:spPr>
          <a:xfrm>
            <a:off x="7086600" y="1188720"/>
            <a:ext cx="1522476" cy="3132761"/>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22000"/>
              </a:srgbClr>
            </a:outerShdw>
          </a:effectLst>
        </p:spPr>
      </p:sp>
      <p:pic>
        <p:nvPicPr>
          <p:cNvPr id="9" name="Image 2" descr="/private/tmp/claude-501/-Users-francescorocca--claude-spares-spare-pTP7p5/c9c54887-e9ac-44ae-bd9c-ebf5f8016333/scratchpad/deck/img/app-mein-umzug-round.png">    </p:cNvPr>
          <p:cNvPicPr>
            <a:picLocks noChangeAspect="1"/>
          </p:cNvPicPr>
          <p:nvPr/>
        </p:nvPicPr>
        <p:blipFill>
          <a:blip r:embed="rId3"/>
          <a:stretch>
            <a:fillRect/>
          </a:stretch>
        </p:blipFill>
        <p:spPr>
          <a:xfrm>
            <a:off x="7162038" y="1264158"/>
            <a:ext cx="1371600" cy="2981885"/>
          </a:xfrm>
          <a:prstGeom prst="rect">
            <a:avLst/>
          </a:prstGeom>
        </p:spPr>
      </p:pic>
      <p:sp>
        <p:nvSpPr>
          <p:cNvPr id="10" name="Text 5"/>
          <p:cNvSpPr txBox="1"/>
          <p:nvPr/>
        </p:nvSpPr>
        <p:spPr>
          <a:xfrm>
            <a:off x="6400800" y="4498848"/>
            <a:ext cx="2286000" cy="320040"/>
          </a:xfrm>
          <a:prstGeom prst="rect">
            <a:avLst/>
          </a:prstGeom>
          <a:noFill/>
          <a:ln/>
        </p:spPr>
        <p:txBody>
          <a:bodyPr wrap="square" lIns="0" tIns="0" rIns="0" bIns="0" rtlCol="0" anchor="ctr"/>
          <a:lstStyle/>
          <a:p>
            <a:pPr algn="ctr" indent="0" marL="0">
              <a:buNone/>
            </a:pPr>
            <a:r>
              <a:rPr lang="en-US" sz="1000" dirty="0">
                <a:solidFill>
                  <a:srgbClr val="5B6468"/>
                </a:solidFill>
                <a:latin typeface="Arial" pitchFamily="34" charset="0"/>
                <a:ea typeface="Arial" pitchFamily="34" charset="-122"/>
                <a:cs typeface="Arial" pitchFamily="34" charset="-120"/>
              </a:rPr>
              <a:t>Bewohnende: Auszug, Wohnung, Rückkehr. Live auf dem Handy.</a:t>
            </a:r>
            <a:endParaRPr lang="en-US" sz="10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Vier Regeln. Jeder Konflikt mit Namen, Grund und Vorschlag.</a:t>
            </a:r>
            <a:endParaRPr lang="en-US" sz="3000" dirty="0"/>
          </a:p>
        </p:txBody>
      </p:sp>
      <p:sp>
        <p:nvSpPr>
          <p:cNvPr id="3" name="Shape 1"/>
          <p:cNvSpPr/>
          <p:nvPr/>
        </p:nvSpPr>
        <p:spPr>
          <a:xfrm>
            <a:off x="457200" y="1325880"/>
            <a:ext cx="384048" cy="384048"/>
          </a:xfrm>
          <a:prstGeom prst="roundRect">
            <a:avLst>
              <a:gd name="adj" fmla="val 19048"/>
            </a:avLst>
          </a:prstGeom>
          <a:solidFill>
            <a:srgbClr val="1C2326"/>
          </a:solidFill>
          <a:ln w="12700">
            <a:solidFill>
              <a:srgbClr val="1C2326"/>
            </a:solidFill>
            <a:prstDash val="solid"/>
          </a:ln>
        </p:spPr>
      </p:sp>
      <p:sp>
        <p:nvSpPr>
          <p:cNvPr id="4" name="Text 2"/>
          <p:cNvSpPr txBox="1"/>
          <p:nvPr/>
        </p:nvSpPr>
        <p:spPr>
          <a:xfrm>
            <a:off x="457200" y="1325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5" name="Text 3"/>
          <p:cNvSpPr txBox="1"/>
          <p:nvPr/>
        </p:nvSpPr>
        <p:spPr>
          <a:xfrm>
            <a:off x="960120" y="1325880"/>
            <a:ext cx="2377440" cy="384048"/>
          </a:xfrm>
          <a:prstGeom prst="rect">
            <a:avLst/>
          </a:prstGeom>
          <a:noFill/>
          <a:ln/>
        </p:spPr>
        <p:txBody>
          <a:bodyPr wrap="square" lIns="0" tIns="0" rIns="0" bIns="0" rtlCol="0" anchor="ctr"/>
          <a:lstStyle/>
          <a:p>
            <a:pPr indent="0" marL="0">
              <a:buNone/>
            </a:pPr>
            <a:r>
              <a:rPr lang="en-US" sz="1600" b="1" dirty="0">
                <a:solidFill>
                  <a:srgbClr val="1C2326"/>
                </a:solidFill>
                <a:latin typeface="Arial" pitchFamily="34" charset="0"/>
                <a:ea typeface="Arial" pitchFamily="34" charset="-122"/>
                <a:cs typeface="Arial" pitchFamily="34" charset="-120"/>
              </a:rPr>
              <a:t>Zimmerzahl</a:t>
            </a:r>
            <a:endParaRPr lang="en-US" sz="1600" dirty="0"/>
          </a:p>
        </p:txBody>
      </p:sp>
      <p:sp>
        <p:nvSpPr>
          <p:cNvPr id="6" name="Shape 4"/>
          <p:cNvSpPr/>
          <p:nvPr/>
        </p:nvSpPr>
        <p:spPr>
          <a:xfrm>
            <a:off x="457200" y="1892808"/>
            <a:ext cx="384048" cy="384048"/>
          </a:xfrm>
          <a:prstGeom prst="roundRect">
            <a:avLst>
              <a:gd name="adj" fmla="val 19048"/>
            </a:avLst>
          </a:prstGeom>
          <a:solidFill>
            <a:srgbClr val="1C2326"/>
          </a:solidFill>
          <a:ln w="12700">
            <a:solidFill>
              <a:srgbClr val="1C2326"/>
            </a:solidFill>
            <a:prstDash val="solid"/>
          </a:ln>
        </p:spPr>
      </p:sp>
      <p:sp>
        <p:nvSpPr>
          <p:cNvPr id="7" name="Text 5"/>
          <p:cNvSpPr txBox="1"/>
          <p:nvPr/>
        </p:nvSpPr>
        <p:spPr>
          <a:xfrm>
            <a:off x="457200" y="1892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8" name="Text 6"/>
          <p:cNvSpPr txBox="1"/>
          <p:nvPr/>
        </p:nvSpPr>
        <p:spPr>
          <a:xfrm>
            <a:off x="960120" y="1892808"/>
            <a:ext cx="2377440" cy="384048"/>
          </a:xfrm>
          <a:prstGeom prst="rect">
            <a:avLst/>
          </a:prstGeom>
          <a:noFill/>
          <a:ln/>
        </p:spPr>
        <p:txBody>
          <a:bodyPr wrap="square" lIns="0" tIns="0" rIns="0" bIns="0" rtlCol="0" anchor="ctr"/>
          <a:lstStyle/>
          <a:p>
            <a:pPr indent="0" marL="0">
              <a:buNone/>
            </a:pPr>
            <a:r>
              <a:rPr lang="en-US" sz="1600" b="1" dirty="0">
                <a:solidFill>
                  <a:srgbClr val="1C2326"/>
                </a:solidFill>
                <a:latin typeface="Arial" pitchFamily="34" charset="0"/>
                <a:ea typeface="Arial" pitchFamily="34" charset="-122"/>
                <a:cs typeface="Arial" pitchFamily="34" charset="-120"/>
              </a:rPr>
              <a:t>Hindernisfrei</a:t>
            </a:r>
            <a:endParaRPr lang="en-US" sz="1600" dirty="0"/>
          </a:p>
        </p:txBody>
      </p:sp>
      <p:sp>
        <p:nvSpPr>
          <p:cNvPr id="9" name="Shape 7"/>
          <p:cNvSpPr/>
          <p:nvPr/>
        </p:nvSpPr>
        <p:spPr>
          <a:xfrm>
            <a:off x="457200" y="2459736"/>
            <a:ext cx="384048" cy="384048"/>
          </a:xfrm>
          <a:prstGeom prst="roundRect">
            <a:avLst>
              <a:gd name="adj" fmla="val 19048"/>
            </a:avLst>
          </a:prstGeom>
          <a:solidFill>
            <a:srgbClr val="1C2326"/>
          </a:solidFill>
          <a:ln w="12700">
            <a:solidFill>
              <a:srgbClr val="1C2326"/>
            </a:solidFill>
            <a:prstDash val="solid"/>
          </a:ln>
        </p:spPr>
      </p:sp>
      <p:sp>
        <p:nvSpPr>
          <p:cNvPr id="10" name="Text 8"/>
          <p:cNvSpPr txBox="1"/>
          <p:nvPr/>
        </p:nvSpPr>
        <p:spPr>
          <a:xfrm>
            <a:off x="457200" y="24597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1" name="Text 9"/>
          <p:cNvSpPr txBox="1"/>
          <p:nvPr/>
        </p:nvSpPr>
        <p:spPr>
          <a:xfrm>
            <a:off x="960120" y="2459736"/>
            <a:ext cx="2377440" cy="384048"/>
          </a:xfrm>
          <a:prstGeom prst="rect">
            <a:avLst/>
          </a:prstGeom>
          <a:noFill/>
          <a:ln/>
        </p:spPr>
        <p:txBody>
          <a:bodyPr wrap="square" lIns="0" tIns="0" rIns="0" bIns="0" rtlCol="0" anchor="ctr"/>
          <a:lstStyle/>
          <a:p>
            <a:pPr indent="0" marL="0">
              <a:buNone/>
            </a:pPr>
            <a:r>
              <a:rPr lang="en-US" sz="1600" b="1" dirty="0">
                <a:solidFill>
                  <a:srgbClr val="1C2326"/>
                </a:solidFill>
                <a:latin typeface="Arial" pitchFamily="34" charset="0"/>
                <a:ea typeface="Arial" pitchFamily="34" charset="-122"/>
                <a:cs typeface="Arial" pitchFamily="34" charset="-120"/>
              </a:rPr>
              <a:t>Zeitfenster</a:t>
            </a:r>
            <a:endParaRPr lang="en-US" sz="1600" dirty="0"/>
          </a:p>
        </p:txBody>
      </p:sp>
      <p:sp>
        <p:nvSpPr>
          <p:cNvPr id="12" name="Shape 10"/>
          <p:cNvSpPr/>
          <p:nvPr/>
        </p:nvSpPr>
        <p:spPr>
          <a:xfrm>
            <a:off x="457200" y="3026664"/>
            <a:ext cx="384048" cy="384048"/>
          </a:xfrm>
          <a:prstGeom prst="roundRect">
            <a:avLst>
              <a:gd name="adj" fmla="val 19048"/>
            </a:avLst>
          </a:prstGeom>
          <a:solidFill>
            <a:srgbClr val="1C2326"/>
          </a:solidFill>
          <a:ln w="12700">
            <a:solidFill>
              <a:srgbClr val="1C2326"/>
            </a:solidFill>
            <a:prstDash val="solid"/>
          </a:ln>
        </p:spPr>
      </p:sp>
      <p:sp>
        <p:nvSpPr>
          <p:cNvPr id="13" name="Text 11"/>
          <p:cNvSpPr txBox="1"/>
          <p:nvPr/>
        </p:nvSpPr>
        <p:spPr>
          <a:xfrm>
            <a:off x="457200" y="3026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4" name="Text 12"/>
          <p:cNvSpPr txBox="1"/>
          <p:nvPr/>
        </p:nvSpPr>
        <p:spPr>
          <a:xfrm>
            <a:off x="960120" y="3026664"/>
            <a:ext cx="2377440" cy="384048"/>
          </a:xfrm>
          <a:prstGeom prst="rect">
            <a:avLst/>
          </a:prstGeom>
          <a:noFill/>
          <a:ln/>
        </p:spPr>
        <p:txBody>
          <a:bodyPr wrap="square" lIns="0" tIns="0" rIns="0" bIns="0" rtlCol="0" anchor="ctr"/>
          <a:lstStyle/>
          <a:p>
            <a:pPr indent="0" marL="0">
              <a:buNone/>
            </a:pPr>
            <a:r>
              <a:rPr lang="en-US" sz="1600" b="1" dirty="0">
                <a:solidFill>
                  <a:srgbClr val="1C2326"/>
                </a:solidFill>
                <a:latin typeface="Arial" pitchFamily="34" charset="0"/>
                <a:ea typeface="Arial" pitchFamily="34" charset="-122"/>
                <a:cs typeface="Arial" pitchFamily="34" charset="-120"/>
              </a:rPr>
              <a:t>Keine Doppelbelegung</a:t>
            </a:r>
            <a:endParaRPr lang="en-US" sz="1600" dirty="0"/>
          </a:p>
        </p:txBody>
      </p:sp>
      <p:sp>
        <p:nvSpPr>
          <p:cNvPr id="15" name="Text 13"/>
          <p:cNvSpPr txBox="1"/>
          <p:nvPr/>
        </p:nvSpPr>
        <p:spPr>
          <a:xfrm>
            <a:off x="457200" y="3657600"/>
            <a:ext cx="2926080" cy="731520"/>
          </a:xfrm>
          <a:prstGeom prst="rect">
            <a:avLst/>
          </a:prstGeom>
          <a:noFill/>
          <a:ln/>
        </p:spPr>
        <p:txBody>
          <a:bodyPr wrap="square" lIns="0" tIns="0" rIns="0" bIns="0" rtlCol="0" anchor="t"/>
          <a:lstStyle/>
          <a:p>
            <a:pPr indent="0" marL="0">
              <a:buNone/>
            </a:pPr>
            <a:r>
              <a:rPr lang="en-US" sz="1200" dirty="0">
                <a:solidFill>
                  <a:srgbClr val="5B6468"/>
                </a:solidFill>
                <a:latin typeface="Arial" pitchFamily="34" charset="0"/>
                <a:ea typeface="Arial" pitchFamily="34" charset="-122"/>
                <a:cs typeface="Arial" pitchFamily="34" charset="-120"/>
              </a:rPr>
              <a:t>Nie gebrochen. Geht es nicht auf, sagt ROCHADE, was fehlt.</a:t>
            </a:r>
            <a:endParaRPr lang="en-US" sz="1200" dirty="0"/>
          </a:p>
        </p:txBody>
      </p:sp>
      <p:sp>
        <p:nvSpPr>
          <p:cNvPr id="16" name="Shape 14"/>
          <p:cNvSpPr/>
          <p:nvPr/>
        </p:nvSpPr>
        <p:spPr>
          <a:xfrm>
            <a:off x="3657600" y="1280160"/>
            <a:ext cx="5029200" cy="3246120"/>
          </a:xfrm>
          <a:prstGeom prst="roundRect">
            <a:avLst>
              <a:gd name="adj" fmla="val 3944"/>
            </a:avLst>
          </a:prstGeom>
          <a:solidFill>
            <a:srgbClr val="FFFFFF"/>
          </a:solidFill>
          <a:ln w="9525">
            <a:solidFill>
              <a:srgbClr val="E3DDD4"/>
            </a:solidFill>
            <a:prstDash val="solid"/>
          </a:ln>
        </p:spPr>
      </p:sp>
      <p:pic>
        <p:nvPicPr>
          <p:cNvPr id="17" name="Image 0" descr="/private/tmp/claude-501/-Users-francescorocca--claude-spares-spare-pTP7p5/c9c54887-e9ac-44ae-bd9c-ebf5f8016333/scratchpad/deck/img/status-crop.png">    </p:cNvPr>
          <p:cNvPicPr>
            <a:picLocks noChangeAspect="1"/>
          </p:cNvPicPr>
          <p:nvPr/>
        </p:nvPicPr>
        <p:blipFill>
          <a:blip r:embed="rId1"/>
          <a:srcRect l="0" r="0" t="0" b="0"/>
          <a:stretch/>
        </p:blipFill>
        <p:spPr>
          <a:xfrm>
            <a:off x="3767328" y="1371600"/>
            <a:ext cx="4809744" cy="3063240"/>
          </a:xfrm>
          <a:prstGeom prst="rect">
            <a:avLst/>
          </a:prstGeom>
        </p:spPr>
      </p:pic>
      <p:sp>
        <p:nvSpPr>
          <p:cNvPr id="18" name="Text 15"/>
          <p:cNvSpPr txBox="1"/>
          <p:nvPr/>
        </p:nvSpPr>
        <p:spPr>
          <a:xfrm>
            <a:off x="3657600" y="4553712"/>
            <a:ext cx="5029200" cy="256032"/>
          </a:xfrm>
          <a:prstGeom prst="rect">
            <a:avLst/>
          </a:prstGeom>
          <a:noFill/>
          <a:ln/>
        </p:spPr>
        <p:txBody>
          <a:bodyPr wrap="square" lIns="0" tIns="0" rIns="0" bIns="0" rtlCol="0" anchor="ctr"/>
          <a:lstStyle/>
          <a:p>
            <a:pPr indent="0" marL="0">
              <a:buNone/>
            </a:pPr>
            <a:r>
              <a:rPr lang="en-US" sz="900" dirty="0">
                <a:solidFill>
                  <a:srgbClr val="5B6468"/>
                </a:solidFill>
                <a:latin typeface="Arial" pitchFamily="34" charset="0"/>
                <a:ea typeface="Arial" pitchFamily="34" charset="-122"/>
                <a:cs typeface="Arial" pitchFamily="34" charset="-120"/>
              </a:rPr>
              <a:t>Etappe 1 verzögert sich um zwei Monate: 11 Konflikte, Vorschlag Etappe 2 ab November 2027.</a:t>
            </a:r>
            <a:endParaRPr lang="en-US" sz="9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Die Eigentümerschaft zahlt. Pro Sanierungsprojekt.</a:t>
            </a:r>
            <a:endParaRPr lang="en-US" sz="3000" dirty="0"/>
          </a:p>
        </p:txBody>
      </p:sp>
      <p:sp>
        <p:nvSpPr>
          <p:cNvPr id="3" name="Shape 1"/>
          <p:cNvSpPr/>
          <p:nvPr/>
        </p:nvSpPr>
        <p:spPr>
          <a:xfrm>
            <a:off x="457200" y="1280160"/>
            <a:ext cx="2651760" cy="3291840"/>
          </a:xfrm>
          <a:prstGeom prst="roundRect">
            <a:avLst>
              <a:gd name="adj" fmla="val 4828"/>
            </a:avLst>
          </a:prstGeom>
          <a:solidFill>
            <a:srgbClr val="E2ECEE"/>
          </a:solidFill>
          <a:ln w="12700">
            <a:solidFill>
              <a:srgbClr val="E2ECEE"/>
            </a:solidFill>
            <a:prstDash val="solid"/>
          </a:ln>
        </p:spPr>
      </p:sp>
      <p:sp>
        <p:nvSpPr>
          <p:cNvPr id="4" name="Text 2"/>
          <p:cNvSpPr txBox="1"/>
          <p:nvPr/>
        </p:nvSpPr>
        <p:spPr>
          <a:xfrm>
            <a:off x="685800" y="1463040"/>
            <a:ext cx="2194560" cy="365760"/>
          </a:xfrm>
          <a:prstGeom prst="rect">
            <a:avLst/>
          </a:prstGeom>
          <a:noFill/>
          <a:ln/>
        </p:spPr>
        <p:txBody>
          <a:bodyPr wrap="square" lIns="0" tIns="0" rIns="0" bIns="0" rtlCol="0" anchor="ctr"/>
          <a:lstStyle/>
          <a:p>
            <a:pPr indent="0" marL="0">
              <a:buNone/>
            </a:pPr>
            <a:r>
              <a:rPr lang="en-US" sz="1400" b="1" dirty="0">
                <a:solidFill>
                  <a:srgbClr val="5B6468"/>
                </a:solidFill>
                <a:latin typeface="Arial" pitchFamily="34" charset="0"/>
                <a:ea typeface="Arial" pitchFamily="34" charset="-122"/>
                <a:cs typeface="Arial" pitchFamily="34" charset="-120"/>
              </a:rPr>
              <a:t>Kundschaft</a:t>
            </a:r>
            <a:endParaRPr lang="en-US" sz="1400" dirty="0"/>
          </a:p>
        </p:txBody>
      </p:sp>
      <p:sp>
        <p:nvSpPr>
          <p:cNvPr id="5" name="Text 3"/>
          <p:cNvSpPr txBox="1"/>
          <p:nvPr/>
        </p:nvSpPr>
        <p:spPr>
          <a:xfrm>
            <a:off x="685800" y="1874520"/>
            <a:ext cx="2240280" cy="1463040"/>
          </a:xfrm>
          <a:prstGeom prst="rect">
            <a:avLst/>
          </a:prstGeom>
          <a:noFill/>
          <a:ln/>
        </p:spPr>
        <p:txBody>
          <a:bodyPr wrap="square" lIns="0" tIns="0" rIns="0" bIns="0" rtlCol="0" anchor="t"/>
          <a:lstStyle/>
          <a:p>
            <a:pPr indent="0" marL="0">
              <a:lnSpc>
                <a:spcPct val="115000"/>
              </a:lnSpc>
              <a:buNone/>
            </a:pPr>
            <a:r>
              <a:rPr lang="en-US" sz="2000" b="1" dirty="0">
                <a:solidFill>
                  <a:srgbClr val="1C2326"/>
                </a:solidFill>
                <a:latin typeface="Arial" pitchFamily="34" charset="0"/>
                <a:ea typeface="Arial" pitchFamily="34" charset="-122"/>
                <a:cs typeface="Arial" pitchFamily="34" charset="-120"/>
              </a:rPr>
              <a:t>Genossenschaften</a:t>
            </a:r>
            <a:endParaRPr lang="en-US" sz="2000" dirty="0"/>
          </a:p>
          <a:p>
            <a:pPr indent="0" marL="0">
              <a:lnSpc>
                <a:spcPct val="115000"/>
              </a:lnSpc>
              <a:buNone/>
            </a:pPr>
            <a:r>
              <a:rPr lang="en-US" sz="2000" b="1" dirty="0">
                <a:solidFill>
                  <a:srgbClr val="1C2326"/>
                </a:solidFill>
                <a:latin typeface="Arial" pitchFamily="34" charset="0"/>
                <a:ea typeface="Arial" pitchFamily="34" charset="-122"/>
                <a:cs typeface="Arial" pitchFamily="34" charset="-120"/>
              </a:rPr>
              <a:t>Städtische Verwaltungen</a:t>
            </a:r>
            <a:endParaRPr lang="en-US" sz="2000" dirty="0"/>
          </a:p>
          <a:p>
            <a:pPr indent="0" marL="0">
              <a:lnSpc>
                <a:spcPct val="115000"/>
              </a:lnSpc>
              <a:buNone/>
            </a:pPr>
            <a:r>
              <a:rPr lang="en-US" sz="2000" b="1" dirty="0">
                <a:solidFill>
                  <a:srgbClr val="1C2326"/>
                </a:solidFill>
                <a:latin typeface="Arial" pitchFamily="34" charset="0"/>
                <a:ea typeface="Arial" pitchFamily="34" charset="-122"/>
                <a:cs typeface="Arial" pitchFamily="34" charset="-120"/>
              </a:rPr>
              <a:t>Pensionskassen</a:t>
            </a:r>
            <a:endParaRPr lang="en-US" sz="2000" dirty="0"/>
          </a:p>
        </p:txBody>
      </p:sp>
      <p:sp>
        <p:nvSpPr>
          <p:cNvPr id="6" name="Text 4"/>
          <p:cNvSpPr txBox="1"/>
          <p:nvPr/>
        </p:nvSpPr>
        <p:spPr>
          <a:xfrm>
            <a:off x="685800" y="3520440"/>
            <a:ext cx="2194560" cy="868680"/>
          </a:xfrm>
          <a:prstGeom prst="rect">
            <a:avLst/>
          </a:prstGeom>
          <a:noFill/>
          <a:ln/>
        </p:spPr>
        <p:txBody>
          <a:bodyPr wrap="square" lIns="0" tIns="0" rIns="0" bIns="0" rtlCol="0" anchor="t"/>
          <a:lstStyle/>
          <a:p>
            <a:pPr indent="0" marL="0">
              <a:buNone/>
            </a:pPr>
            <a:r>
              <a:rPr lang="en-US" sz="1100" dirty="0">
                <a:solidFill>
                  <a:srgbClr val="1C2326"/>
                </a:solidFill>
                <a:latin typeface="Arial" pitchFamily="34" charset="0"/>
                <a:ea typeface="Arial" pitchFamily="34" charset="-122"/>
                <a:cs typeface="Arial" pitchFamily="34" charset="-120"/>
              </a:rPr>
              <a:t>Erster Kunde: eine Zürcher Genossenschaft, 2027</a:t>
            </a:r>
            <a:endParaRPr lang="en-US" sz="1100" dirty="0"/>
          </a:p>
        </p:txBody>
      </p:sp>
      <p:sp>
        <p:nvSpPr>
          <p:cNvPr id="7" name="Shape 5"/>
          <p:cNvSpPr/>
          <p:nvPr/>
        </p:nvSpPr>
        <p:spPr>
          <a:xfrm>
            <a:off x="3246120" y="1280160"/>
            <a:ext cx="2651760" cy="3291840"/>
          </a:xfrm>
          <a:prstGeom prst="roundRect">
            <a:avLst>
              <a:gd name="adj" fmla="val 4828"/>
            </a:avLst>
          </a:prstGeom>
          <a:solidFill>
            <a:srgbClr val="FDEBDD"/>
          </a:solidFill>
          <a:ln w="12700">
            <a:solidFill>
              <a:srgbClr val="FDEBDD"/>
            </a:solidFill>
            <a:prstDash val="solid"/>
          </a:ln>
        </p:spPr>
      </p:sp>
      <p:sp>
        <p:nvSpPr>
          <p:cNvPr id="8" name="Text 6"/>
          <p:cNvSpPr txBox="1"/>
          <p:nvPr/>
        </p:nvSpPr>
        <p:spPr>
          <a:xfrm>
            <a:off x="3474720" y="1463040"/>
            <a:ext cx="2194560" cy="365760"/>
          </a:xfrm>
          <a:prstGeom prst="rect">
            <a:avLst/>
          </a:prstGeom>
          <a:noFill/>
          <a:ln/>
        </p:spPr>
        <p:txBody>
          <a:bodyPr wrap="square" lIns="0" tIns="0" rIns="0" bIns="0" rtlCol="0" anchor="ctr"/>
          <a:lstStyle/>
          <a:p>
            <a:pPr indent="0" marL="0">
              <a:buNone/>
            </a:pPr>
            <a:r>
              <a:rPr lang="en-US" sz="1400" b="1" dirty="0">
                <a:solidFill>
                  <a:srgbClr val="5B6468"/>
                </a:solidFill>
                <a:latin typeface="Arial" pitchFamily="34" charset="0"/>
                <a:ea typeface="Arial" pitchFamily="34" charset="-122"/>
                <a:cs typeface="Arial" pitchFamily="34" charset="-120"/>
              </a:rPr>
              <a:t>Preis</a:t>
            </a:r>
            <a:endParaRPr lang="en-US" sz="1400" dirty="0"/>
          </a:p>
        </p:txBody>
      </p:sp>
      <p:sp>
        <p:nvSpPr>
          <p:cNvPr id="9" name="Text 7"/>
          <p:cNvSpPr txBox="1"/>
          <p:nvPr/>
        </p:nvSpPr>
        <p:spPr>
          <a:xfrm>
            <a:off x="3474720" y="1874520"/>
            <a:ext cx="2240280" cy="1463040"/>
          </a:xfrm>
          <a:prstGeom prst="rect">
            <a:avLst/>
          </a:prstGeom>
          <a:noFill/>
          <a:ln/>
        </p:spPr>
        <p:txBody>
          <a:bodyPr wrap="square" lIns="0" tIns="0" rIns="0" bIns="0" rtlCol="0" anchor="t"/>
          <a:lstStyle/>
          <a:p>
            <a:pPr indent="0" marL="0">
              <a:lnSpc>
                <a:spcPct val="115000"/>
              </a:lnSpc>
              <a:buNone/>
            </a:pPr>
            <a:r>
              <a:rPr lang="en-US" sz="2000" b="1" dirty="0">
                <a:solidFill>
                  <a:srgbClr val="1C2326"/>
                </a:solidFill>
                <a:latin typeface="Arial" pitchFamily="34" charset="0"/>
                <a:ea typeface="Arial" pitchFamily="34" charset="-122"/>
                <a:cs typeface="Arial" pitchFamily="34" charset="-120"/>
              </a:rPr>
              <a:t>1 ‰ der Sanierungssumme</a:t>
            </a:r>
            <a:endParaRPr lang="en-US" sz="2000" dirty="0"/>
          </a:p>
          <a:p>
            <a:pPr indent="0" marL="0">
              <a:lnSpc>
                <a:spcPct val="115000"/>
              </a:lnSpc>
              <a:buNone/>
            </a:pPr>
            <a:r>
              <a:rPr lang="en-US" sz="2000" b="1" dirty="0">
                <a:solidFill>
                  <a:srgbClr val="1C2326"/>
                </a:solidFill>
                <a:latin typeface="Arial" pitchFamily="34" charset="0"/>
                <a:ea typeface="Arial" pitchFamily="34" charset="-122"/>
                <a:cs typeface="Arial" pitchFamily="34" charset="-120"/>
              </a:rPr>
              <a:t>mindestens CHF 5'000</a:t>
            </a:r>
            <a:endParaRPr lang="en-US" sz="2000" dirty="0"/>
          </a:p>
        </p:txBody>
      </p:sp>
      <p:sp>
        <p:nvSpPr>
          <p:cNvPr id="10" name="Text 8"/>
          <p:cNvSpPr txBox="1"/>
          <p:nvPr/>
        </p:nvSpPr>
        <p:spPr>
          <a:xfrm>
            <a:off x="3474720" y="3520440"/>
            <a:ext cx="2194560" cy="868680"/>
          </a:xfrm>
          <a:prstGeom prst="rect">
            <a:avLst/>
          </a:prstGeom>
          <a:noFill/>
          <a:ln/>
        </p:spPr>
        <p:txBody>
          <a:bodyPr wrap="square" lIns="0" tIns="0" rIns="0" bIns="0" rtlCol="0" anchor="t"/>
          <a:lstStyle/>
          <a:p>
            <a:pPr indent="0" marL="0">
              <a:buNone/>
            </a:pPr>
            <a:r>
              <a:rPr lang="en-US" sz="1100" dirty="0">
                <a:solidFill>
                  <a:srgbClr val="1C2326"/>
                </a:solidFill>
                <a:latin typeface="Arial" pitchFamily="34" charset="0"/>
                <a:ea typeface="Arial" pitchFamily="34" charset="-122"/>
                <a:cs typeface="Arial" pitchFamily="34" charset="-120"/>
              </a:rPr>
              <a:t>10 Mio. Sanierung → CHF 10'000. Eine Woche Verzögerung kostet mehr.</a:t>
            </a:r>
            <a:endParaRPr lang="en-US" sz="1100" dirty="0"/>
          </a:p>
        </p:txBody>
      </p:sp>
      <p:sp>
        <p:nvSpPr>
          <p:cNvPr id="11" name="Shape 9"/>
          <p:cNvSpPr/>
          <p:nvPr/>
        </p:nvSpPr>
        <p:spPr>
          <a:xfrm>
            <a:off x="6035040" y="1280160"/>
            <a:ext cx="2651760" cy="3291840"/>
          </a:xfrm>
          <a:prstGeom prst="roundRect">
            <a:avLst>
              <a:gd name="adj" fmla="val 4828"/>
            </a:avLst>
          </a:prstGeom>
          <a:solidFill>
            <a:srgbClr val="F1EDE6"/>
          </a:solidFill>
          <a:ln w="12700">
            <a:solidFill>
              <a:srgbClr val="F1EDE6"/>
            </a:solidFill>
            <a:prstDash val="solid"/>
          </a:ln>
        </p:spPr>
      </p:sp>
      <p:sp>
        <p:nvSpPr>
          <p:cNvPr id="12" name="Text 10"/>
          <p:cNvSpPr txBox="1"/>
          <p:nvPr/>
        </p:nvSpPr>
        <p:spPr>
          <a:xfrm>
            <a:off x="6263640" y="1463040"/>
            <a:ext cx="2194560" cy="365760"/>
          </a:xfrm>
          <a:prstGeom prst="rect">
            <a:avLst/>
          </a:prstGeom>
          <a:noFill/>
          <a:ln/>
        </p:spPr>
        <p:txBody>
          <a:bodyPr wrap="square" lIns="0" tIns="0" rIns="0" bIns="0" rtlCol="0" anchor="ctr"/>
          <a:lstStyle/>
          <a:p>
            <a:pPr indent="0" marL="0">
              <a:buNone/>
            </a:pPr>
            <a:r>
              <a:rPr lang="en-US" sz="1400" b="1" dirty="0">
                <a:solidFill>
                  <a:srgbClr val="5B6468"/>
                </a:solidFill>
                <a:latin typeface="Arial" pitchFamily="34" charset="0"/>
                <a:ea typeface="Arial" pitchFamily="34" charset="-122"/>
                <a:cs typeface="Arial" pitchFamily="34" charset="-120"/>
              </a:rPr>
              <a:t>Break-even</a:t>
            </a:r>
            <a:endParaRPr lang="en-US" sz="1400" dirty="0"/>
          </a:p>
        </p:txBody>
      </p:sp>
      <p:sp>
        <p:nvSpPr>
          <p:cNvPr id="13" name="Text 11"/>
          <p:cNvSpPr txBox="1"/>
          <p:nvPr/>
        </p:nvSpPr>
        <p:spPr>
          <a:xfrm>
            <a:off x="6263640" y="1874520"/>
            <a:ext cx="2240280" cy="1463040"/>
          </a:xfrm>
          <a:prstGeom prst="rect">
            <a:avLst/>
          </a:prstGeom>
          <a:noFill/>
          <a:ln/>
        </p:spPr>
        <p:txBody>
          <a:bodyPr wrap="square" lIns="0" tIns="0" rIns="0" bIns="0" rtlCol="0" anchor="t"/>
          <a:lstStyle/>
          <a:p>
            <a:pPr indent="0" marL="0">
              <a:lnSpc>
                <a:spcPct val="115000"/>
              </a:lnSpc>
              <a:buNone/>
            </a:pPr>
            <a:r>
              <a:rPr lang="en-US" sz="2000" b="1" dirty="0">
                <a:solidFill>
                  <a:srgbClr val="1C2326"/>
                </a:solidFill>
                <a:latin typeface="Arial" pitchFamily="34" charset="0"/>
                <a:ea typeface="Arial" pitchFamily="34" charset="-122"/>
                <a:cs typeface="Arial" pitchFamily="34" charset="-120"/>
              </a:rPr>
              <a:t>12 Projekte pro Jahr</a:t>
            </a:r>
            <a:endParaRPr lang="en-US" sz="2000" dirty="0"/>
          </a:p>
        </p:txBody>
      </p:sp>
      <p:sp>
        <p:nvSpPr>
          <p:cNvPr id="14" name="Text 12"/>
          <p:cNvSpPr txBox="1"/>
          <p:nvPr/>
        </p:nvSpPr>
        <p:spPr>
          <a:xfrm>
            <a:off x="6263640" y="3520440"/>
            <a:ext cx="2194560" cy="868680"/>
          </a:xfrm>
          <a:prstGeom prst="rect">
            <a:avLst/>
          </a:prstGeom>
          <a:noFill/>
          <a:ln/>
        </p:spPr>
        <p:txBody>
          <a:bodyPr wrap="square" lIns="0" tIns="0" rIns="0" bIns="0" rtlCol="0" anchor="t"/>
          <a:lstStyle/>
          <a:p>
            <a:pPr indent="0" marL="0">
              <a:buNone/>
            </a:pPr>
            <a:r>
              <a:rPr lang="en-US" sz="1100" dirty="0">
                <a:solidFill>
                  <a:srgbClr val="1C2326"/>
                </a:solidFill>
                <a:latin typeface="Arial" pitchFamily="34" charset="0"/>
                <a:ea typeface="Arial" pitchFamily="34" charset="-122"/>
                <a:cs typeface="Arial" pitchFamily="34" charset="-120"/>
              </a:rPr>
              <a:t>Kosten Jahr 1 rund CHF 120'000: 1,5 Stellen, Hosting, Vertrieb. Annahmen.</a:t>
            </a:r>
            <a:endParaRPr lang="en-US" sz="11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Der Markt ist da. Das Recht zieht nach.</a:t>
            </a:r>
            <a:endParaRPr lang="en-US" sz="3000" dirty="0"/>
          </a:p>
        </p:txBody>
      </p:sp>
      <p:sp>
        <p:nvSpPr>
          <p:cNvPr id="3" name="Shape 1"/>
          <p:cNvSpPr/>
          <p:nvPr/>
        </p:nvSpPr>
        <p:spPr>
          <a:xfrm>
            <a:off x="457200" y="1280160"/>
            <a:ext cx="2377440" cy="1600200"/>
          </a:xfrm>
          <a:prstGeom prst="roundRect">
            <a:avLst>
              <a:gd name="adj" fmla="val 8000"/>
            </a:avLst>
          </a:prstGeom>
          <a:solidFill>
            <a:srgbClr val="FFFFFF"/>
          </a:solidFill>
          <a:ln w="9525">
            <a:solidFill>
              <a:srgbClr val="E3DDD4"/>
            </a:solidFill>
            <a:prstDash val="solid"/>
          </a:ln>
        </p:spPr>
      </p:sp>
      <p:sp>
        <p:nvSpPr>
          <p:cNvPr id="4" name="Text 2"/>
          <p:cNvSpPr txBox="1"/>
          <p:nvPr/>
        </p:nvSpPr>
        <p:spPr>
          <a:xfrm>
            <a:off x="685800" y="1426464"/>
            <a:ext cx="1920240" cy="508000"/>
          </a:xfrm>
          <a:prstGeom prst="rect">
            <a:avLst/>
          </a:prstGeom>
          <a:noFill/>
          <a:ln/>
        </p:spPr>
        <p:txBody>
          <a:bodyPr wrap="square" lIns="0" tIns="0" rIns="0" bIns="0" rtlCol="0" anchor="ctr"/>
          <a:lstStyle/>
          <a:p>
            <a:pPr indent="0" marL="0">
              <a:buNone/>
            </a:pPr>
            <a:r>
              <a:rPr lang="en-US" sz="3200" b="1" dirty="0">
                <a:solidFill>
                  <a:srgbClr val="1C2326"/>
                </a:solidFill>
                <a:latin typeface="Arial" pitchFamily="34" charset="0"/>
                <a:ea typeface="Arial" pitchFamily="34" charset="-122"/>
                <a:cs typeface="Arial" pitchFamily="34" charset="-120"/>
              </a:rPr>
              <a:t>58'100</a:t>
            </a:r>
            <a:endParaRPr lang="en-US" sz="3200" dirty="0"/>
          </a:p>
        </p:txBody>
      </p:sp>
      <p:sp>
        <p:nvSpPr>
          <p:cNvPr id="5" name="Text 3"/>
          <p:cNvSpPr txBox="1"/>
          <p:nvPr/>
        </p:nvSpPr>
        <p:spPr>
          <a:xfrm>
            <a:off x="685800" y="1971040"/>
            <a:ext cx="1920240" cy="525272"/>
          </a:xfrm>
          <a:prstGeom prst="rect">
            <a:avLst/>
          </a:prstGeom>
          <a:noFill/>
          <a:ln/>
        </p:spPr>
        <p:txBody>
          <a:bodyPr wrap="square" lIns="0" tIns="0" rIns="0" bIns="0" rtlCol="0" anchor="t"/>
          <a:lstStyle/>
          <a:p>
            <a:pPr indent="0" marL="0">
              <a:buNone/>
            </a:pPr>
            <a:r>
              <a:rPr lang="en-US" sz="1100" dirty="0">
                <a:solidFill>
                  <a:srgbClr val="1C2326"/>
                </a:solidFill>
                <a:latin typeface="Arial" pitchFamily="34" charset="0"/>
                <a:ea typeface="Arial" pitchFamily="34" charset="-122"/>
                <a:cs typeface="Arial" pitchFamily="34" charset="-120"/>
              </a:rPr>
              <a:t>gemeinnützige Wohnungen in Zürich, 27 %. Ziel 2050: ein Drittel.</a:t>
            </a:r>
            <a:endParaRPr lang="en-US" sz="1100" dirty="0"/>
          </a:p>
        </p:txBody>
      </p:sp>
      <p:sp>
        <p:nvSpPr>
          <p:cNvPr id="6" name="Text 4"/>
          <p:cNvSpPr txBox="1"/>
          <p:nvPr/>
        </p:nvSpPr>
        <p:spPr>
          <a:xfrm>
            <a:off x="685800" y="2551176"/>
            <a:ext cx="192024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Stadtrat Zürich, 2024</a:t>
            </a:r>
            <a:endParaRPr lang="en-US" sz="800" dirty="0"/>
          </a:p>
        </p:txBody>
      </p:sp>
      <p:sp>
        <p:nvSpPr>
          <p:cNvPr id="7" name="Shape 5"/>
          <p:cNvSpPr/>
          <p:nvPr/>
        </p:nvSpPr>
        <p:spPr>
          <a:xfrm>
            <a:off x="457200" y="3017520"/>
            <a:ext cx="2377440" cy="1554480"/>
          </a:xfrm>
          <a:prstGeom prst="roundRect">
            <a:avLst>
              <a:gd name="adj" fmla="val 8235"/>
            </a:avLst>
          </a:prstGeom>
          <a:solidFill>
            <a:srgbClr val="FFFFFF"/>
          </a:solidFill>
          <a:ln w="9525">
            <a:solidFill>
              <a:srgbClr val="E3DDD4"/>
            </a:solidFill>
            <a:prstDash val="solid"/>
          </a:ln>
        </p:spPr>
      </p:sp>
      <p:sp>
        <p:nvSpPr>
          <p:cNvPr id="8" name="Text 6"/>
          <p:cNvSpPr txBox="1"/>
          <p:nvPr/>
        </p:nvSpPr>
        <p:spPr>
          <a:xfrm>
            <a:off x="685800" y="3163824"/>
            <a:ext cx="1920240" cy="476250"/>
          </a:xfrm>
          <a:prstGeom prst="rect">
            <a:avLst/>
          </a:prstGeom>
          <a:noFill/>
          <a:ln/>
        </p:spPr>
        <p:txBody>
          <a:bodyPr wrap="square" lIns="0" tIns="0" rIns="0" bIns="0" rtlCol="0" anchor="ctr"/>
          <a:lstStyle/>
          <a:p>
            <a:pPr indent="0" marL="0">
              <a:buNone/>
            </a:pPr>
            <a:r>
              <a:rPr lang="en-US" sz="3000" b="1" dirty="0">
                <a:solidFill>
                  <a:srgbClr val="1C2326"/>
                </a:solidFill>
                <a:latin typeface="Arial" pitchFamily="34" charset="0"/>
                <a:ea typeface="Arial" pitchFamily="34" charset="-122"/>
                <a:cs typeface="Arial" pitchFamily="34" charset="-120"/>
              </a:rPr>
              <a:t>&gt; 1 Mio.</a:t>
            </a:r>
            <a:endParaRPr lang="en-US" sz="3000" dirty="0"/>
          </a:p>
        </p:txBody>
      </p:sp>
      <p:sp>
        <p:nvSpPr>
          <p:cNvPr id="9" name="Text 7"/>
          <p:cNvSpPr txBox="1"/>
          <p:nvPr/>
        </p:nvSpPr>
        <p:spPr>
          <a:xfrm>
            <a:off x="685800" y="3676650"/>
            <a:ext cx="1920240" cy="511302"/>
          </a:xfrm>
          <a:prstGeom prst="rect">
            <a:avLst/>
          </a:prstGeom>
          <a:noFill/>
          <a:ln/>
        </p:spPr>
        <p:txBody>
          <a:bodyPr wrap="square" lIns="0" tIns="0" rIns="0" bIns="0" rtlCol="0" anchor="t"/>
          <a:lstStyle/>
          <a:p>
            <a:pPr indent="0" marL="0">
              <a:buNone/>
            </a:pPr>
            <a:r>
              <a:rPr lang="en-US" sz="1100" dirty="0">
                <a:solidFill>
                  <a:srgbClr val="1C2326"/>
                </a:solidFill>
                <a:latin typeface="Arial" pitchFamily="34" charset="0"/>
                <a:ea typeface="Arial" pitchFamily="34" charset="-122"/>
                <a:cs typeface="Arial" pitchFamily="34" charset="-120"/>
              </a:rPr>
              <a:t>Wohngebäude sanierungsbedürftig. Saniert wird 1 % pro Jahr.</a:t>
            </a:r>
            <a:endParaRPr lang="en-US" sz="1100" dirty="0"/>
          </a:p>
        </p:txBody>
      </p:sp>
      <p:sp>
        <p:nvSpPr>
          <p:cNvPr id="10" name="Text 8"/>
          <p:cNvSpPr txBox="1"/>
          <p:nvPr/>
        </p:nvSpPr>
        <p:spPr>
          <a:xfrm>
            <a:off x="685800" y="4242816"/>
            <a:ext cx="192024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BFE 2024, HSLU 2023</a:t>
            </a:r>
            <a:endParaRPr lang="en-US" sz="800" dirty="0"/>
          </a:p>
        </p:txBody>
      </p:sp>
      <p:sp>
        <p:nvSpPr>
          <p:cNvPr id="11" name="Shape 9"/>
          <p:cNvSpPr/>
          <p:nvPr/>
        </p:nvSpPr>
        <p:spPr>
          <a:xfrm>
            <a:off x="3017520" y="1280160"/>
            <a:ext cx="5669280" cy="731520"/>
          </a:xfrm>
          <a:prstGeom prst="roundRect">
            <a:avLst>
              <a:gd name="adj" fmla="val 17500"/>
            </a:avLst>
          </a:prstGeom>
          <a:solidFill>
            <a:srgbClr val="FFFFFF"/>
          </a:solidFill>
          <a:ln w="9525">
            <a:solidFill>
              <a:srgbClr val="E3DDD4"/>
            </a:solidFill>
            <a:prstDash val="solid"/>
          </a:ln>
        </p:spPr>
      </p:sp>
      <p:sp>
        <p:nvSpPr>
          <p:cNvPr id="12" name="Shape 10"/>
          <p:cNvSpPr/>
          <p:nvPr/>
        </p:nvSpPr>
        <p:spPr>
          <a:xfrm>
            <a:off x="3200400" y="1554480"/>
            <a:ext cx="182880" cy="182880"/>
          </a:xfrm>
          <a:prstGeom prst="ellipse">
            <a:avLst/>
          </a:prstGeom>
          <a:solidFill>
            <a:srgbClr val="276B43"/>
          </a:solidFill>
          <a:ln w="12700">
            <a:solidFill>
              <a:srgbClr val="276B43"/>
            </a:solidFill>
            <a:prstDash val="solid"/>
          </a:ln>
        </p:spPr>
      </p:sp>
      <p:sp>
        <p:nvSpPr>
          <p:cNvPr id="13" name="Text 11"/>
          <p:cNvSpPr txBox="1"/>
          <p:nvPr/>
        </p:nvSpPr>
        <p:spPr>
          <a:xfrm>
            <a:off x="3520440" y="1371600"/>
            <a:ext cx="914400" cy="5486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Zürich</a:t>
            </a:r>
            <a:endParaRPr lang="en-US" sz="1500" dirty="0"/>
          </a:p>
        </p:txBody>
      </p:sp>
      <p:sp>
        <p:nvSpPr>
          <p:cNvPr id="14" name="Text 12"/>
          <p:cNvSpPr txBox="1"/>
          <p:nvPr/>
        </p:nvSpPr>
        <p:spPr>
          <a:xfrm>
            <a:off x="4434840" y="1353312"/>
            <a:ext cx="4114800" cy="594360"/>
          </a:xfrm>
          <a:prstGeom prst="rect">
            <a:avLst/>
          </a:prstGeom>
          <a:noFill/>
          <a:ln/>
        </p:spPr>
        <p:txBody>
          <a:bodyPr wrap="square" lIns="0" tIns="0" rIns="0" bIns="0" rtlCol="0" anchor="ctr"/>
          <a:lstStyle/>
          <a:p>
            <a:pPr indent="0" marL="0">
              <a:buNone/>
            </a:pPr>
            <a:r>
              <a:rPr lang="en-US" sz="1100" dirty="0">
                <a:solidFill>
                  <a:srgbClr val="1C2326"/>
                </a:solidFill>
                <a:latin typeface="Arial" pitchFamily="34" charset="0"/>
                <a:ea typeface="Arial" pitchFamily="34" charset="-122"/>
                <a:cs typeface="Arial" pitchFamily="34" charset="-120"/>
              </a:rPr>
              <a:t>Seit 14. Juni 2026: Eigentümer müssen zuerst prüfen, ob bewohnt oder etappenweise saniert werden kann.</a:t>
            </a:r>
            <a:endParaRPr lang="en-US" sz="1100" dirty="0"/>
          </a:p>
        </p:txBody>
      </p:sp>
      <p:sp>
        <p:nvSpPr>
          <p:cNvPr id="15" name="Shape 13"/>
          <p:cNvSpPr/>
          <p:nvPr/>
        </p:nvSpPr>
        <p:spPr>
          <a:xfrm>
            <a:off x="3017520" y="2121408"/>
            <a:ext cx="5669280" cy="731520"/>
          </a:xfrm>
          <a:prstGeom prst="roundRect">
            <a:avLst>
              <a:gd name="adj" fmla="val 17500"/>
            </a:avLst>
          </a:prstGeom>
          <a:solidFill>
            <a:srgbClr val="FFFFFF"/>
          </a:solidFill>
          <a:ln w="9525">
            <a:solidFill>
              <a:srgbClr val="E3DDD4"/>
            </a:solidFill>
            <a:prstDash val="solid"/>
          </a:ln>
        </p:spPr>
      </p:sp>
      <p:sp>
        <p:nvSpPr>
          <p:cNvPr id="16" name="Shape 14"/>
          <p:cNvSpPr/>
          <p:nvPr/>
        </p:nvSpPr>
        <p:spPr>
          <a:xfrm>
            <a:off x="3200400" y="2395728"/>
            <a:ext cx="182880" cy="182880"/>
          </a:xfrm>
          <a:prstGeom prst="ellipse">
            <a:avLst/>
          </a:prstGeom>
          <a:solidFill>
            <a:srgbClr val="F26A1B"/>
          </a:solidFill>
          <a:ln w="12700">
            <a:solidFill>
              <a:srgbClr val="F26A1B"/>
            </a:solidFill>
            <a:prstDash val="solid"/>
          </a:ln>
        </p:spPr>
      </p:sp>
      <p:sp>
        <p:nvSpPr>
          <p:cNvPr id="17" name="Text 15"/>
          <p:cNvSpPr txBox="1"/>
          <p:nvPr/>
        </p:nvSpPr>
        <p:spPr>
          <a:xfrm>
            <a:off x="3520440" y="2212848"/>
            <a:ext cx="914400" cy="5486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Luzern</a:t>
            </a:r>
            <a:endParaRPr lang="en-US" sz="1500" dirty="0"/>
          </a:p>
        </p:txBody>
      </p:sp>
      <p:sp>
        <p:nvSpPr>
          <p:cNvPr id="18" name="Text 16"/>
          <p:cNvSpPr txBox="1"/>
          <p:nvPr/>
        </p:nvSpPr>
        <p:spPr>
          <a:xfrm>
            <a:off x="4434840" y="2194560"/>
            <a:ext cx="4114800" cy="594360"/>
          </a:xfrm>
          <a:prstGeom prst="rect">
            <a:avLst/>
          </a:prstGeom>
          <a:noFill/>
          <a:ln/>
        </p:spPr>
        <p:txBody>
          <a:bodyPr wrap="square" lIns="0" tIns="0" rIns="0" bIns="0" rtlCol="0" anchor="ctr"/>
          <a:lstStyle/>
          <a:p>
            <a:pPr indent="0" marL="0">
              <a:buNone/>
            </a:pPr>
            <a:r>
              <a:rPr lang="en-US" sz="1100" dirty="0">
                <a:solidFill>
                  <a:srgbClr val="1C2326"/>
                </a:solidFill>
                <a:latin typeface="Arial" pitchFamily="34" charset="0"/>
                <a:ea typeface="Arial" pitchFamily="34" charset="-122"/>
                <a:cs typeface="Arial" pitchFamily="34" charset="-120"/>
              </a:rPr>
              <a:t>Wohnraum-Erhaltungsgesetz umkämpft: Stadt lehnte Unterstellung knapp ab, Initiative läuft.</a:t>
            </a:r>
            <a:endParaRPr lang="en-US" sz="1100" dirty="0"/>
          </a:p>
        </p:txBody>
      </p:sp>
      <p:sp>
        <p:nvSpPr>
          <p:cNvPr id="19" name="Shape 17"/>
          <p:cNvSpPr/>
          <p:nvPr/>
        </p:nvSpPr>
        <p:spPr>
          <a:xfrm>
            <a:off x="3017520" y="2962656"/>
            <a:ext cx="5669280" cy="731520"/>
          </a:xfrm>
          <a:prstGeom prst="roundRect">
            <a:avLst>
              <a:gd name="adj" fmla="val 17500"/>
            </a:avLst>
          </a:prstGeom>
          <a:solidFill>
            <a:srgbClr val="FFFFFF"/>
          </a:solidFill>
          <a:ln w="9525">
            <a:solidFill>
              <a:srgbClr val="E3DDD4"/>
            </a:solidFill>
            <a:prstDash val="solid"/>
          </a:ln>
        </p:spPr>
      </p:sp>
      <p:sp>
        <p:nvSpPr>
          <p:cNvPr id="20" name="Shape 18"/>
          <p:cNvSpPr/>
          <p:nvPr/>
        </p:nvSpPr>
        <p:spPr>
          <a:xfrm>
            <a:off x="3200400" y="3236976"/>
            <a:ext cx="182880" cy="182880"/>
          </a:xfrm>
          <a:prstGeom prst="ellipse">
            <a:avLst/>
          </a:prstGeom>
          <a:solidFill>
            <a:srgbClr val="F26A1B"/>
          </a:solidFill>
          <a:ln w="12700">
            <a:solidFill>
              <a:srgbClr val="F26A1B"/>
            </a:solidFill>
            <a:prstDash val="solid"/>
          </a:ln>
        </p:spPr>
      </p:sp>
      <p:sp>
        <p:nvSpPr>
          <p:cNvPr id="21" name="Text 19"/>
          <p:cNvSpPr txBox="1"/>
          <p:nvPr/>
        </p:nvSpPr>
        <p:spPr>
          <a:xfrm>
            <a:off x="3520440" y="3054096"/>
            <a:ext cx="914400" cy="5486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Zug</a:t>
            </a:r>
            <a:endParaRPr lang="en-US" sz="1500" dirty="0"/>
          </a:p>
        </p:txBody>
      </p:sp>
      <p:sp>
        <p:nvSpPr>
          <p:cNvPr id="22" name="Text 20"/>
          <p:cNvSpPr txBox="1"/>
          <p:nvPr/>
        </p:nvSpPr>
        <p:spPr>
          <a:xfrm>
            <a:off x="4434840" y="3035808"/>
            <a:ext cx="4114800" cy="594360"/>
          </a:xfrm>
          <a:prstGeom prst="rect">
            <a:avLst/>
          </a:prstGeom>
          <a:noFill/>
          <a:ln/>
        </p:spPr>
        <p:txBody>
          <a:bodyPr wrap="square" lIns="0" tIns="0" rIns="0" bIns="0" rtlCol="0" anchor="ctr"/>
          <a:lstStyle/>
          <a:p>
            <a:pPr indent="0" marL="0">
              <a:buNone/>
            </a:pPr>
            <a:r>
              <a:rPr lang="en-US" sz="1100" dirty="0">
                <a:solidFill>
                  <a:srgbClr val="1C2326"/>
                </a:solidFill>
                <a:latin typeface="Arial" pitchFamily="34" charset="0"/>
                <a:ea typeface="Arial" pitchFamily="34" charset="-122"/>
                <a:cs typeface="Arial" pitchFamily="34" charset="-120"/>
              </a:rPr>
              <a:t>Herti: Leerkündigung von 68 Wohnungen gescheitert, Sanierung im bewohnten Zustand wird geprüft.</a:t>
            </a:r>
            <a:endParaRPr lang="en-US" sz="1100" dirty="0"/>
          </a:p>
        </p:txBody>
      </p:sp>
      <p:sp>
        <p:nvSpPr>
          <p:cNvPr id="23" name="Shape 21"/>
          <p:cNvSpPr/>
          <p:nvPr/>
        </p:nvSpPr>
        <p:spPr>
          <a:xfrm>
            <a:off x="3017520" y="3803904"/>
            <a:ext cx="5669280" cy="731520"/>
          </a:xfrm>
          <a:prstGeom prst="roundRect">
            <a:avLst>
              <a:gd name="adj" fmla="val 17500"/>
            </a:avLst>
          </a:prstGeom>
          <a:solidFill>
            <a:srgbClr val="FFFFFF"/>
          </a:solidFill>
          <a:ln w="9525">
            <a:solidFill>
              <a:srgbClr val="E3DDD4"/>
            </a:solidFill>
            <a:prstDash val="solid"/>
          </a:ln>
        </p:spPr>
      </p:sp>
      <p:sp>
        <p:nvSpPr>
          <p:cNvPr id="24" name="Shape 22"/>
          <p:cNvSpPr/>
          <p:nvPr/>
        </p:nvSpPr>
        <p:spPr>
          <a:xfrm>
            <a:off x="3200400" y="4078224"/>
            <a:ext cx="182880" cy="182880"/>
          </a:xfrm>
          <a:prstGeom prst="ellipse">
            <a:avLst/>
          </a:prstGeom>
          <a:solidFill>
            <a:srgbClr val="8A8178"/>
          </a:solidFill>
          <a:ln w="12700">
            <a:solidFill>
              <a:srgbClr val="8A8178"/>
            </a:solidFill>
            <a:prstDash val="solid"/>
          </a:ln>
        </p:spPr>
      </p:sp>
      <p:sp>
        <p:nvSpPr>
          <p:cNvPr id="25" name="Text 23"/>
          <p:cNvSpPr txBox="1"/>
          <p:nvPr/>
        </p:nvSpPr>
        <p:spPr>
          <a:xfrm>
            <a:off x="3520440" y="3895344"/>
            <a:ext cx="914400" cy="5486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Schwyz</a:t>
            </a:r>
            <a:endParaRPr lang="en-US" sz="1500" dirty="0"/>
          </a:p>
        </p:txBody>
      </p:sp>
      <p:sp>
        <p:nvSpPr>
          <p:cNvPr id="26" name="Text 24"/>
          <p:cNvSpPr txBox="1"/>
          <p:nvPr/>
        </p:nvSpPr>
        <p:spPr>
          <a:xfrm>
            <a:off x="4434840" y="3877056"/>
            <a:ext cx="4114800" cy="594360"/>
          </a:xfrm>
          <a:prstGeom prst="rect">
            <a:avLst/>
          </a:prstGeom>
          <a:noFill/>
          <a:ln/>
        </p:spPr>
        <p:txBody>
          <a:bodyPr wrap="square" lIns="0" tIns="0" rIns="0" bIns="0" rtlCol="0" anchor="ctr"/>
          <a:lstStyle/>
          <a:p>
            <a:pPr indent="0" marL="0">
              <a:buNone/>
            </a:pPr>
            <a:r>
              <a:rPr lang="en-US" sz="1100" dirty="0">
                <a:solidFill>
                  <a:srgbClr val="1C2326"/>
                </a:solidFill>
                <a:latin typeface="Arial" pitchFamily="34" charset="0"/>
                <a:ea typeface="Arial" pitchFamily="34" charset="-122"/>
                <a:cs typeface="Arial" pitchFamily="34" charset="-120"/>
              </a:rPr>
              <a:t>Nur Bundesrecht. Stärkster Mietanstieg der Schweiz.</a:t>
            </a:r>
            <a:endParaRPr lang="en-US" sz="11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Erster Kunde: eine Zürcher Genossenschaft.</a:t>
            </a:r>
            <a:endParaRPr lang="en-US" sz="3000" dirty="0"/>
          </a:p>
        </p:txBody>
      </p:sp>
      <p:sp>
        <p:nvSpPr>
          <p:cNvPr id="3" name="Shape 1"/>
          <p:cNvSpPr/>
          <p:nvPr/>
        </p:nvSpPr>
        <p:spPr>
          <a:xfrm>
            <a:off x="457200" y="1325880"/>
            <a:ext cx="384048" cy="384048"/>
          </a:xfrm>
          <a:prstGeom prst="roundRect">
            <a:avLst>
              <a:gd name="adj" fmla="val 19048"/>
            </a:avLst>
          </a:prstGeom>
          <a:solidFill>
            <a:srgbClr val="1C2326"/>
          </a:solidFill>
          <a:ln w="12700">
            <a:solidFill>
              <a:srgbClr val="1C2326"/>
            </a:solidFill>
            <a:prstDash val="solid"/>
          </a:ln>
        </p:spPr>
      </p:sp>
      <p:sp>
        <p:nvSpPr>
          <p:cNvPr id="4" name="Text 2"/>
          <p:cNvSpPr txBox="1"/>
          <p:nvPr/>
        </p:nvSpPr>
        <p:spPr>
          <a:xfrm>
            <a:off x="457200" y="1325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5" name="Text 3"/>
          <p:cNvSpPr txBox="1"/>
          <p:nvPr/>
        </p:nvSpPr>
        <p:spPr>
          <a:xfrm>
            <a:off x="960120" y="1280160"/>
            <a:ext cx="2743200" cy="3200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Pilot 2027</a:t>
            </a:r>
            <a:endParaRPr lang="en-US" sz="1500" dirty="0"/>
          </a:p>
        </p:txBody>
      </p:sp>
      <p:sp>
        <p:nvSpPr>
          <p:cNvPr id="6" name="Text 4"/>
          <p:cNvSpPr txBox="1"/>
          <p:nvPr/>
        </p:nvSpPr>
        <p:spPr>
          <a:xfrm>
            <a:off x="960120" y="1600200"/>
            <a:ext cx="2743200" cy="548640"/>
          </a:xfrm>
          <a:prstGeom prst="rect">
            <a:avLst/>
          </a:prstGeom>
          <a:noFill/>
          <a:ln/>
        </p:spPr>
        <p:txBody>
          <a:bodyPr wrap="square" lIns="0" tIns="0" rIns="0" bIns="0" rtlCol="0" anchor="t"/>
          <a:lstStyle/>
          <a:p>
            <a:pPr indent="0" marL="0">
              <a:buNone/>
            </a:pPr>
            <a:r>
              <a:rPr lang="en-US" sz="1100" dirty="0">
                <a:solidFill>
                  <a:srgbClr val="5B6468"/>
                </a:solidFill>
                <a:latin typeface="Arial" pitchFamily="34" charset="0"/>
                <a:ea typeface="Arial" pitchFamily="34" charset="-122"/>
                <a:cs typeface="Arial" pitchFamily="34" charset="-120"/>
              </a:rPr>
              <a:t>Zwei Genossenschaften, gratis gegen echte Daten</a:t>
            </a:r>
            <a:endParaRPr lang="en-US" sz="1100" dirty="0"/>
          </a:p>
        </p:txBody>
      </p:sp>
      <p:sp>
        <p:nvSpPr>
          <p:cNvPr id="7" name="Shape 5"/>
          <p:cNvSpPr/>
          <p:nvPr/>
        </p:nvSpPr>
        <p:spPr>
          <a:xfrm>
            <a:off x="457200" y="2286000"/>
            <a:ext cx="384048" cy="384048"/>
          </a:xfrm>
          <a:prstGeom prst="roundRect">
            <a:avLst>
              <a:gd name="adj" fmla="val 19048"/>
            </a:avLst>
          </a:prstGeom>
          <a:solidFill>
            <a:srgbClr val="1C2326"/>
          </a:solidFill>
          <a:ln w="12700">
            <a:solidFill>
              <a:srgbClr val="1C2326"/>
            </a:solidFill>
            <a:prstDash val="solid"/>
          </a:ln>
        </p:spPr>
      </p:sp>
      <p:sp>
        <p:nvSpPr>
          <p:cNvPr id="8" name="Text 6"/>
          <p:cNvSpPr txBox="1"/>
          <p:nvPr/>
        </p:nvSpPr>
        <p:spPr>
          <a:xfrm>
            <a:off x="457200" y="22860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 7"/>
          <p:cNvSpPr txBox="1"/>
          <p:nvPr/>
        </p:nvSpPr>
        <p:spPr>
          <a:xfrm>
            <a:off x="960120" y="2240280"/>
            <a:ext cx="2743200" cy="3200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Verbände</a:t>
            </a:r>
            <a:endParaRPr lang="en-US" sz="1500" dirty="0"/>
          </a:p>
        </p:txBody>
      </p:sp>
      <p:sp>
        <p:nvSpPr>
          <p:cNvPr id="10" name="Text 8"/>
          <p:cNvSpPr txBox="1"/>
          <p:nvPr/>
        </p:nvSpPr>
        <p:spPr>
          <a:xfrm>
            <a:off x="960120" y="2560320"/>
            <a:ext cx="2743200" cy="548640"/>
          </a:xfrm>
          <a:prstGeom prst="rect">
            <a:avLst/>
          </a:prstGeom>
          <a:noFill/>
          <a:ln/>
        </p:spPr>
        <p:txBody>
          <a:bodyPr wrap="square" lIns="0" tIns="0" rIns="0" bIns="0" rtlCol="0" anchor="t"/>
          <a:lstStyle/>
          <a:p>
            <a:pPr indent="0" marL="0">
              <a:buNone/>
            </a:pPr>
            <a:r>
              <a:rPr lang="en-US" sz="1100" dirty="0">
                <a:solidFill>
                  <a:srgbClr val="5B6468"/>
                </a:solidFill>
                <a:latin typeface="Arial" pitchFamily="34" charset="0"/>
                <a:ea typeface="Arial" pitchFamily="34" charset="-122"/>
                <a:cs typeface="Arial" pitchFamily="34" charset="-120"/>
              </a:rPr>
              <a:t>Wohnbaugenossenschaften Zürich, Netz Genossenschaften</a:t>
            </a:r>
            <a:endParaRPr lang="en-US" sz="1100" dirty="0"/>
          </a:p>
        </p:txBody>
      </p:sp>
      <p:sp>
        <p:nvSpPr>
          <p:cNvPr id="11" name="Shape 9"/>
          <p:cNvSpPr/>
          <p:nvPr/>
        </p:nvSpPr>
        <p:spPr>
          <a:xfrm>
            <a:off x="457200" y="3246120"/>
            <a:ext cx="384048" cy="384048"/>
          </a:xfrm>
          <a:prstGeom prst="roundRect">
            <a:avLst>
              <a:gd name="adj" fmla="val 19048"/>
            </a:avLst>
          </a:prstGeom>
          <a:solidFill>
            <a:srgbClr val="1C2326"/>
          </a:solidFill>
          <a:ln w="12700">
            <a:solidFill>
              <a:srgbClr val="1C2326"/>
            </a:solidFill>
            <a:prstDash val="solid"/>
          </a:ln>
        </p:spPr>
      </p:sp>
      <p:sp>
        <p:nvSpPr>
          <p:cNvPr id="12" name="Text 10"/>
          <p:cNvSpPr txBox="1"/>
          <p:nvPr/>
        </p:nvSpPr>
        <p:spPr>
          <a:xfrm>
            <a:off x="457200" y="32461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960120" y="3200400"/>
            <a:ext cx="2743200" cy="3200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Pflicht als Hebel</a:t>
            </a:r>
            <a:endParaRPr lang="en-US" sz="1500" dirty="0"/>
          </a:p>
        </p:txBody>
      </p:sp>
      <p:sp>
        <p:nvSpPr>
          <p:cNvPr id="14" name="Text 12"/>
          <p:cNvSpPr txBox="1"/>
          <p:nvPr/>
        </p:nvSpPr>
        <p:spPr>
          <a:xfrm>
            <a:off x="960120" y="3520440"/>
            <a:ext cx="2743200" cy="548640"/>
          </a:xfrm>
          <a:prstGeom prst="rect">
            <a:avLst/>
          </a:prstGeom>
          <a:noFill/>
          <a:ln/>
        </p:spPr>
        <p:txBody>
          <a:bodyPr wrap="square" lIns="0" tIns="0" rIns="0" bIns="0" rtlCol="0" anchor="t"/>
          <a:lstStyle/>
          <a:p>
            <a:pPr indent="0" marL="0">
              <a:buNone/>
            </a:pPr>
            <a:r>
              <a:rPr lang="en-US" sz="1100" dirty="0">
                <a:solidFill>
                  <a:srgbClr val="5B6468"/>
                </a:solidFill>
                <a:latin typeface="Arial" pitchFamily="34" charset="0"/>
                <a:ea typeface="Arial" pitchFamily="34" charset="-122"/>
                <a:cs typeface="Arial" pitchFamily="34" charset="-120"/>
              </a:rPr>
              <a:t>Zürich verlangt neu den Nachweis, den wir liefern</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0" y="1280160"/>
          <a:ext cx="4572000" cy="914400"/>
        </p:xfrm>
        <a:graphic>
          <a:graphicData uri="http://schemas.openxmlformats.org/drawingml/2006/table">
            <a:tbl>
              <a:tblPr/>
              <a:tblGrid>
                <a:gridCol w="1554480"/>
                <a:gridCol w="1005840"/>
                <a:gridCol w="1051560"/>
                <a:gridCol w="960120"/>
              </a:tblGrid>
              <a:tr h="40233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Werkzeug</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Verträge</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Vermietung</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Rochade</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r>
              <a:tr h="402336">
                <a:tc>
                  <a:txBody>
                    <a:bodyPr/>
                    <a:lstStyle/>
                    <a:p>
                      <a:pPr indent="0" marL="0">
                        <a:buNone/>
                      </a:pPr>
                      <a:r>
                        <a:rPr lang="en-US" sz="1100" dirty="0">
                          <a:solidFill>
                            <a:srgbClr val="1C2326"/>
                          </a:solidFill>
                          <a:latin typeface="Arial" pitchFamily="34" charset="0"/>
                          <a:ea typeface="Arial" pitchFamily="34" charset="-122"/>
                          <a:cs typeface="Arial" pitchFamily="34" charset="-120"/>
                        </a:rPr>
                        <a:t>Garaio REM</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C232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46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46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402336">
                <a:tc>
                  <a:txBody>
                    <a:bodyPr/>
                    <a:lstStyle/>
                    <a:p>
                      <a:pPr indent="0" marL="0">
                        <a:buNone/>
                      </a:pPr>
                      <a:r>
                        <a:rPr lang="en-US" sz="1100" dirty="0">
                          <a:solidFill>
                            <a:srgbClr val="1C2326"/>
                          </a:solidFill>
                          <a:latin typeface="Arial" pitchFamily="34" charset="0"/>
                          <a:ea typeface="Arial" pitchFamily="34" charset="-122"/>
                          <a:cs typeface="Arial" pitchFamily="34" charset="-120"/>
                        </a:rPr>
                        <a:t>Abacus AbaImmo</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C232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46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46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402336">
                <a:tc>
                  <a:txBody>
                    <a:bodyPr/>
                    <a:lstStyle/>
                    <a:p>
                      <a:pPr indent="0" marL="0">
                        <a:buNone/>
                      </a:pPr>
                      <a:r>
                        <a:rPr lang="en-US" sz="1100" dirty="0">
                          <a:solidFill>
                            <a:srgbClr val="1C2326"/>
                          </a:solidFill>
                          <a:latin typeface="Arial" pitchFamily="34" charset="0"/>
                          <a:ea typeface="Arial" pitchFamily="34" charset="-122"/>
                          <a:cs typeface="Arial" pitchFamily="34" charset="-120"/>
                        </a:rPr>
                        <a:t>Rimo R5</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C232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46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46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402336">
                <a:tc>
                  <a:txBody>
                    <a:bodyPr/>
                    <a:lstStyle/>
                    <a:p>
                      <a:pPr indent="0" marL="0">
                        <a:buNone/>
                      </a:pPr>
                      <a:r>
                        <a:rPr lang="en-US" sz="1100" dirty="0">
                          <a:solidFill>
                            <a:srgbClr val="1C2326"/>
                          </a:solidFill>
                          <a:latin typeface="Arial" pitchFamily="34" charset="0"/>
                          <a:ea typeface="Arial" pitchFamily="34" charset="-122"/>
                          <a:cs typeface="Arial" pitchFamily="34" charset="-120"/>
                        </a:rPr>
                        <a:t>emonitor, Flatfox</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46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C232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46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402336">
                <a:tc>
                  <a:txBody>
                    <a:bodyPr/>
                    <a:lstStyle/>
                    <a:p>
                      <a:pPr indent="0" marL="0">
                        <a:buNone/>
                      </a:pPr>
                      <a:r>
                        <a:rPr lang="en-US" sz="1100" dirty="0">
                          <a:solidFill>
                            <a:srgbClr val="1C2326"/>
                          </a:solidFill>
                          <a:latin typeface="Arial" pitchFamily="34" charset="0"/>
                          <a:ea typeface="Arial" pitchFamily="34" charset="-122"/>
                          <a:cs typeface="Arial" pitchFamily="34" charset="-120"/>
                        </a:rPr>
                        <a:t>Excel</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46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46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468"/>
                          </a:solidFill>
                          <a:latin typeface="Arial" pitchFamily="34" charset="0"/>
                          <a:ea typeface="Arial" pitchFamily="34" charset="-122"/>
                          <a:cs typeface="Arial" pitchFamily="34" charset="-120"/>
                        </a:rPr>
                        <a:t>von Hand</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402336">
                <a:tc>
                  <a:txBody>
                    <a:bodyPr/>
                    <a:lstStyle/>
                    <a:p>
                      <a:pPr indent="0" marL="0">
                        <a:buNone/>
                      </a:pPr>
                      <a:r>
                        <a:rPr lang="en-US" sz="1100" b="1" dirty="0">
                          <a:solidFill>
                            <a:srgbClr val="FFFFFF"/>
                          </a:solidFill>
                          <a:latin typeface="Arial" pitchFamily="34" charset="0"/>
                          <a:ea typeface="Arial" pitchFamily="34" charset="-122"/>
                          <a:cs typeface="Arial" pitchFamily="34" charset="-120"/>
                        </a:rPr>
                        <a:t>ROCHADE</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200"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200"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r>
            </a:tbl>
          </a:graphicData>
        </a:graphic>
      </p:graphicFrame>
      <p:sp>
        <p:nvSpPr>
          <p:cNvPr id="16" name="Text 13"/>
          <p:cNvSpPr txBox="1"/>
          <p:nvPr/>
        </p:nvSpPr>
        <p:spPr>
          <a:xfrm>
            <a:off x="4114800" y="4206240"/>
            <a:ext cx="4572000" cy="274320"/>
          </a:xfrm>
          <a:prstGeom prst="rect">
            <a:avLst/>
          </a:prstGeom>
          <a:noFill/>
          <a:ln/>
        </p:spPr>
        <p:txBody>
          <a:bodyPr wrap="square" lIns="0" tIns="0" rIns="0" bIns="0" rtlCol="0" anchor="ctr"/>
          <a:lstStyle/>
          <a:p>
            <a:pPr indent="0" marL="0">
              <a:buNone/>
            </a:pPr>
            <a:r>
              <a:rPr lang="en-US" sz="900" dirty="0">
                <a:solidFill>
                  <a:srgbClr val="5B6468"/>
                </a:solidFill>
                <a:latin typeface="Arial" pitchFamily="34" charset="0"/>
                <a:ea typeface="Arial" pitchFamily="34" charset="-122"/>
                <a:cs typeface="Arial" pitchFamily="34" charset="-120"/>
              </a:rPr>
              <a:t>Ein Rochade-Werkzeug gibt es in der Schweiz nicht. Produktseiten, 24. Oktober 2026.</a:t>
            </a:r>
            <a:endParaRPr lang="en-US" sz="9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37210" y="537210"/>
            <a:ext cx="160020" cy="160020"/>
          </a:xfrm>
          <a:prstGeom prst="rect">
            <a:avLst/>
          </a:prstGeom>
          <a:ln w="80010">
            <a:solidFill>
              <a:srgbClr val="FFFFFF"/>
            </a:solidFill>
            <a:prstDash val="solid"/>
          </a:ln>
        </p:spPr>
      </p:sp>
      <p:sp>
        <p:nvSpPr>
          <p:cNvPr id="3" name="Shape 1"/>
          <p:cNvSpPr/>
          <p:nvPr/>
        </p:nvSpPr>
        <p:spPr>
          <a:xfrm>
            <a:off x="737235" y="577215"/>
            <a:ext cx="80010" cy="80010"/>
          </a:xfrm>
          <a:prstGeom prst="rect">
            <a:avLst/>
          </a:prstGeom>
          <a:solidFill>
            <a:srgbClr val="FFFFFF"/>
          </a:solidFill>
          <a:ln w="12700">
            <a:solidFill>
              <a:srgbClr val="FFFFFF"/>
            </a:solidFill>
            <a:prstDash val="solid"/>
          </a:ln>
        </p:spPr>
      </p:sp>
      <p:sp>
        <p:nvSpPr>
          <p:cNvPr id="4" name="Shape 2"/>
          <p:cNvSpPr/>
          <p:nvPr/>
        </p:nvSpPr>
        <p:spPr>
          <a:xfrm>
            <a:off x="817245" y="497205"/>
            <a:ext cx="240030" cy="240030"/>
          </a:xfrm>
          <a:prstGeom prst="rect">
            <a:avLst/>
          </a:prstGeom>
          <a:solidFill>
            <a:srgbClr val="FFFFFF"/>
          </a:solidFill>
          <a:ln w="12700">
            <a:solidFill>
              <a:srgbClr val="FFFFFF"/>
            </a:solidFill>
            <a:prstDash val="solid"/>
          </a:ln>
        </p:spPr>
      </p:sp>
      <p:sp>
        <p:nvSpPr>
          <p:cNvPr id="5" name="Shape 3"/>
          <p:cNvSpPr/>
          <p:nvPr/>
        </p:nvSpPr>
        <p:spPr>
          <a:xfrm>
            <a:off x="497205" y="817245"/>
            <a:ext cx="240030" cy="240030"/>
          </a:xfrm>
          <a:prstGeom prst="rect">
            <a:avLst/>
          </a:prstGeom>
          <a:solidFill>
            <a:srgbClr val="FFFFFF"/>
          </a:solidFill>
          <a:ln w="12700">
            <a:solidFill>
              <a:srgbClr val="FFFFFF"/>
            </a:solidFill>
            <a:prstDash val="solid"/>
          </a:ln>
        </p:spPr>
      </p:sp>
      <p:sp>
        <p:nvSpPr>
          <p:cNvPr id="6" name="Shape 4"/>
          <p:cNvSpPr/>
          <p:nvPr/>
        </p:nvSpPr>
        <p:spPr>
          <a:xfrm>
            <a:off x="737235" y="897255"/>
            <a:ext cx="80010" cy="80010"/>
          </a:xfrm>
          <a:prstGeom prst="rect">
            <a:avLst/>
          </a:prstGeom>
          <a:solidFill>
            <a:srgbClr val="FFFFFF"/>
          </a:solidFill>
          <a:ln w="12700">
            <a:solidFill>
              <a:srgbClr val="FFFFFF"/>
            </a:solidFill>
            <a:prstDash val="solid"/>
          </a:ln>
        </p:spPr>
      </p:sp>
      <p:sp>
        <p:nvSpPr>
          <p:cNvPr id="7" name="Shape 5"/>
          <p:cNvSpPr/>
          <p:nvPr/>
        </p:nvSpPr>
        <p:spPr>
          <a:xfrm>
            <a:off x="857250" y="857250"/>
            <a:ext cx="160020" cy="160020"/>
          </a:xfrm>
          <a:prstGeom prst="rect">
            <a:avLst/>
          </a:prstGeom>
          <a:ln w="80010">
            <a:solidFill>
              <a:srgbClr val="FFFFFF"/>
            </a:solidFill>
            <a:prstDash val="solid"/>
          </a:ln>
        </p:spPr>
      </p:sp>
      <p:sp>
        <p:nvSpPr>
          <p:cNvPr id="8" name="Text 6"/>
          <p:cNvSpPr txBox="1"/>
          <p:nvPr/>
        </p:nvSpPr>
        <p:spPr>
          <a:xfrm>
            <a:off x="457200" y="1280160"/>
            <a:ext cx="8229600" cy="12801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Jede Rochade, die gelingt, ist eine Kündigung, die nicht geschrieben wird.</a:t>
            </a:r>
            <a:endParaRPr lang="en-US" sz="3200" dirty="0"/>
          </a:p>
        </p:txBody>
      </p:sp>
      <p:sp>
        <p:nvSpPr>
          <p:cNvPr id="9" name="Shape 7"/>
          <p:cNvSpPr/>
          <p:nvPr/>
        </p:nvSpPr>
        <p:spPr>
          <a:xfrm>
            <a:off x="457200" y="2743200"/>
            <a:ext cx="2651760" cy="868680"/>
          </a:xfrm>
          <a:prstGeom prst="roundRect">
            <a:avLst>
              <a:gd name="adj" fmla="val 14737"/>
            </a:avLst>
          </a:prstGeom>
          <a:solidFill>
            <a:srgbClr val="2F525C"/>
          </a:solidFill>
          <a:ln w="12700">
            <a:solidFill>
              <a:srgbClr val="2F525C"/>
            </a:solidFill>
            <a:prstDash val="solid"/>
          </a:ln>
        </p:spPr>
      </p:sp>
      <p:sp>
        <p:nvSpPr>
          <p:cNvPr id="10" name="Text 8"/>
          <p:cNvSpPr txBox="1"/>
          <p:nvPr/>
        </p:nvSpPr>
        <p:spPr>
          <a:xfrm>
            <a:off x="64008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Zwei Pilot-Genossenschaften</a:t>
            </a:r>
            <a:endParaRPr lang="en-US" sz="1300" dirty="0"/>
          </a:p>
        </p:txBody>
      </p:sp>
      <p:sp>
        <p:nvSpPr>
          <p:cNvPr id="11" name="Text 9"/>
          <p:cNvSpPr txBox="1"/>
          <p:nvPr/>
        </p:nvSpPr>
        <p:spPr>
          <a:xfrm>
            <a:off x="64008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Etappensanierung 2027</a:t>
            </a:r>
            <a:endParaRPr lang="en-US" sz="1100" dirty="0"/>
          </a:p>
        </p:txBody>
      </p:sp>
      <p:sp>
        <p:nvSpPr>
          <p:cNvPr id="12" name="Shape 10"/>
          <p:cNvSpPr/>
          <p:nvPr/>
        </p:nvSpPr>
        <p:spPr>
          <a:xfrm>
            <a:off x="3246120" y="2743200"/>
            <a:ext cx="2651760" cy="868680"/>
          </a:xfrm>
          <a:prstGeom prst="roundRect">
            <a:avLst>
              <a:gd name="adj" fmla="val 14737"/>
            </a:avLst>
          </a:prstGeom>
          <a:solidFill>
            <a:srgbClr val="2F525C"/>
          </a:solidFill>
          <a:ln w="12700">
            <a:solidFill>
              <a:srgbClr val="2F525C"/>
            </a:solidFill>
            <a:prstDash val="solid"/>
          </a:ln>
        </p:spPr>
      </p:sp>
      <p:sp>
        <p:nvSpPr>
          <p:cNvPr id="13" name="Text 11"/>
          <p:cNvSpPr txBox="1"/>
          <p:nvPr/>
        </p:nvSpPr>
        <p:spPr>
          <a:xfrm>
            <a:off x="342900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Ein Gespräch</a:t>
            </a:r>
            <a:endParaRPr lang="en-US" sz="1300" dirty="0"/>
          </a:p>
        </p:txBody>
      </p:sp>
      <p:sp>
        <p:nvSpPr>
          <p:cNvPr id="14" name="Text 12"/>
          <p:cNvSpPr txBox="1"/>
          <p:nvPr/>
        </p:nvSpPr>
        <p:spPr>
          <a:xfrm>
            <a:off x="342900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mit einer Bewirtschaftung</a:t>
            </a:r>
            <a:endParaRPr lang="en-US" sz="1100" dirty="0"/>
          </a:p>
        </p:txBody>
      </p:sp>
      <p:sp>
        <p:nvSpPr>
          <p:cNvPr id="15" name="Shape 13"/>
          <p:cNvSpPr/>
          <p:nvPr/>
        </p:nvSpPr>
        <p:spPr>
          <a:xfrm>
            <a:off x="6035040" y="2743200"/>
            <a:ext cx="2651760" cy="868680"/>
          </a:xfrm>
          <a:prstGeom prst="roundRect">
            <a:avLst>
              <a:gd name="adj" fmla="val 14737"/>
            </a:avLst>
          </a:prstGeom>
          <a:solidFill>
            <a:srgbClr val="2F525C"/>
          </a:solidFill>
          <a:ln w="12700">
            <a:solidFill>
              <a:srgbClr val="2F525C"/>
            </a:solidFill>
            <a:prstDash val="solid"/>
          </a:ln>
        </p:spPr>
      </p:sp>
      <p:sp>
        <p:nvSpPr>
          <p:cNvPr id="16" name="Text 14"/>
          <p:cNvSpPr txBox="1"/>
          <p:nvPr/>
        </p:nvSpPr>
        <p:spPr>
          <a:xfrm>
            <a:off x="621792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Euer Feedback</a:t>
            </a:r>
            <a:endParaRPr lang="en-US" sz="1300" dirty="0"/>
          </a:p>
        </p:txBody>
      </p:sp>
      <p:sp>
        <p:nvSpPr>
          <p:cNvPr id="17" name="Text 15"/>
          <p:cNvSpPr txBox="1"/>
          <p:nvPr/>
        </p:nvSpPr>
        <p:spPr>
          <a:xfrm>
            <a:off x="621792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heute</a:t>
            </a:r>
            <a:endParaRPr lang="en-US" sz="1100" dirty="0"/>
          </a:p>
        </p:txBody>
      </p:sp>
      <p:sp>
        <p:nvSpPr>
          <p:cNvPr id="18" name="Text 16"/>
          <p:cNvSpPr txBox="1"/>
          <p:nvPr/>
        </p:nvSpPr>
        <p:spPr>
          <a:xfrm>
            <a:off x="457200" y="3794760"/>
            <a:ext cx="8229600" cy="457200"/>
          </a:xfrm>
          <a:prstGeom prst="rect">
            <a:avLst/>
          </a:prstGeom>
          <a:noFill/>
          <a:ln/>
        </p:spPr>
        <p:txBody>
          <a:bodyPr wrap="square" lIns="0" tIns="0" rIns="0" bIns="0" rtlCol="0" anchor="t"/>
          <a:lstStyle/>
          <a:p>
            <a:pPr indent="0" marL="0">
              <a:buNone/>
            </a:pPr>
            <a:r>
              <a:rPr lang="en-US" sz="1100" dirty="0">
                <a:solidFill>
                  <a:srgbClr val="D4E1E5"/>
                </a:solidFill>
                <a:latin typeface="Arial" pitchFamily="34" charset="0"/>
                <a:ea typeface="Arial" pitchFamily="34" charset="-122"/>
                <a:cs typeface="Arial" pitchFamily="34" charset="-120"/>
              </a:rPr>
              <a:t>Nach 24 Stunden: Website mit belegten Zahlen · Prototyp mit 24 Haushalten und Regel-Planer · App für Bewohnende mit Live-Update · Rechtslage in vier Kantonen</a:t>
            </a:r>
            <a:endParaRPr lang="en-US" sz="1100" dirty="0"/>
          </a:p>
        </p:txBody>
      </p:sp>
      <p:sp>
        <p:nvSpPr>
          <p:cNvPr id="19" name="Text 17"/>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100" dirty="0">
                <a:solidFill>
                  <a:srgbClr val="B5C9CE"/>
                </a:solidFill>
                <a:latin typeface="Arial" pitchFamily="34" charset="0"/>
                <a:ea typeface="Arial" pitchFamily="34" charset="-122"/>
                <a:cs typeface="Arial" pitchFamily="34" charset="-120"/>
              </a:rPr>
              <a:t>Team ROCHADE · Francesco (Website, Pitch) · Alex (App, Solver, Design) · [weitere eintragen]</a:t>
            </a:r>
            <a:endParaRPr lang="en-US" sz="1100" dirty="0"/>
          </a:p>
        </p:txBody>
      </p:sp>
      <p:sp>
        <p:nvSpPr>
          <p:cNvPr id="21" name="Text 0"/>
          <p:cNvSpPr/>
          <p:nvPr>
            <p:ph idx="100" type="title" hasCustomPrompt="1"/>
          </p:nvPr>
        </p:nvSpPr>
        <p:spPr>
          <a:xfrm>
            <a:off x="457200" y="320040"/>
            <a:ext cx="8229600" cy="822960"/>
          </a:xfrm>
          <a:prstGeom prst="rect">
            <a:avLst/>
          </a:prstGeom>
          <a:noFill/>
          <a:ln/>
        </p:spPr>
        <p:txBody>
          <a:bodyPr wrap="square" lIns="0" tIns="0" rIns="0" bIns="0" rtlCol="0" anchor="t"/>
          <a:lstStyle/>
          <a:p>
            <a:pPr indent="0" marL="0">
              <a:buNone/>
            </a:pPr>
            <a:endParaRPr lang="en-US" sz="3000" dirty="0"/>
          </a:p>
        </p:txBody>
      </p:sp>
    </p:spTree>
  </p:cSld>
  <p:clrMapOvr>
    <a:masterClrMapping/>
  </p:clrMapOvr>
</p:sld>
</file>

<file path=ppt/theme/theme1.xml><?xml version="1.0" encoding="utf-8"?>
<a:theme xmlns:a="http://schemas.openxmlformats.org/drawingml/2006/main" name="ROCHADE">
  <a:themeElements>
    <a:clrScheme name="ROCHADE">
      <a:dk1>
        <a:srgbClr val="1C2326"/>
      </a:dk1>
      <a:lt1>
        <a:srgbClr val="FAF8F5"/>
      </a:lt1>
      <a:dk2>
        <a:srgbClr val="24414A"/>
      </a:dk2>
      <a:lt2>
        <a:srgbClr val="F1EDE6"/>
      </a:lt2>
      <a:accent1>
        <a:srgbClr val="F26A1B"/>
      </a:accent1>
      <a:accent2>
        <a:srgbClr val="B8460E"/>
      </a:accent2>
      <a:accent3>
        <a:srgbClr val="E2ECEE"/>
      </a:accent3>
      <a:accent4>
        <a:srgbClr val="FDEBDD"/>
      </a:accent4>
      <a:accent5>
        <a:srgbClr val="276B43"/>
      </a:accent5>
      <a:accent6>
        <a:srgbClr val="B42318"/>
      </a:accent6>
      <a:hlink>
        <a:srgbClr val="B8460E"/>
      </a:hlink>
      <a:folHlink>
        <a:srgbClr val="B8460E"/>
      </a:folHlink>
    </a:clrScheme>
    <a:fontScheme name="ROCHAD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ROCHADE – Pitch ZentralHack 2026</dc:title>
  <dc:subject>PptxGenJS Presentation</dc:subject>
  <dc:creator>Team ROCHADE</dc:creator>
  <cp:lastModifiedBy>Team ROCHADE</cp:lastModifiedBy>
  <cp:revision>1</cp:revision>
  <dcterms:created xsi:type="dcterms:W3CDTF">2026-10-24T03:59:29Z</dcterms:created>
  <dcterms:modified xsi:type="dcterms:W3CDTF">2026-10-24T03:59:29Z</dcterms:modified>
</cp:coreProperties>
</file>